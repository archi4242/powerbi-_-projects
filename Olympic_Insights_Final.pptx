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0740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5.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19.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39"/>
        </a:solidFill>
        <a:effectLst/>
      </p:bgPr>
    </p:bg>
    <p:spTree>
      <p:nvGrpSpPr>
        <p:cNvPr id="1" name=""/>
        <p:cNvGrpSpPr/>
        <p:nvPr/>
      </p:nvGrpSpPr>
      <p:grpSpPr>
        <a:xfrm>
          <a:off x="0" y="0"/>
          <a:ext cx="0" cy="0"/>
          <a:chOff x="0" y="0"/>
          <a:chExt cx="0" cy="0"/>
        </a:xfrm>
      </p:grpSpPr>
      <p:sp>
        <p:nvSpPr>
          <p:cNvPr id="2" name="Shape 0"/>
          <p:cNvSpPr/>
          <p:nvPr/>
        </p:nvSpPr>
        <p:spPr>
          <a:xfrm>
            <a:off x="822960" y="731520"/>
            <a:ext cx="566928" cy="566928"/>
          </a:xfrm>
          <a:prstGeom prst="ellipse">
            <a:avLst/>
          </a:prstGeom>
          <a:ln w="63500">
            <a:solidFill>
              <a:srgbClr val="0081C8"/>
            </a:solidFill>
            <a:prstDash val="solid"/>
          </a:ln>
        </p:spPr>
      </p:sp>
      <p:sp>
        <p:nvSpPr>
          <p:cNvPr id="3" name="Shape 1"/>
          <p:cNvSpPr/>
          <p:nvPr/>
        </p:nvSpPr>
        <p:spPr>
          <a:xfrm>
            <a:off x="1134770" y="731520"/>
            <a:ext cx="566928" cy="566928"/>
          </a:xfrm>
          <a:prstGeom prst="ellipse">
            <a:avLst/>
          </a:prstGeom>
          <a:ln w="63500">
            <a:solidFill>
              <a:srgbClr val="FCB131"/>
            </a:solidFill>
            <a:prstDash val="solid"/>
          </a:ln>
        </p:spPr>
      </p:sp>
      <p:sp>
        <p:nvSpPr>
          <p:cNvPr id="4" name="Shape 2"/>
          <p:cNvSpPr/>
          <p:nvPr/>
        </p:nvSpPr>
        <p:spPr>
          <a:xfrm>
            <a:off x="1446581" y="731520"/>
            <a:ext cx="566928" cy="566928"/>
          </a:xfrm>
          <a:prstGeom prst="ellipse">
            <a:avLst/>
          </a:prstGeom>
          <a:ln w="63500">
            <a:solidFill>
              <a:srgbClr val="1A1A1A"/>
            </a:solidFill>
            <a:prstDash val="solid"/>
          </a:ln>
        </p:spPr>
      </p:sp>
      <p:sp>
        <p:nvSpPr>
          <p:cNvPr id="5" name="Shape 3"/>
          <p:cNvSpPr/>
          <p:nvPr/>
        </p:nvSpPr>
        <p:spPr>
          <a:xfrm>
            <a:off x="1758391" y="731520"/>
            <a:ext cx="566928" cy="566928"/>
          </a:xfrm>
          <a:prstGeom prst="ellipse">
            <a:avLst/>
          </a:prstGeom>
          <a:ln w="63500">
            <a:solidFill>
              <a:srgbClr val="00A651"/>
            </a:solidFill>
            <a:prstDash val="solid"/>
          </a:ln>
        </p:spPr>
      </p:sp>
      <p:sp>
        <p:nvSpPr>
          <p:cNvPr id="6" name="Shape 4"/>
          <p:cNvSpPr/>
          <p:nvPr/>
        </p:nvSpPr>
        <p:spPr>
          <a:xfrm>
            <a:off x="2070202" y="731520"/>
            <a:ext cx="566928" cy="566928"/>
          </a:xfrm>
          <a:prstGeom prst="ellipse">
            <a:avLst/>
          </a:prstGeom>
          <a:ln w="63500">
            <a:solidFill>
              <a:srgbClr val="EE334E"/>
            </a:solidFill>
            <a:prstDash val="solid"/>
          </a:ln>
        </p:spPr>
      </p:sp>
      <p:sp>
        <p:nvSpPr>
          <p:cNvPr id="7" name="Shape 5"/>
          <p:cNvSpPr/>
          <p:nvPr/>
        </p:nvSpPr>
        <p:spPr>
          <a:xfrm>
            <a:off x="8412480" y="4206240"/>
            <a:ext cx="3291840" cy="3291840"/>
          </a:xfrm>
          <a:prstGeom prst="ellipse">
            <a:avLst/>
          </a:prstGeom>
          <a:ln w="19050">
            <a:solidFill>
              <a:srgbClr val="0081C8"/>
            </a:solidFill>
            <a:prstDash val="solid"/>
          </a:ln>
        </p:spPr>
      </p:sp>
      <p:sp>
        <p:nvSpPr>
          <p:cNvPr id="8" name="Shape 6"/>
          <p:cNvSpPr/>
          <p:nvPr/>
        </p:nvSpPr>
        <p:spPr>
          <a:xfrm>
            <a:off x="9144000" y="4846320"/>
            <a:ext cx="2377440" cy="2377440"/>
          </a:xfrm>
          <a:prstGeom prst="ellipse">
            <a:avLst/>
          </a:prstGeom>
          <a:ln w="19050">
            <a:solidFill>
              <a:srgbClr val="FCB131"/>
            </a:solidFill>
            <a:prstDash val="solid"/>
          </a:ln>
        </p:spPr>
      </p:sp>
      <p:sp>
        <p:nvSpPr>
          <p:cNvPr id="9" name="Shape 7"/>
          <p:cNvSpPr/>
          <p:nvPr/>
        </p:nvSpPr>
        <p:spPr>
          <a:xfrm>
            <a:off x="9692640" y="5486400"/>
            <a:ext cx="1554480" cy="1554480"/>
          </a:xfrm>
          <a:prstGeom prst="ellipse">
            <a:avLst/>
          </a:prstGeom>
          <a:ln w="19050">
            <a:solidFill>
              <a:srgbClr val="EE334E"/>
            </a:solidFill>
            <a:prstDash val="solid"/>
          </a:ln>
        </p:spPr>
      </p:sp>
      <p:sp>
        <p:nvSpPr>
          <p:cNvPr id="10" name="Text 8"/>
          <p:cNvSpPr/>
          <p:nvPr/>
        </p:nvSpPr>
        <p:spPr>
          <a:xfrm>
            <a:off x="822960" y="2423160"/>
            <a:ext cx="7315200" cy="365760"/>
          </a:xfrm>
          <a:prstGeom prst="rect">
            <a:avLst/>
          </a:prstGeom>
          <a:noFill/>
          <a:ln/>
        </p:spPr>
        <p:txBody>
          <a:bodyPr wrap="square" rtlCol="0" anchor="ctr"/>
          <a:lstStyle/>
          <a:p>
            <a:pPr marL="0" indent="0">
              <a:buNone/>
            </a:pPr>
            <a:r>
              <a:rPr lang="en-US" sz="1350" b="1" kern="0" spc="300" dirty="0">
                <a:solidFill>
                  <a:srgbClr val="FCB131"/>
                </a:solidFill>
                <a:latin typeface="Calibri" pitchFamily="34" charset="0"/>
                <a:ea typeface="Calibri" pitchFamily="34" charset="-122"/>
                <a:cs typeface="Calibri" pitchFamily="34" charset="-120"/>
              </a:rPr>
              <a:t>A POWER BI ANALYTICS PROJECT</a:t>
            </a:r>
            <a:endParaRPr lang="en-US" sz="1350" dirty="0"/>
          </a:p>
        </p:txBody>
      </p:sp>
      <p:sp>
        <p:nvSpPr>
          <p:cNvPr id="11" name="Text 9"/>
          <p:cNvSpPr/>
          <p:nvPr/>
        </p:nvSpPr>
        <p:spPr>
          <a:xfrm>
            <a:off x="777240" y="2788920"/>
            <a:ext cx="10515600" cy="1371600"/>
          </a:xfrm>
          <a:prstGeom prst="rect">
            <a:avLst/>
          </a:prstGeom>
          <a:noFill/>
          <a:ln/>
        </p:spPr>
        <p:txBody>
          <a:bodyPr wrap="square" rtlCol="0" anchor="ctr"/>
          <a:lstStyle/>
          <a:p>
            <a:pPr marL="0" indent="0">
              <a:buNone/>
            </a:pPr>
            <a:r>
              <a:rPr lang="en-US" sz="5600" b="1" dirty="0">
                <a:solidFill>
                  <a:srgbClr val="FFFFFF"/>
                </a:solidFill>
                <a:latin typeface="Bookman Old Style" pitchFamily="34" charset="0"/>
                <a:ea typeface="Bookman Old Style" pitchFamily="34" charset="-122"/>
                <a:cs typeface="Bookman Old Style" pitchFamily="34" charset="-120"/>
              </a:rPr>
              <a:t>OLYMPIC INSIGHTS</a:t>
            </a:r>
            <a:endParaRPr lang="en-US" sz="5600" dirty="0"/>
          </a:p>
        </p:txBody>
      </p:sp>
      <p:sp>
        <p:nvSpPr>
          <p:cNvPr id="12" name="Text 10"/>
          <p:cNvSpPr/>
          <p:nvPr/>
        </p:nvSpPr>
        <p:spPr>
          <a:xfrm>
            <a:off x="822960" y="3886200"/>
            <a:ext cx="9144000" cy="457200"/>
          </a:xfrm>
          <a:prstGeom prst="rect">
            <a:avLst/>
          </a:prstGeom>
          <a:noFill/>
          <a:ln/>
        </p:spPr>
        <p:txBody>
          <a:bodyPr wrap="square" rtlCol="0" anchor="ctr"/>
          <a:lstStyle/>
          <a:p>
            <a:pPr marL="0" indent="0">
              <a:buNone/>
            </a:pPr>
            <a:r>
              <a:rPr lang="en-US" sz="1700" i="1" dirty="0">
                <a:solidFill>
                  <a:srgbClr val="C7D3E6"/>
                </a:solidFill>
                <a:latin typeface="Calibri" pitchFamily="34" charset="0"/>
                <a:ea typeface="Calibri" pitchFamily="34" charset="-122"/>
                <a:cs typeface="Calibri" pitchFamily="34" charset="-120"/>
              </a:rPr>
              <a:t>128 Years of Olympic History, </a:t>
            </a:r>
            <a:r>
              <a:rPr lang="en-US" sz="1700" b="1" i="1" dirty="0">
                <a:solidFill>
                  <a:srgbClr val="FCB131"/>
                </a:solidFill>
                <a:latin typeface="Calibri" pitchFamily="34" charset="0"/>
                <a:ea typeface="Calibri" pitchFamily="34" charset="-122"/>
                <a:cs typeface="Calibri" pitchFamily="34" charset="-120"/>
              </a:rPr>
              <a:t>Decoded Through Data</a:t>
            </a:r>
            <a:endParaRPr lang="en-US" sz="1700" dirty="0"/>
          </a:p>
        </p:txBody>
      </p:sp>
      <p:sp>
        <p:nvSpPr>
          <p:cNvPr id="13" name="Shape 11"/>
          <p:cNvSpPr/>
          <p:nvPr/>
        </p:nvSpPr>
        <p:spPr>
          <a:xfrm>
            <a:off x="822960" y="4709160"/>
            <a:ext cx="1143000" cy="457200"/>
          </a:xfrm>
          <a:prstGeom prst="roundRect">
            <a:avLst>
              <a:gd name="adj" fmla="val 50000"/>
            </a:avLst>
          </a:prstGeom>
          <a:solidFill>
            <a:srgbClr val="0081C8"/>
          </a:solidFill>
          <a:ln/>
        </p:spPr>
      </p:sp>
      <p:sp>
        <p:nvSpPr>
          <p:cNvPr id="14" name="Text 12"/>
          <p:cNvSpPr/>
          <p:nvPr/>
        </p:nvSpPr>
        <p:spPr>
          <a:xfrm>
            <a:off x="822960" y="4709160"/>
            <a:ext cx="11430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1896–2032</a:t>
            </a:r>
            <a:endParaRPr lang="en-US" sz="1400" dirty="0"/>
          </a:p>
        </p:txBody>
      </p:sp>
      <p:sp>
        <p:nvSpPr>
          <p:cNvPr id="15" name="Shape 13"/>
          <p:cNvSpPr/>
          <p:nvPr/>
        </p:nvSpPr>
        <p:spPr>
          <a:xfrm>
            <a:off x="2194560" y="4709160"/>
            <a:ext cx="1234440" cy="457200"/>
          </a:xfrm>
          <a:prstGeom prst="roundRect">
            <a:avLst>
              <a:gd name="adj" fmla="val 50000"/>
            </a:avLst>
          </a:prstGeom>
          <a:solidFill>
            <a:srgbClr val="FCB131"/>
          </a:solidFill>
          <a:ln/>
        </p:spPr>
      </p:sp>
      <p:sp>
        <p:nvSpPr>
          <p:cNvPr id="16" name="Text 14"/>
          <p:cNvSpPr/>
          <p:nvPr/>
        </p:nvSpPr>
        <p:spPr>
          <a:xfrm>
            <a:off x="2194560" y="4709160"/>
            <a:ext cx="123444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 Datasets</a:t>
            </a:r>
            <a:endParaRPr lang="en-US" sz="1400" dirty="0"/>
          </a:p>
        </p:txBody>
      </p:sp>
      <p:sp>
        <p:nvSpPr>
          <p:cNvPr id="17" name="Shape 15"/>
          <p:cNvSpPr/>
          <p:nvPr/>
        </p:nvSpPr>
        <p:spPr>
          <a:xfrm>
            <a:off x="3657600" y="4709160"/>
            <a:ext cx="1508760" cy="457200"/>
          </a:xfrm>
          <a:prstGeom prst="roundRect">
            <a:avLst>
              <a:gd name="adj" fmla="val 50000"/>
            </a:avLst>
          </a:prstGeom>
          <a:solidFill>
            <a:srgbClr val="00A651"/>
          </a:solidFill>
          <a:ln/>
        </p:spPr>
      </p:sp>
      <p:sp>
        <p:nvSpPr>
          <p:cNvPr id="18" name="Text 16"/>
          <p:cNvSpPr/>
          <p:nvPr/>
        </p:nvSpPr>
        <p:spPr>
          <a:xfrm>
            <a:off x="3657600" y="4709160"/>
            <a:ext cx="150876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20,654 Medals</a:t>
            </a:r>
            <a:endParaRPr lang="en-US" sz="1400" dirty="0"/>
          </a:p>
        </p:txBody>
      </p:sp>
      <p:sp>
        <p:nvSpPr>
          <p:cNvPr id="19" name="Shape 17"/>
          <p:cNvSpPr/>
          <p:nvPr/>
        </p:nvSpPr>
        <p:spPr>
          <a:xfrm>
            <a:off x="5394960" y="4709160"/>
            <a:ext cx="1600200" cy="457200"/>
          </a:xfrm>
          <a:prstGeom prst="roundRect">
            <a:avLst>
              <a:gd name="adj" fmla="val 50000"/>
            </a:avLst>
          </a:prstGeom>
          <a:solidFill>
            <a:srgbClr val="EE334E"/>
          </a:solidFill>
          <a:ln/>
        </p:spPr>
      </p:sp>
      <p:sp>
        <p:nvSpPr>
          <p:cNvPr id="20" name="Text 18"/>
          <p:cNvSpPr/>
          <p:nvPr/>
        </p:nvSpPr>
        <p:spPr>
          <a:xfrm>
            <a:off x="5394960" y="4709160"/>
            <a:ext cx="1600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 Report Pages</a:t>
            </a:r>
            <a:endParaRPr lang="en-US" sz="1400" dirty="0"/>
          </a:p>
        </p:txBody>
      </p:sp>
      <p:sp>
        <p:nvSpPr>
          <p:cNvPr id="21" name="Text 19"/>
          <p:cNvSpPr/>
          <p:nvPr/>
        </p:nvSpPr>
        <p:spPr>
          <a:xfrm>
            <a:off x="822960" y="5989320"/>
            <a:ext cx="5486400" cy="365760"/>
          </a:xfrm>
          <a:prstGeom prst="rect">
            <a:avLst/>
          </a:prstGeom>
          <a:noFill/>
          <a:ln/>
        </p:spPr>
        <p:txBody>
          <a:bodyPr wrap="square" rtlCol="0" anchor="ctr"/>
          <a:lstStyle/>
          <a:p>
            <a:pPr marL="0" indent="0">
              <a:buNone/>
            </a:pPr>
            <a:r>
              <a:rPr lang="en-US" sz="2400" dirty="0">
                <a:solidFill>
                  <a:srgbClr val="8FA0BE"/>
                </a:solidFill>
                <a:latin typeface="Calibri" pitchFamily="34" charset="0"/>
                <a:ea typeface="Calibri" pitchFamily="34" charset="-122"/>
                <a:cs typeface="Calibri" pitchFamily="34" charset="-120"/>
              </a:rPr>
              <a:t>Prepared by  </a:t>
            </a:r>
            <a:r>
              <a:rPr lang="en-US" sz="2400" b="1" dirty="0">
                <a:solidFill>
                  <a:srgbClr val="FFFFFF"/>
                </a:solidFill>
                <a:latin typeface="Calibri" pitchFamily="34" charset="0"/>
                <a:ea typeface="Calibri" pitchFamily="34" charset="-122"/>
                <a:cs typeface="Calibri" pitchFamily="34" charset="-120"/>
              </a:rPr>
              <a:t>Archi Katiyar</a:t>
            </a:r>
            <a:endParaRPr lang="en-US" sz="2400" dirty="0"/>
          </a:p>
        </p:txBody>
      </p:sp>
      <p:sp>
        <p:nvSpPr>
          <p:cNvPr id="22" name="Text 20"/>
          <p:cNvSpPr/>
          <p:nvPr/>
        </p:nvSpPr>
        <p:spPr>
          <a:xfrm>
            <a:off x="754380" y="6525830"/>
            <a:ext cx="7315200" cy="274320"/>
          </a:xfrm>
          <a:prstGeom prst="rect">
            <a:avLst/>
          </a:prstGeom>
          <a:noFill/>
          <a:ln/>
        </p:spPr>
        <p:txBody>
          <a:bodyPr wrap="square" rtlCol="0" anchor="ctr"/>
          <a:lstStyle/>
          <a:p>
            <a:pPr marL="0" indent="0">
              <a:buNone/>
            </a:pPr>
            <a:r>
              <a:rPr lang="en-US" sz="900" kern="0" spc="100" dirty="0">
                <a:solidFill>
                  <a:srgbClr val="8FA0BE"/>
                </a:solidFill>
                <a:latin typeface="Calibri" pitchFamily="34" charset="0"/>
                <a:ea typeface="Calibri" pitchFamily="34" charset="-122"/>
                <a:cs typeface="Calibri" pitchFamily="34" charset="-120"/>
              </a:rPr>
              <a:t>OLYMPIC INSIGHTS  |  POWER BI ANALYTICS PROJECT</a:t>
            </a:r>
            <a:endParaRPr lang="en-US" sz="900" dirty="0"/>
          </a:p>
        </p:txBody>
      </p:sp>
      <p:sp>
        <p:nvSpPr>
          <p:cNvPr id="23" name="Text 21"/>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8FA0BE"/>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marL="0" indent="0">
              <a:buNone/>
            </a:pPr>
            <a:r>
              <a:rPr lang="en-US" sz="1400" b="1" kern="0" spc="200" dirty="0">
                <a:solidFill>
                  <a:srgbClr val="0081C8"/>
                </a:solidFill>
                <a:latin typeface="Calibri" pitchFamily="34" charset="0"/>
                <a:ea typeface="Calibri" pitchFamily="34" charset="-122"/>
                <a:cs typeface="Calibri" pitchFamily="34" charset="-120"/>
              </a:rPr>
              <a:t>THE OLYMPIC GAMES</a:t>
            </a:r>
            <a:endParaRPr lang="en-US" sz="1400" dirty="0"/>
          </a:p>
        </p:txBody>
      </p:sp>
      <p:sp>
        <p:nvSpPr>
          <p:cNvPr id="3" name="Text 1"/>
          <p:cNvSpPr/>
          <p:nvPr/>
        </p:nvSpPr>
        <p:spPr>
          <a:xfrm>
            <a:off x="548640" y="694944"/>
            <a:ext cx="9601200" cy="594360"/>
          </a:xfrm>
          <a:prstGeom prst="rect">
            <a:avLst/>
          </a:prstGeom>
          <a:noFill/>
          <a:ln/>
        </p:spPr>
        <p:txBody>
          <a:bodyPr wrap="square" rtlCol="0" anchor="ctr"/>
          <a:lstStyle/>
          <a:p>
            <a:pPr marL="0" indent="0">
              <a:buNone/>
            </a:pPr>
            <a:r>
              <a:rPr lang="en-US" sz="2700" b="1" dirty="0">
                <a:solidFill>
                  <a:srgbClr val="0B1E39"/>
                </a:solidFill>
                <a:latin typeface="Bookman Old Style" pitchFamily="34" charset="0"/>
                <a:ea typeface="Bookman Old Style" pitchFamily="34" charset="-122"/>
                <a:cs typeface="Bookman Old Style" pitchFamily="34" charset="-120"/>
              </a:rPr>
              <a:t>A Global Stage Since 1896</a:t>
            </a:r>
            <a:endParaRPr lang="en-US" sz="2700" dirty="0"/>
          </a:p>
        </p:txBody>
      </p:sp>
      <p:sp>
        <p:nvSpPr>
          <p:cNvPr id="4" name="Shape 2"/>
          <p:cNvSpPr/>
          <p:nvPr/>
        </p:nvSpPr>
        <p:spPr>
          <a:xfrm>
            <a:off x="10561320" y="438912"/>
            <a:ext cx="292608" cy="292608"/>
          </a:xfrm>
          <a:prstGeom prst="ellipse">
            <a:avLst/>
          </a:prstGeom>
          <a:ln w="30480">
            <a:solidFill>
              <a:srgbClr val="0081C8"/>
            </a:solidFill>
            <a:prstDash val="solid"/>
          </a:ln>
        </p:spPr>
      </p:sp>
      <p:sp>
        <p:nvSpPr>
          <p:cNvPr id="5" name="Shape 3"/>
          <p:cNvSpPr/>
          <p:nvPr/>
        </p:nvSpPr>
        <p:spPr>
          <a:xfrm>
            <a:off x="10722254" y="438912"/>
            <a:ext cx="292608" cy="292608"/>
          </a:xfrm>
          <a:prstGeom prst="ellipse">
            <a:avLst/>
          </a:prstGeom>
          <a:ln w="30480">
            <a:solidFill>
              <a:srgbClr val="FCB131"/>
            </a:solidFill>
            <a:prstDash val="solid"/>
          </a:ln>
        </p:spPr>
      </p:sp>
      <p:sp>
        <p:nvSpPr>
          <p:cNvPr id="6" name="Shape 4"/>
          <p:cNvSpPr/>
          <p:nvPr/>
        </p:nvSpPr>
        <p:spPr>
          <a:xfrm>
            <a:off x="10883189" y="438912"/>
            <a:ext cx="292608" cy="292608"/>
          </a:xfrm>
          <a:prstGeom prst="ellipse">
            <a:avLst/>
          </a:prstGeom>
          <a:ln w="30480">
            <a:solidFill>
              <a:srgbClr val="1A1A1A"/>
            </a:solidFill>
            <a:prstDash val="solid"/>
          </a:ln>
        </p:spPr>
      </p:sp>
      <p:sp>
        <p:nvSpPr>
          <p:cNvPr id="7" name="Shape 5"/>
          <p:cNvSpPr/>
          <p:nvPr/>
        </p:nvSpPr>
        <p:spPr>
          <a:xfrm>
            <a:off x="11044123" y="438912"/>
            <a:ext cx="292608" cy="292608"/>
          </a:xfrm>
          <a:prstGeom prst="ellipse">
            <a:avLst/>
          </a:prstGeom>
          <a:ln w="30480">
            <a:solidFill>
              <a:srgbClr val="00A651"/>
            </a:solidFill>
            <a:prstDash val="solid"/>
          </a:ln>
        </p:spPr>
      </p:sp>
      <p:sp>
        <p:nvSpPr>
          <p:cNvPr id="8" name="Shape 6"/>
          <p:cNvSpPr/>
          <p:nvPr/>
        </p:nvSpPr>
        <p:spPr>
          <a:xfrm>
            <a:off x="11205058" y="438912"/>
            <a:ext cx="292608" cy="292608"/>
          </a:xfrm>
          <a:prstGeom prst="ellipse">
            <a:avLst/>
          </a:prstGeom>
          <a:ln w="30480">
            <a:solidFill>
              <a:srgbClr val="EE334E"/>
            </a:solidFill>
            <a:prstDash val="solid"/>
          </a:ln>
        </p:spPr>
      </p:sp>
      <p:sp>
        <p:nvSpPr>
          <p:cNvPr id="9" name="Text 7"/>
          <p:cNvSpPr/>
          <p:nvPr/>
        </p:nvSpPr>
        <p:spPr>
          <a:xfrm>
            <a:off x="576072" y="1874520"/>
            <a:ext cx="5760720" cy="1554480"/>
          </a:xfrm>
          <a:prstGeom prst="rect">
            <a:avLst/>
          </a:prstGeom>
          <a:noFill/>
          <a:ln/>
        </p:spPr>
        <p:txBody>
          <a:bodyPr wrap="square" rtlCol="0" anchor="ctr"/>
          <a:lstStyle/>
          <a:p>
            <a:pPr marL="0" indent="0">
              <a:lnSpc>
                <a:spcPct val="128000"/>
              </a:lnSpc>
              <a:buNone/>
            </a:pPr>
            <a:r>
              <a:rPr lang="en-US" dirty="0">
                <a:latin typeface="Calibri" pitchFamily="34" charset="0"/>
                <a:ea typeface="Calibri" pitchFamily="34" charset="-122"/>
                <a:cs typeface="Calibri" pitchFamily="34" charset="-120"/>
              </a:rPr>
              <a:t>The modern Olympic Games began in Athens in 1896, reviving an ancient Greek tradition of athletic competition. Held every four years and alternating between Summer and Winter editions, the Games have grown from a 14-nation gathering into the world's largest multi-sport event.</a:t>
            </a:r>
            <a:endParaRPr lang="en-US" dirty="0"/>
          </a:p>
        </p:txBody>
      </p:sp>
      <p:sp>
        <p:nvSpPr>
          <p:cNvPr id="10" name="Shape 8"/>
          <p:cNvSpPr/>
          <p:nvPr/>
        </p:nvSpPr>
        <p:spPr>
          <a:xfrm>
            <a:off x="617220" y="3877056"/>
            <a:ext cx="5760720" cy="1417320"/>
          </a:xfrm>
          <a:prstGeom prst="roundRect">
            <a:avLst>
              <a:gd name="adj" fmla="val 5161"/>
            </a:avLst>
          </a:prstGeom>
          <a:solidFill>
            <a:srgbClr val="0B1E39"/>
          </a:solidFill>
          <a:ln/>
        </p:spPr>
      </p:sp>
      <p:sp>
        <p:nvSpPr>
          <p:cNvPr id="11" name="Shape 9"/>
          <p:cNvSpPr/>
          <p:nvPr/>
        </p:nvSpPr>
        <p:spPr>
          <a:xfrm>
            <a:off x="603504" y="3877056"/>
            <a:ext cx="82296" cy="1417320"/>
          </a:xfrm>
          <a:prstGeom prst="roundRect">
            <a:avLst/>
          </a:prstGeom>
          <a:solidFill>
            <a:srgbClr val="FCB131"/>
          </a:solidFill>
          <a:ln/>
        </p:spPr>
      </p:sp>
      <p:sp>
        <p:nvSpPr>
          <p:cNvPr id="12" name="Text 10"/>
          <p:cNvSpPr/>
          <p:nvPr/>
        </p:nvSpPr>
        <p:spPr>
          <a:xfrm>
            <a:off x="685800" y="4047806"/>
            <a:ext cx="5303520" cy="685800"/>
          </a:xfrm>
          <a:prstGeom prst="rect">
            <a:avLst/>
          </a:prstGeom>
          <a:noFill/>
          <a:ln/>
        </p:spPr>
        <p:txBody>
          <a:bodyPr wrap="square" rtlCol="0" anchor="ctr"/>
          <a:lstStyle/>
          <a:p>
            <a:pPr marL="0" indent="0">
              <a:buNone/>
            </a:pPr>
            <a:r>
              <a:rPr lang="en-US" sz="1450" i="1" dirty="0">
                <a:solidFill>
                  <a:srgbClr val="FFFFFF"/>
                </a:solidFill>
                <a:latin typeface="Bookman Old Style" pitchFamily="34" charset="0"/>
                <a:ea typeface="Bookman Old Style" pitchFamily="34" charset="-122"/>
                <a:cs typeface="Bookman Old Style" pitchFamily="34" charset="-120"/>
              </a:rPr>
              <a:t>“The most important thing is not to win but to take part.”</a:t>
            </a:r>
            <a:endParaRPr lang="en-US" sz="1450" dirty="0"/>
          </a:p>
        </p:txBody>
      </p:sp>
      <p:sp>
        <p:nvSpPr>
          <p:cNvPr id="13" name="Text 11"/>
          <p:cNvSpPr/>
          <p:nvPr/>
        </p:nvSpPr>
        <p:spPr>
          <a:xfrm>
            <a:off x="822960" y="4691245"/>
            <a:ext cx="5303520" cy="365760"/>
          </a:xfrm>
          <a:prstGeom prst="rect">
            <a:avLst/>
          </a:prstGeom>
          <a:noFill/>
          <a:ln/>
        </p:spPr>
        <p:txBody>
          <a:bodyPr wrap="square" rtlCol="0" anchor="ctr"/>
          <a:lstStyle/>
          <a:p>
            <a:pPr marL="0" indent="0">
              <a:buNone/>
            </a:pPr>
            <a:r>
              <a:rPr lang="en-US" sz="1050" dirty="0">
                <a:solidFill>
                  <a:srgbClr val="FCB131"/>
                </a:solidFill>
                <a:latin typeface="Calibri" pitchFamily="34" charset="0"/>
                <a:ea typeface="Calibri" pitchFamily="34" charset="-122"/>
                <a:cs typeface="Calibri" pitchFamily="34" charset="-120"/>
              </a:rPr>
              <a:t>— Pierre de Coubertin, founder of the modern Olympic movement</a:t>
            </a:r>
            <a:endParaRPr lang="en-US" sz="1050" dirty="0"/>
          </a:p>
        </p:txBody>
      </p:sp>
      <p:sp>
        <p:nvSpPr>
          <p:cNvPr id="14" name="Shape 12"/>
          <p:cNvSpPr/>
          <p:nvPr/>
        </p:nvSpPr>
        <p:spPr>
          <a:xfrm>
            <a:off x="6720840" y="1371600"/>
            <a:ext cx="4892040" cy="1051560"/>
          </a:xfrm>
          <a:prstGeom prst="roundRect">
            <a:avLst>
              <a:gd name="adj" fmla="val 6957"/>
            </a:avLst>
          </a:prstGeom>
          <a:solidFill>
            <a:srgbClr val="F4F6F9"/>
          </a:solidFill>
          <a:ln/>
        </p:spPr>
      </p:sp>
      <p:sp>
        <p:nvSpPr>
          <p:cNvPr id="15" name="Shape 13"/>
          <p:cNvSpPr/>
          <p:nvPr/>
        </p:nvSpPr>
        <p:spPr>
          <a:xfrm>
            <a:off x="6903720" y="1572768"/>
            <a:ext cx="658368" cy="658368"/>
          </a:xfrm>
          <a:prstGeom prst="ellipse">
            <a:avLst/>
          </a:prstGeom>
          <a:solidFill>
            <a:srgbClr val="0081C8"/>
          </a:solidFill>
          <a:ln/>
        </p:spPr>
      </p:sp>
      <p:pic>
        <p:nvPicPr>
          <p:cNvPr id="16" name="Image 0" descr="/home/claude/ppt/icons/flag_FFFFFF.png"/>
          <p:cNvPicPr>
            <a:picLocks noChangeAspect="1"/>
          </p:cNvPicPr>
          <p:nvPr/>
        </p:nvPicPr>
        <p:blipFill>
          <a:blip r:embed="rId3"/>
          <a:stretch>
            <a:fillRect/>
          </a:stretch>
        </p:blipFill>
        <p:spPr>
          <a:xfrm>
            <a:off x="7068312" y="1737360"/>
            <a:ext cx="329184" cy="329184"/>
          </a:xfrm>
          <a:prstGeom prst="rect">
            <a:avLst/>
          </a:prstGeom>
        </p:spPr>
      </p:pic>
      <p:sp>
        <p:nvSpPr>
          <p:cNvPr id="17" name="Text 14"/>
          <p:cNvSpPr/>
          <p:nvPr/>
        </p:nvSpPr>
        <p:spPr>
          <a:xfrm>
            <a:off x="7772400" y="1444752"/>
            <a:ext cx="1554480" cy="457200"/>
          </a:xfrm>
          <a:prstGeom prst="rect">
            <a:avLst/>
          </a:prstGeom>
          <a:noFill/>
          <a:ln/>
        </p:spPr>
        <p:txBody>
          <a:bodyPr wrap="square" rtlCol="0" anchor="ctr"/>
          <a:lstStyle/>
          <a:p>
            <a:pPr marL="0" indent="0">
              <a:buNone/>
            </a:pPr>
            <a:r>
              <a:rPr lang="en-US" sz="2200" b="1" dirty="0">
                <a:solidFill>
                  <a:srgbClr val="0081C8"/>
                </a:solidFill>
                <a:latin typeface="Bookman Old Style" pitchFamily="34" charset="0"/>
                <a:ea typeface="Bookman Old Style" pitchFamily="34" charset="-122"/>
                <a:cs typeface="Bookman Old Style" pitchFamily="34" charset="-120"/>
              </a:rPr>
              <a:t>1896</a:t>
            </a:r>
            <a:endParaRPr lang="en-US" sz="2200" dirty="0"/>
          </a:p>
        </p:txBody>
      </p:sp>
      <p:sp>
        <p:nvSpPr>
          <p:cNvPr id="18" name="Text 15"/>
          <p:cNvSpPr/>
          <p:nvPr/>
        </p:nvSpPr>
        <p:spPr>
          <a:xfrm>
            <a:off x="7772400" y="1874520"/>
            <a:ext cx="3703320" cy="475488"/>
          </a:xfrm>
          <a:prstGeom prst="rect">
            <a:avLst/>
          </a:prstGeom>
          <a:noFill/>
          <a:ln/>
        </p:spPr>
        <p:txBody>
          <a:bodyPr wrap="square" rtlCol="0" anchor="ctr"/>
          <a:lstStyle/>
          <a:p>
            <a:pPr marL="0" indent="0">
              <a:lnSpc>
                <a:spcPct val="110000"/>
              </a:lnSpc>
              <a:buNone/>
            </a:pPr>
            <a:r>
              <a:rPr lang="en-US" sz="1400" dirty="0">
                <a:solidFill>
                  <a:srgbClr val="0B1E39"/>
                </a:solidFill>
                <a:latin typeface="Calibri" pitchFamily="34" charset="0"/>
                <a:ea typeface="Calibri" pitchFamily="34" charset="-122"/>
                <a:cs typeface="Calibri" pitchFamily="34" charset="-120"/>
              </a:rPr>
              <a:t>First modern Games, held in Athens</a:t>
            </a:r>
            <a:endParaRPr lang="en-US" sz="1400" dirty="0"/>
          </a:p>
        </p:txBody>
      </p:sp>
      <p:sp>
        <p:nvSpPr>
          <p:cNvPr id="19" name="Shape 16"/>
          <p:cNvSpPr/>
          <p:nvPr/>
        </p:nvSpPr>
        <p:spPr>
          <a:xfrm>
            <a:off x="6720840" y="2587752"/>
            <a:ext cx="4892040" cy="1051560"/>
          </a:xfrm>
          <a:prstGeom prst="roundRect">
            <a:avLst>
              <a:gd name="adj" fmla="val 6957"/>
            </a:avLst>
          </a:prstGeom>
          <a:solidFill>
            <a:srgbClr val="F4F6F9"/>
          </a:solidFill>
          <a:ln/>
        </p:spPr>
      </p:sp>
      <p:sp>
        <p:nvSpPr>
          <p:cNvPr id="20" name="Shape 17"/>
          <p:cNvSpPr/>
          <p:nvPr/>
        </p:nvSpPr>
        <p:spPr>
          <a:xfrm>
            <a:off x="6903720" y="2788920"/>
            <a:ext cx="658368" cy="658368"/>
          </a:xfrm>
          <a:prstGeom prst="ellipse">
            <a:avLst/>
          </a:prstGeom>
          <a:solidFill>
            <a:srgbClr val="FCB131"/>
          </a:solidFill>
          <a:ln/>
        </p:spPr>
      </p:sp>
      <p:pic>
        <p:nvPicPr>
          <p:cNvPr id="21" name="Image 1" descr="/home/claude/ppt/icons/calendar_FFFFFF.png"/>
          <p:cNvPicPr>
            <a:picLocks noChangeAspect="1"/>
          </p:cNvPicPr>
          <p:nvPr/>
        </p:nvPicPr>
        <p:blipFill>
          <a:blip r:embed="rId4"/>
          <a:stretch>
            <a:fillRect/>
          </a:stretch>
        </p:blipFill>
        <p:spPr>
          <a:xfrm>
            <a:off x="7068312" y="2953512"/>
            <a:ext cx="329184" cy="329184"/>
          </a:xfrm>
          <a:prstGeom prst="rect">
            <a:avLst/>
          </a:prstGeom>
        </p:spPr>
      </p:pic>
      <p:sp>
        <p:nvSpPr>
          <p:cNvPr id="22" name="Text 18"/>
          <p:cNvSpPr/>
          <p:nvPr/>
        </p:nvSpPr>
        <p:spPr>
          <a:xfrm>
            <a:off x="7772400" y="2660904"/>
            <a:ext cx="1554480" cy="457200"/>
          </a:xfrm>
          <a:prstGeom prst="rect">
            <a:avLst/>
          </a:prstGeom>
          <a:noFill/>
          <a:ln/>
        </p:spPr>
        <p:txBody>
          <a:bodyPr wrap="square" rtlCol="0" anchor="ctr"/>
          <a:lstStyle/>
          <a:p>
            <a:pPr marL="0" indent="0">
              <a:buNone/>
            </a:pPr>
            <a:r>
              <a:rPr lang="en-US" sz="2200" b="1" dirty="0">
                <a:solidFill>
                  <a:srgbClr val="FCB131"/>
                </a:solidFill>
                <a:latin typeface="Bookman Old Style" pitchFamily="34" charset="0"/>
                <a:ea typeface="Bookman Old Style" pitchFamily="34" charset="-122"/>
                <a:cs typeface="Bookman Old Style" pitchFamily="34" charset="-120"/>
              </a:rPr>
              <a:t>4-Year</a:t>
            </a:r>
            <a:endParaRPr lang="en-US" sz="2200" dirty="0"/>
          </a:p>
        </p:txBody>
      </p:sp>
      <p:sp>
        <p:nvSpPr>
          <p:cNvPr id="23" name="Text 19"/>
          <p:cNvSpPr/>
          <p:nvPr/>
        </p:nvSpPr>
        <p:spPr>
          <a:xfrm>
            <a:off x="7772400" y="3090672"/>
            <a:ext cx="3703320" cy="475488"/>
          </a:xfrm>
          <a:prstGeom prst="rect">
            <a:avLst/>
          </a:prstGeom>
          <a:noFill/>
          <a:ln/>
        </p:spPr>
        <p:txBody>
          <a:bodyPr wrap="square" rtlCol="0" anchor="ctr"/>
          <a:lstStyle/>
          <a:p>
            <a:pPr marL="0" indent="0">
              <a:lnSpc>
                <a:spcPct val="110000"/>
              </a:lnSpc>
              <a:buNone/>
            </a:pPr>
            <a:r>
              <a:rPr lang="en-US" sz="1400" dirty="0">
                <a:solidFill>
                  <a:srgbClr val="0B1E39"/>
                </a:solidFill>
                <a:latin typeface="Calibri" pitchFamily="34" charset="0"/>
                <a:ea typeface="Calibri" pitchFamily="34" charset="-122"/>
                <a:cs typeface="Calibri" pitchFamily="34" charset="-120"/>
              </a:rPr>
              <a:t>Cycle between each edition, Summer &amp; Winter</a:t>
            </a:r>
            <a:endParaRPr lang="en-US" sz="1400" dirty="0"/>
          </a:p>
        </p:txBody>
      </p:sp>
      <p:sp>
        <p:nvSpPr>
          <p:cNvPr id="24" name="Shape 20"/>
          <p:cNvSpPr/>
          <p:nvPr/>
        </p:nvSpPr>
        <p:spPr>
          <a:xfrm>
            <a:off x="6720840" y="3803904"/>
            <a:ext cx="4892040" cy="1051560"/>
          </a:xfrm>
          <a:prstGeom prst="roundRect">
            <a:avLst>
              <a:gd name="adj" fmla="val 6957"/>
            </a:avLst>
          </a:prstGeom>
          <a:solidFill>
            <a:srgbClr val="F4F6F9"/>
          </a:solidFill>
          <a:ln/>
        </p:spPr>
      </p:sp>
      <p:sp>
        <p:nvSpPr>
          <p:cNvPr id="25" name="Shape 21"/>
          <p:cNvSpPr/>
          <p:nvPr/>
        </p:nvSpPr>
        <p:spPr>
          <a:xfrm>
            <a:off x="6903720" y="4005072"/>
            <a:ext cx="658368" cy="658368"/>
          </a:xfrm>
          <a:prstGeom prst="ellipse">
            <a:avLst/>
          </a:prstGeom>
          <a:solidFill>
            <a:srgbClr val="00A651"/>
          </a:solidFill>
          <a:ln/>
        </p:spPr>
      </p:sp>
      <p:pic>
        <p:nvPicPr>
          <p:cNvPr id="26" name="Image 2" descr="/home/claude/ppt/icons/globe_FFFFFF.png"/>
          <p:cNvPicPr>
            <a:picLocks noChangeAspect="1"/>
          </p:cNvPicPr>
          <p:nvPr/>
        </p:nvPicPr>
        <p:blipFill>
          <a:blip r:embed="rId5"/>
          <a:stretch>
            <a:fillRect/>
          </a:stretch>
        </p:blipFill>
        <p:spPr>
          <a:xfrm>
            <a:off x="7068312" y="4169664"/>
            <a:ext cx="329184" cy="329184"/>
          </a:xfrm>
          <a:prstGeom prst="rect">
            <a:avLst/>
          </a:prstGeom>
        </p:spPr>
      </p:pic>
      <p:sp>
        <p:nvSpPr>
          <p:cNvPr id="27" name="Text 22"/>
          <p:cNvSpPr/>
          <p:nvPr/>
        </p:nvSpPr>
        <p:spPr>
          <a:xfrm>
            <a:off x="7772400" y="3877056"/>
            <a:ext cx="1554480" cy="457200"/>
          </a:xfrm>
          <a:prstGeom prst="rect">
            <a:avLst/>
          </a:prstGeom>
          <a:noFill/>
          <a:ln/>
        </p:spPr>
        <p:txBody>
          <a:bodyPr wrap="square" rtlCol="0" anchor="ctr"/>
          <a:lstStyle/>
          <a:p>
            <a:pPr marL="0" indent="0">
              <a:buNone/>
            </a:pPr>
            <a:r>
              <a:rPr lang="en-US" sz="2200" b="1" dirty="0">
                <a:solidFill>
                  <a:srgbClr val="00A651"/>
                </a:solidFill>
                <a:latin typeface="Bookman Old Style" pitchFamily="34" charset="0"/>
                <a:ea typeface="Bookman Old Style" pitchFamily="34" charset="-122"/>
                <a:cs typeface="Bookman Old Style" pitchFamily="34" charset="-120"/>
              </a:rPr>
              <a:t>200+</a:t>
            </a:r>
            <a:endParaRPr lang="en-US" sz="2200" dirty="0"/>
          </a:p>
        </p:txBody>
      </p:sp>
      <p:sp>
        <p:nvSpPr>
          <p:cNvPr id="28" name="Text 23"/>
          <p:cNvSpPr/>
          <p:nvPr/>
        </p:nvSpPr>
        <p:spPr>
          <a:xfrm>
            <a:off x="7772400" y="4306824"/>
            <a:ext cx="3703320" cy="475488"/>
          </a:xfrm>
          <a:prstGeom prst="rect">
            <a:avLst/>
          </a:prstGeom>
          <a:noFill/>
          <a:ln/>
        </p:spPr>
        <p:txBody>
          <a:bodyPr wrap="square" rtlCol="0" anchor="ctr"/>
          <a:lstStyle/>
          <a:p>
            <a:pPr marL="0" indent="0">
              <a:lnSpc>
                <a:spcPct val="110000"/>
              </a:lnSpc>
              <a:buNone/>
            </a:pPr>
            <a:r>
              <a:rPr lang="en-US" sz="1400" dirty="0">
                <a:solidFill>
                  <a:srgbClr val="0B1E39"/>
                </a:solidFill>
                <a:latin typeface="Calibri" pitchFamily="34" charset="0"/>
                <a:ea typeface="Calibri" pitchFamily="34" charset="-122"/>
                <a:cs typeface="Calibri" pitchFamily="34" charset="-120"/>
              </a:rPr>
              <a:t>Nations compete on the Olympic stage today</a:t>
            </a:r>
            <a:endParaRPr lang="en-US" sz="1400" dirty="0"/>
          </a:p>
        </p:txBody>
      </p:sp>
      <p:sp>
        <p:nvSpPr>
          <p:cNvPr id="29" name="Shape 24"/>
          <p:cNvSpPr/>
          <p:nvPr/>
        </p:nvSpPr>
        <p:spPr>
          <a:xfrm>
            <a:off x="6720840" y="5020056"/>
            <a:ext cx="4892040" cy="1051560"/>
          </a:xfrm>
          <a:prstGeom prst="roundRect">
            <a:avLst>
              <a:gd name="adj" fmla="val 6957"/>
            </a:avLst>
          </a:prstGeom>
          <a:solidFill>
            <a:srgbClr val="F4F6F9"/>
          </a:solidFill>
          <a:ln/>
        </p:spPr>
      </p:sp>
      <p:sp>
        <p:nvSpPr>
          <p:cNvPr id="30" name="Shape 25"/>
          <p:cNvSpPr/>
          <p:nvPr/>
        </p:nvSpPr>
        <p:spPr>
          <a:xfrm>
            <a:off x="6903720" y="5221224"/>
            <a:ext cx="658368" cy="658368"/>
          </a:xfrm>
          <a:prstGeom prst="ellipse">
            <a:avLst/>
          </a:prstGeom>
          <a:solidFill>
            <a:srgbClr val="EE334E"/>
          </a:solidFill>
          <a:ln/>
        </p:spPr>
      </p:sp>
      <p:pic>
        <p:nvPicPr>
          <p:cNvPr id="31" name="Image 3" descr="/home/claude/ppt/icons/running_FFFFFF.png"/>
          <p:cNvPicPr>
            <a:picLocks noChangeAspect="1"/>
          </p:cNvPicPr>
          <p:nvPr/>
        </p:nvPicPr>
        <p:blipFill>
          <a:blip r:embed="rId6"/>
          <a:stretch>
            <a:fillRect/>
          </a:stretch>
        </p:blipFill>
        <p:spPr>
          <a:xfrm>
            <a:off x="7068312" y="5385816"/>
            <a:ext cx="329184" cy="329184"/>
          </a:xfrm>
          <a:prstGeom prst="rect">
            <a:avLst/>
          </a:prstGeom>
        </p:spPr>
      </p:pic>
      <p:sp>
        <p:nvSpPr>
          <p:cNvPr id="32" name="Text 26"/>
          <p:cNvSpPr/>
          <p:nvPr/>
        </p:nvSpPr>
        <p:spPr>
          <a:xfrm>
            <a:off x="7772400" y="5093208"/>
            <a:ext cx="1554480" cy="457200"/>
          </a:xfrm>
          <a:prstGeom prst="rect">
            <a:avLst/>
          </a:prstGeom>
          <a:noFill/>
          <a:ln/>
        </p:spPr>
        <p:txBody>
          <a:bodyPr wrap="square" rtlCol="0" anchor="ctr"/>
          <a:lstStyle/>
          <a:p>
            <a:pPr marL="0" indent="0">
              <a:buNone/>
            </a:pPr>
            <a:r>
              <a:rPr lang="en-US" sz="2200" b="1" dirty="0">
                <a:solidFill>
                  <a:srgbClr val="EE334E"/>
                </a:solidFill>
                <a:latin typeface="Bookman Old Style" pitchFamily="34" charset="0"/>
                <a:ea typeface="Bookman Old Style" pitchFamily="34" charset="-122"/>
                <a:cs typeface="Bookman Old Style" pitchFamily="34" charset="-120"/>
              </a:rPr>
              <a:t>32</a:t>
            </a:r>
            <a:endParaRPr lang="en-US" sz="2200" dirty="0"/>
          </a:p>
        </p:txBody>
      </p:sp>
      <p:sp>
        <p:nvSpPr>
          <p:cNvPr id="33" name="Text 27"/>
          <p:cNvSpPr/>
          <p:nvPr/>
        </p:nvSpPr>
        <p:spPr>
          <a:xfrm>
            <a:off x="7772400" y="5522976"/>
            <a:ext cx="3703320" cy="475488"/>
          </a:xfrm>
          <a:prstGeom prst="rect">
            <a:avLst/>
          </a:prstGeom>
          <a:noFill/>
          <a:ln/>
        </p:spPr>
        <p:txBody>
          <a:bodyPr wrap="square" rtlCol="0" anchor="ctr"/>
          <a:lstStyle/>
          <a:p>
            <a:pPr marL="0" indent="0">
              <a:lnSpc>
                <a:spcPct val="110000"/>
              </a:lnSpc>
              <a:buNone/>
            </a:pPr>
            <a:r>
              <a:rPr lang="en-US" sz="1400" dirty="0">
                <a:solidFill>
                  <a:srgbClr val="0B1E39"/>
                </a:solidFill>
                <a:latin typeface="Calibri" pitchFamily="34" charset="0"/>
                <a:ea typeface="Calibri" pitchFamily="34" charset="-122"/>
                <a:cs typeface="Calibri" pitchFamily="34" charset="-120"/>
              </a:rPr>
              <a:t>Sports on the Paris 2024 Summer program</a:t>
            </a:r>
            <a:endParaRPr lang="en-US" sz="1400" dirty="0"/>
          </a:p>
        </p:txBody>
      </p:sp>
      <p:sp>
        <p:nvSpPr>
          <p:cNvPr id="34" name="Text 28"/>
          <p:cNvSpPr/>
          <p:nvPr/>
        </p:nvSpPr>
        <p:spPr>
          <a:xfrm>
            <a:off x="457200" y="6537960"/>
            <a:ext cx="7315200" cy="274320"/>
          </a:xfrm>
          <a:prstGeom prst="rect">
            <a:avLst/>
          </a:prstGeom>
          <a:noFill/>
          <a:ln/>
        </p:spPr>
        <p:txBody>
          <a:bodyPr wrap="square" rtlCol="0" anchor="ctr"/>
          <a:lstStyle/>
          <a:p>
            <a:pPr marL="0" indent="0">
              <a:buNone/>
            </a:pPr>
            <a:r>
              <a:rPr lang="en-US" sz="900" kern="0" spc="100" dirty="0">
                <a:solidFill>
                  <a:srgbClr val="9AA6B8"/>
                </a:solidFill>
                <a:latin typeface="Calibri" pitchFamily="34" charset="0"/>
                <a:ea typeface="Calibri" pitchFamily="34" charset="-122"/>
                <a:cs typeface="Calibri" pitchFamily="34" charset="-120"/>
              </a:rPr>
              <a:t>OLYMPIC INSIGHTS  |  POWER BI ANALYTICS PROJECT</a:t>
            </a:r>
            <a:endParaRPr lang="en-US" sz="900" dirty="0"/>
          </a:p>
        </p:txBody>
      </p:sp>
      <p:sp>
        <p:nvSpPr>
          <p:cNvPr id="35" name="Text 29"/>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marL="0" indent="0">
              <a:buNone/>
            </a:pPr>
            <a:r>
              <a:rPr lang="en-US" sz="1600" b="1" kern="0" spc="200" dirty="0">
                <a:solidFill>
                  <a:srgbClr val="FCB131"/>
                </a:solidFill>
                <a:latin typeface="Calibri" pitchFamily="34" charset="0"/>
                <a:ea typeface="Calibri" pitchFamily="34" charset="-122"/>
                <a:cs typeface="Calibri" pitchFamily="34" charset="-120"/>
              </a:rPr>
              <a:t>PROJECT FOUNDATION</a:t>
            </a:r>
            <a:endParaRPr lang="en-US" sz="1600" dirty="0"/>
          </a:p>
        </p:txBody>
      </p:sp>
      <p:sp>
        <p:nvSpPr>
          <p:cNvPr id="3" name="Text 1"/>
          <p:cNvSpPr/>
          <p:nvPr/>
        </p:nvSpPr>
        <p:spPr>
          <a:xfrm>
            <a:off x="548640" y="694944"/>
            <a:ext cx="9601200" cy="594360"/>
          </a:xfrm>
          <a:prstGeom prst="rect">
            <a:avLst/>
          </a:prstGeom>
          <a:noFill/>
          <a:ln/>
        </p:spPr>
        <p:txBody>
          <a:bodyPr wrap="square" rtlCol="0" anchor="ctr"/>
          <a:lstStyle/>
          <a:p>
            <a:pPr marL="0" indent="0">
              <a:buNone/>
            </a:pPr>
            <a:r>
              <a:rPr lang="en-US" sz="2700" b="1" dirty="0">
                <a:solidFill>
                  <a:srgbClr val="0B1E39"/>
                </a:solidFill>
                <a:latin typeface="Bookman Old Style" pitchFamily="34" charset="0"/>
                <a:ea typeface="Bookman Old Style" pitchFamily="34" charset="-122"/>
                <a:cs typeface="Bookman Old Style" pitchFamily="34" charset="-120"/>
              </a:rPr>
              <a:t>About the Dataset</a:t>
            </a:r>
            <a:endParaRPr lang="en-US" sz="2700" dirty="0"/>
          </a:p>
        </p:txBody>
      </p:sp>
      <p:sp>
        <p:nvSpPr>
          <p:cNvPr id="4" name="Shape 2"/>
          <p:cNvSpPr/>
          <p:nvPr/>
        </p:nvSpPr>
        <p:spPr>
          <a:xfrm>
            <a:off x="10561320" y="438912"/>
            <a:ext cx="292608" cy="292608"/>
          </a:xfrm>
          <a:prstGeom prst="ellipse">
            <a:avLst/>
          </a:prstGeom>
          <a:ln w="30480">
            <a:solidFill>
              <a:srgbClr val="0081C8"/>
            </a:solidFill>
            <a:prstDash val="solid"/>
          </a:ln>
        </p:spPr>
      </p:sp>
      <p:sp>
        <p:nvSpPr>
          <p:cNvPr id="5" name="Shape 3"/>
          <p:cNvSpPr/>
          <p:nvPr/>
        </p:nvSpPr>
        <p:spPr>
          <a:xfrm>
            <a:off x="10722254" y="438912"/>
            <a:ext cx="292608" cy="292608"/>
          </a:xfrm>
          <a:prstGeom prst="ellipse">
            <a:avLst/>
          </a:prstGeom>
          <a:ln w="30480">
            <a:solidFill>
              <a:srgbClr val="FCB131"/>
            </a:solidFill>
            <a:prstDash val="solid"/>
          </a:ln>
        </p:spPr>
      </p:sp>
      <p:sp>
        <p:nvSpPr>
          <p:cNvPr id="6" name="Shape 4"/>
          <p:cNvSpPr/>
          <p:nvPr/>
        </p:nvSpPr>
        <p:spPr>
          <a:xfrm>
            <a:off x="10883189" y="438912"/>
            <a:ext cx="292608" cy="292608"/>
          </a:xfrm>
          <a:prstGeom prst="ellipse">
            <a:avLst/>
          </a:prstGeom>
          <a:ln w="30480">
            <a:solidFill>
              <a:srgbClr val="1A1A1A"/>
            </a:solidFill>
            <a:prstDash val="solid"/>
          </a:ln>
        </p:spPr>
      </p:sp>
      <p:sp>
        <p:nvSpPr>
          <p:cNvPr id="7" name="Shape 5"/>
          <p:cNvSpPr/>
          <p:nvPr/>
        </p:nvSpPr>
        <p:spPr>
          <a:xfrm>
            <a:off x="11044123" y="438912"/>
            <a:ext cx="292608" cy="292608"/>
          </a:xfrm>
          <a:prstGeom prst="ellipse">
            <a:avLst/>
          </a:prstGeom>
          <a:ln w="30480">
            <a:solidFill>
              <a:srgbClr val="00A651"/>
            </a:solidFill>
            <a:prstDash val="solid"/>
          </a:ln>
        </p:spPr>
      </p:sp>
      <p:sp>
        <p:nvSpPr>
          <p:cNvPr id="8" name="Shape 6"/>
          <p:cNvSpPr/>
          <p:nvPr/>
        </p:nvSpPr>
        <p:spPr>
          <a:xfrm>
            <a:off x="11205058" y="438912"/>
            <a:ext cx="292608" cy="292608"/>
          </a:xfrm>
          <a:prstGeom prst="ellipse">
            <a:avLst/>
          </a:prstGeom>
          <a:ln w="30480">
            <a:solidFill>
              <a:srgbClr val="EE334E"/>
            </a:solidFill>
            <a:prstDash val="solid"/>
          </a:ln>
        </p:spPr>
      </p:sp>
      <p:sp>
        <p:nvSpPr>
          <p:cNvPr id="9" name="Text 7"/>
          <p:cNvSpPr/>
          <p:nvPr/>
        </p:nvSpPr>
        <p:spPr>
          <a:xfrm>
            <a:off x="548640" y="1325880"/>
            <a:ext cx="10515600" cy="365760"/>
          </a:xfrm>
          <a:prstGeom prst="rect">
            <a:avLst/>
          </a:prstGeom>
          <a:noFill/>
          <a:ln/>
        </p:spPr>
        <p:txBody>
          <a:bodyPr wrap="square" rtlCol="0" anchor="ctr"/>
          <a:lstStyle/>
          <a:p>
            <a:pPr marL="0" indent="0">
              <a:buNone/>
            </a:pPr>
            <a:r>
              <a:rPr lang="en-US" sz="1600" dirty="0">
                <a:latin typeface="Calibri" pitchFamily="34" charset="0"/>
                <a:ea typeface="Calibri" pitchFamily="34" charset="-122"/>
                <a:cs typeface="Calibri" pitchFamily="34" charset="-120"/>
              </a:rPr>
              <a:t>Six</a:t>
            </a:r>
            <a:r>
              <a:rPr lang="en-US" sz="1400" dirty="0">
                <a:latin typeface="Calibri" pitchFamily="34" charset="0"/>
                <a:ea typeface="Calibri" pitchFamily="34" charset="-122"/>
                <a:cs typeface="Calibri" pitchFamily="34" charset="-120"/>
              </a:rPr>
              <a:t> </a:t>
            </a:r>
            <a:r>
              <a:rPr lang="en-US" sz="1600" dirty="0">
                <a:latin typeface="Calibri" pitchFamily="34" charset="0"/>
                <a:ea typeface="Calibri" pitchFamily="34" charset="-122"/>
                <a:cs typeface="Calibri" pitchFamily="34" charset="-120"/>
              </a:rPr>
              <a:t>interconnected CSV files spanning every Olympic edition from 1896 to 2032, cleaned and modeled as a star schema</a:t>
            </a:r>
            <a:r>
              <a:rPr lang="en-US" sz="1400" dirty="0">
                <a:latin typeface="Calibri" pitchFamily="34" charset="0"/>
                <a:ea typeface="Calibri" pitchFamily="34" charset="-122"/>
                <a:cs typeface="Calibri" pitchFamily="34" charset="-120"/>
              </a:rPr>
              <a:t>.</a:t>
            </a:r>
            <a:endParaRPr lang="en-US" sz="1400" dirty="0"/>
          </a:p>
        </p:txBody>
      </p:sp>
      <p:sp>
        <p:nvSpPr>
          <p:cNvPr id="10" name="Shape 8"/>
          <p:cNvSpPr/>
          <p:nvPr/>
        </p:nvSpPr>
        <p:spPr>
          <a:xfrm>
            <a:off x="548640" y="1828800"/>
            <a:ext cx="3611880" cy="1691640"/>
          </a:xfrm>
          <a:prstGeom prst="roundRect">
            <a:avLst>
              <a:gd name="adj" fmla="val 4324"/>
            </a:avLst>
          </a:prstGeom>
          <a:solidFill>
            <a:srgbClr val="0B1E39"/>
          </a:solidFill>
          <a:ln/>
        </p:spPr>
      </p:sp>
      <p:sp>
        <p:nvSpPr>
          <p:cNvPr id="11" name="Shape 9"/>
          <p:cNvSpPr/>
          <p:nvPr/>
        </p:nvSpPr>
        <p:spPr>
          <a:xfrm>
            <a:off x="777240" y="2029968"/>
            <a:ext cx="475488" cy="475488"/>
          </a:xfrm>
          <a:prstGeom prst="ellipse">
            <a:avLst/>
          </a:prstGeom>
          <a:solidFill>
            <a:srgbClr val="0081C8"/>
          </a:solidFill>
          <a:ln/>
        </p:spPr>
      </p:sp>
      <p:pic>
        <p:nvPicPr>
          <p:cNvPr id="12" name="Image 0" descr="/home/claude/ppt/icons/file_FFFFFF.png"/>
          <p:cNvPicPr>
            <a:picLocks noChangeAspect="1"/>
          </p:cNvPicPr>
          <p:nvPr/>
        </p:nvPicPr>
        <p:blipFill>
          <a:blip r:embed="rId3"/>
          <a:stretch>
            <a:fillRect/>
          </a:stretch>
        </p:blipFill>
        <p:spPr>
          <a:xfrm>
            <a:off x="884225" y="2136953"/>
            <a:ext cx="261518" cy="261518"/>
          </a:xfrm>
          <a:prstGeom prst="rect">
            <a:avLst/>
          </a:prstGeom>
        </p:spPr>
      </p:pic>
      <p:sp>
        <p:nvSpPr>
          <p:cNvPr id="13" name="Text 10"/>
          <p:cNvSpPr/>
          <p:nvPr/>
        </p:nvSpPr>
        <p:spPr>
          <a:xfrm>
            <a:off x="1389888" y="2011680"/>
            <a:ext cx="2651760" cy="365760"/>
          </a:xfrm>
          <a:prstGeom prst="rect">
            <a:avLst/>
          </a:prstGeom>
          <a:noFill/>
          <a:ln/>
        </p:spPr>
        <p:txBody>
          <a:bodyPr wrap="square" rtlCol="0" anchor="ctr"/>
          <a:lstStyle/>
          <a:p>
            <a:pPr marL="0" indent="0">
              <a:buNone/>
            </a:pPr>
            <a:r>
              <a:rPr lang="en-US" sz="1400" b="1" dirty="0">
                <a:solidFill>
                  <a:srgbClr val="FFFFFF"/>
                </a:solidFill>
                <a:latin typeface="Bookman Old Style" pitchFamily="34" charset="0"/>
                <a:ea typeface="Bookman Old Style" pitchFamily="34" charset="-122"/>
                <a:cs typeface="Bookman Old Style" pitchFamily="34" charset="-120"/>
              </a:rPr>
              <a:t>Athlete Bio</a:t>
            </a:r>
            <a:endParaRPr lang="en-US" sz="1400" dirty="0"/>
          </a:p>
        </p:txBody>
      </p:sp>
      <p:sp>
        <p:nvSpPr>
          <p:cNvPr id="14" name="Text 11"/>
          <p:cNvSpPr/>
          <p:nvPr/>
        </p:nvSpPr>
        <p:spPr>
          <a:xfrm>
            <a:off x="1389888" y="2331720"/>
            <a:ext cx="2651760" cy="274320"/>
          </a:xfrm>
          <a:prstGeom prst="rect">
            <a:avLst/>
          </a:prstGeom>
          <a:noFill/>
          <a:ln/>
        </p:spPr>
        <p:txBody>
          <a:bodyPr wrap="square" rtlCol="0" anchor="ctr"/>
          <a:lstStyle/>
          <a:p>
            <a:pPr marL="0" indent="0">
              <a:buNone/>
            </a:pPr>
            <a:r>
              <a:rPr lang="en-US" sz="1400" b="1" dirty="0">
                <a:solidFill>
                  <a:srgbClr val="0081C8"/>
                </a:solidFill>
                <a:latin typeface="Calibri" pitchFamily="34" charset="0"/>
                <a:ea typeface="Calibri" pitchFamily="34" charset="-122"/>
                <a:cs typeface="Calibri" pitchFamily="34" charset="-120"/>
              </a:rPr>
              <a:t>155,861 rows</a:t>
            </a:r>
            <a:endParaRPr lang="en-US" sz="1400" dirty="0"/>
          </a:p>
        </p:txBody>
      </p:sp>
      <p:sp>
        <p:nvSpPr>
          <p:cNvPr id="15" name="Text 12"/>
          <p:cNvSpPr/>
          <p:nvPr/>
        </p:nvSpPr>
        <p:spPr>
          <a:xfrm>
            <a:off x="777240" y="2697480"/>
            <a:ext cx="3154680" cy="731520"/>
          </a:xfrm>
          <a:prstGeom prst="rect">
            <a:avLst/>
          </a:prstGeom>
          <a:noFill/>
          <a:ln/>
        </p:spPr>
        <p:txBody>
          <a:bodyPr wrap="square" rtlCol="0" anchor="ctr"/>
          <a:lstStyle/>
          <a:p>
            <a:pPr marL="0" indent="0">
              <a:lnSpc>
                <a:spcPct val="115000"/>
              </a:lnSpc>
              <a:buNone/>
            </a:pPr>
            <a:r>
              <a:rPr lang="en-US" sz="1400" dirty="0">
                <a:solidFill>
                  <a:schemeClr val="bg1"/>
                </a:solidFill>
                <a:latin typeface="Calibri" pitchFamily="34" charset="0"/>
                <a:ea typeface="Calibri" pitchFamily="34" charset="-122"/>
                <a:cs typeface="Calibri" pitchFamily="34" charset="-120"/>
              </a:rPr>
              <a:t>Name, sex, birth date, height, weight, nationality</a:t>
            </a:r>
            <a:endParaRPr lang="en-US" sz="1400" dirty="0">
              <a:solidFill>
                <a:schemeClr val="bg1"/>
              </a:solidFill>
            </a:endParaRPr>
          </a:p>
        </p:txBody>
      </p:sp>
      <p:sp>
        <p:nvSpPr>
          <p:cNvPr id="16" name="Shape 13"/>
          <p:cNvSpPr/>
          <p:nvPr/>
        </p:nvSpPr>
        <p:spPr>
          <a:xfrm>
            <a:off x="4389120" y="1828800"/>
            <a:ext cx="3611880" cy="1691640"/>
          </a:xfrm>
          <a:prstGeom prst="roundRect">
            <a:avLst>
              <a:gd name="adj" fmla="val 4324"/>
            </a:avLst>
          </a:prstGeom>
          <a:solidFill>
            <a:srgbClr val="0B1E39"/>
          </a:solidFill>
          <a:ln/>
        </p:spPr>
      </p:sp>
      <p:sp>
        <p:nvSpPr>
          <p:cNvPr id="17" name="Shape 14"/>
          <p:cNvSpPr/>
          <p:nvPr/>
        </p:nvSpPr>
        <p:spPr>
          <a:xfrm>
            <a:off x="4617720" y="2029968"/>
            <a:ext cx="475488" cy="475488"/>
          </a:xfrm>
          <a:prstGeom prst="ellipse">
            <a:avLst/>
          </a:prstGeom>
          <a:solidFill>
            <a:srgbClr val="FCB131"/>
          </a:solidFill>
          <a:ln/>
        </p:spPr>
      </p:sp>
      <p:pic>
        <p:nvPicPr>
          <p:cNvPr id="18" name="Image 1" descr="/home/claude/ppt/icons/file_FFFFFF.png"/>
          <p:cNvPicPr>
            <a:picLocks noChangeAspect="1"/>
          </p:cNvPicPr>
          <p:nvPr/>
        </p:nvPicPr>
        <p:blipFill>
          <a:blip r:embed="rId3"/>
          <a:stretch>
            <a:fillRect/>
          </a:stretch>
        </p:blipFill>
        <p:spPr>
          <a:xfrm>
            <a:off x="4724705" y="2136953"/>
            <a:ext cx="261518" cy="261518"/>
          </a:xfrm>
          <a:prstGeom prst="rect">
            <a:avLst/>
          </a:prstGeom>
        </p:spPr>
      </p:pic>
      <p:sp>
        <p:nvSpPr>
          <p:cNvPr id="19" name="Text 15"/>
          <p:cNvSpPr/>
          <p:nvPr/>
        </p:nvSpPr>
        <p:spPr>
          <a:xfrm>
            <a:off x="5230368" y="2011680"/>
            <a:ext cx="2651760" cy="365760"/>
          </a:xfrm>
          <a:prstGeom prst="rect">
            <a:avLst/>
          </a:prstGeom>
          <a:noFill/>
          <a:ln/>
        </p:spPr>
        <p:txBody>
          <a:bodyPr wrap="square" rtlCol="0" anchor="ctr"/>
          <a:lstStyle/>
          <a:p>
            <a:pPr marL="0" indent="0">
              <a:buNone/>
            </a:pPr>
            <a:r>
              <a:rPr lang="en-US" sz="1400" b="1" dirty="0">
                <a:solidFill>
                  <a:srgbClr val="FFFFFF"/>
                </a:solidFill>
                <a:latin typeface="Bookman Old Style" pitchFamily="34" charset="0"/>
                <a:ea typeface="Bookman Old Style" pitchFamily="34" charset="-122"/>
                <a:cs typeface="Bookman Old Style" pitchFamily="34" charset="-120"/>
              </a:rPr>
              <a:t>Event Results</a:t>
            </a:r>
            <a:endParaRPr lang="en-US" sz="1400" dirty="0"/>
          </a:p>
        </p:txBody>
      </p:sp>
      <p:sp>
        <p:nvSpPr>
          <p:cNvPr id="20" name="Text 16"/>
          <p:cNvSpPr/>
          <p:nvPr/>
        </p:nvSpPr>
        <p:spPr>
          <a:xfrm>
            <a:off x="5230368" y="2331720"/>
            <a:ext cx="2651760" cy="274320"/>
          </a:xfrm>
          <a:prstGeom prst="rect">
            <a:avLst/>
          </a:prstGeom>
          <a:noFill/>
          <a:ln/>
        </p:spPr>
        <p:txBody>
          <a:bodyPr wrap="square" rtlCol="0" anchor="ctr"/>
          <a:lstStyle/>
          <a:p>
            <a:pPr marL="0" indent="0">
              <a:buNone/>
            </a:pPr>
            <a:r>
              <a:rPr lang="en-US" sz="1400" b="1" dirty="0">
                <a:solidFill>
                  <a:srgbClr val="FCB131"/>
                </a:solidFill>
                <a:latin typeface="Calibri" pitchFamily="34" charset="0"/>
                <a:ea typeface="Calibri" pitchFamily="34" charset="-122"/>
                <a:cs typeface="Calibri" pitchFamily="34" charset="-120"/>
              </a:rPr>
              <a:t>316,834 rows</a:t>
            </a:r>
            <a:endParaRPr lang="en-US" sz="1400" dirty="0"/>
          </a:p>
        </p:txBody>
      </p:sp>
      <p:sp>
        <p:nvSpPr>
          <p:cNvPr id="21" name="Text 17"/>
          <p:cNvSpPr/>
          <p:nvPr/>
        </p:nvSpPr>
        <p:spPr>
          <a:xfrm>
            <a:off x="4617720" y="2697480"/>
            <a:ext cx="3154680" cy="731520"/>
          </a:xfrm>
          <a:prstGeom prst="rect">
            <a:avLst/>
          </a:prstGeom>
          <a:noFill/>
          <a:ln/>
        </p:spPr>
        <p:txBody>
          <a:bodyPr wrap="square" rtlCol="0" anchor="ctr"/>
          <a:lstStyle/>
          <a:p>
            <a:pPr marL="0" indent="0">
              <a:lnSpc>
                <a:spcPct val="115000"/>
              </a:lnSpc>
              <a:buNone/>
            </a:pPr>
            <a:r>
              <a:rPr lang="en-US" sz="1400" dirty="0">
                <a:solidFill>
                  <a:schemeClr val="bg1"/>
                </a:solidFill>
                <a:latin typeface="Calibri" pitchFamily="34" charset="0"/>
                <a:ea typeface="Calibri" pitchFamily="34" charset="-122"/>
                <a:cs typeface="Calibri" pitchFamily="34" charset="-120"/>
              </a:rPr>
              <a:t>Every athlete's placement &amp; medal, per event, per edition</a:t>
            </a:r>
            <a:endParaRPr lang="en-US" sz="1400" dirty="0">
              <a:solidFill>
                <a:schemeClr val="bg1"/>
              </a:solidFill>
            </a:endParaRPr>
          </a:p>
        </p:txBody>
      </p:sp>
      <p:sp>
        <p:nvSpPr>
          <p:cNvPr id="22" name="Shape 18"/>
          <p:cNvSpPr/>
          <p:nvPr/>
        </p:nvSpPr>
        <p:spPr>
          <a:xfrm>
            <a:off x="8229600" y="1828800"/>
            <a:ext cx="3611880" cy="1691640"/>
          </a:xfrm>
          <a:prstGeom prst="roundRect">
            <a:avLst>
              <a:gd name="adj" fmla="val 4324"/>
            </a:avLst>
          </a:prstGeom>
          <a:solidFill>
            <a:srgbClr val="0B1E39"/>
          </a:solidFill>
          <a:ln/>
        </p:spPr>
      </p:sp>
      <p:sp>
        <p:nvSpPr>
          <p:cNvPr id="23" name="Shape 19"/>
          <p:cNvSpPr/>
          <p:nvPr/>
        </p:nvSpPr>
        <p:spPr>
          <a:xfrm>
            <a:off x="8458200" y="2029968"/>
            <a:ext cx="475488" cy="475488"/>
          </a:xfrm>
          <a:prstGeom prst="ellipse">
            <a:avLst/>
          </a:prstGeom>
          <a:solidFill>
            <a:srgbClr val="00A651"/>
          </a:solidFill>
          <a:ln/>
        </p:spPr>
      </p:sp>
      <p:pic>
        <p:nvPicPr>
          <p:cNvPr id="24" name="Image 2" descr="/home/claude/ppt/icons/file_FFFFFF.png"/>
          <p:cNvPicPr>
            <a:picLocks noChangeAspect="1"/>
          </p:cNvPicPr>
          <p:nvPr/>
        </p:nvPicPr>
        <p:blipFill>
          <a:blip r:embed="rId3"/>
          <a:stretch>
            <a:fillRect/>
          </a:stretch>
        </p:blipFill>
        <p:spPr>
          <a:xfrm>
            <a:off x="8565185" y="2136953"/>
            <a:ext cx="261518" cy="261518"/>
          </a:xfrm>
          <a:prstGeom prst="rect">
            <a:avLst/>
          </a:prstGeom>
        </p:spPr>
      </p:pic>
      <p:sp>
        <p:nvSpPr>
          <p:cNvPr id="25" name="Text 20"/>
          <p:cNvSpPr/>
          <p:nvPr/>
        </p:nvSpPr>
        <p:spPr>
          <a:xfrm>
            <a:off x="9070848" y="2011680"/>
            <a:ext cx="2651760" cy="365760"/>
          </a:xfrm>
          <a:prstGeom prst="rect">
            <a:avLst/>
          </a:prstGeom>
          <a:noFill/>
          <a:ln/>
        </p:spPr>
        <p:txBody>
          <a:bodyPr wrap="square" rtlCol="0" anchor="ctr"/>
          <a:lstStyle/>
          <a:p>
            <a:pPr marL="0" indent="0">
              <a:buNone/>
            </a:pPr>
            <a:r>
              <a:rPr lang="en-US" sz="1400" b="1" dirty="0">
                <a:solidFill>
                  <a:srgbClr val="FFFFFF"/>
                </a:solidFill>
                <a:latin typeface="Bookman Old Style" pitchFamily="34" charset="0"/>
                <a:ea typeface="Bookman Old Style" pitchFamily="34" charset="-122"/>
                <a:cs typeface="Bookman Old Style" pitchFamily="34" charset="-120"/>
              </a:rPr>
              <a:t>Medal Tally</a:t>
            </a:r>
            <a:endParaRPr lang="en-US" sz="1400" dirty="0"/>
          </a:p>
        </p:txBody>
      </p:sp>
      <p:sp>
        <p:nvSpPr>
          <p:cNvPr id="26" name="Text 21"/>
          <p:cNvSpPr/>
          <p:nvPr/>
        </p:nvSpPr>
        <p:spPr>
          <a:xfrm>
            <a:off x="9070848" y="2331720"/>
            <a:ext cx="2651760" cy="274320"/>
          </a:xfrm>
          <a:prstGeom prst="rect">
            <a:avLst/>
          </a:prstGeom>
          <a:noFill/>
          <a:ln/>
        </p:spPr>
        <p:txBody>
          <a:bodyPr wrap="square" rtlCol="0" anchor="ctr"/>
          <a:lstStyle/>
          <a:p>
            <a:pPr marL="0" indent="0">
              <a:buNone/>
            </a:pPr>
            <a:r>
              <a:rPr lang="en-US" sz="1400" b="1" dirty="0">
                <a:solidFill>
                  <a:srgbClr val="00A651"/>
                </a:solidFill>
                <a:latin typeface="Calibri" pitchFamily="34" charset="0"/>
                <a:ea typeface="Calibri" pitchFamily="34" charset="-122"/>
                <a:cs typeface="Calibri" pitchFamily="34" charset="-120"/>
              </a:rPr>
              <a:t>1,807 rows</a:t>
            </a:r>
            <a:endParaRPr lang="en-US" sz="1400" dirty="0"/>
          </a:p>
        </p:txBody>
      </p:sp>
      <p:sp>
        <p:nvSpPr>
          <p:cNvPr id="27" name="Text 22"/>
          <p:cNvSpPr/>
          <p:nvPr/>
        </p:nvSpPr>
        <p:spPr>
          <a:xfrm>
            <a:off x="8458200" y="2697480"/>
            <a:ext cx="3154680" cy="731520"/>
          </a:xfrm>
          <a:prstGeom prst="rect">
            <a:avLst/>
          </a:prstGeom>
          <a:noFill/>
          <a:ln/>
        </p:spPr>
        <p:txBody>
          <a:bodyPr wrap="square" rtlCol="0" anchor="ctr"/>
          <a:lstStyle/>
          <a:p>
            <a:pPr marL="0" indent="0">
              <a:lnSpc>
                <a:spcPct val="115000"/>
              </a:lnSpc>
              <a:buNone/>
            </a:pPr>
            <a:r>
              <a:rPr lang="en-US" sz="1400" dirty="0">
                <a:solidFill>
                  <a:schemeClr val="bg1"/>
                </a:solidFill>
                <a:latin typeface="Calibri" pitchFamily="34" charset="0"/>
                <a:ea typeface="Calibri" pitchFamily="34" charset="-122"/>
                <a:cs typeface="Calibri" pitchFamily="34" charset="-120"/>
              </a:rPr>
              <a:t>Official Gold / Silver / Bronze counts by country &amp; edition</a:t>
            </a:r>
            <a:endParaRPr lang="en-US" sz="1400" dirty="0">
              <a:solidFill>
                <a:schemeClr val="bg1"/>
              </a:solidFill>
            </a:endParaRPr>
          </a:p>
        </p:txBody>
      </p:sp>
      <p:sp>
        <p:nvSpPr>
          <p:cNvPr id="28" name="Shape 23"/>
          <p:cNvSpPr/>
          <p:nvPr/>
        </p:nvSpPr>
        <p:spPr>
          <a:xfrm>
            <a:off x="548640" y="3822192"/>
            <a:ext cx="3611880" cy="1691640"/>
          </a:xfrm>
          <a:prstGeom prst="roundRect">
            <a:avLst>
              <a:gd name="adj" fmla="val 4324"/>
            </a:avLst>
          </a:prstGeom>
          <a:solidFill>
            <a:srgbClr val="0B1E39"/>
          </a:solidFill>
          <a:ln/>
        </p:spPr>
      </p:sp>
      <p:sp>
        <p:nvSpPr>
          <p:cNvPr id="29" name="Shape 24"/>
          <p:cNvSpPr/>
          <p:nvPr/>
        </p:nvSpPr>
        <p:spPr>
          <a:xfrm>
            <a:off x="777240" y="3922776"/>
            <a:ext cx="475488" cy="475488"/>
          </a:xfrm>
          <a:prstGeom prst="ellipse">
            <a:avLst/>
          </a:prstGeom>
          <a:solidFill>
            <a:srgbClr val="EE334E"/>
          </a:solidFill>
          <a:ln/>
        </p:spPr>
      </p:sp>
      <p:pic>
        <p:nvPicPr>
          <p:cNvPr id="30" name="Image 3" descr="/home/claude/ppt/icons/file_FFFFFF.png"/>
          <p:cNvPicPr>
            <a:picLocks noChangeAspect="1"/>
          </p:cNvPicPr>
          <p:nvPr/>
        </p:nvPicPr>
        <p:blipFill>
          <a:blip r:embed="rId3"/>
          <a:stretch>
            <a:fillRect/>
          </a:stretch>
        </p:blipFill>
        <p:spPr>
          <a:xfrm>
            <a:off x="884225" y="4029761"/>
            <a:ext cx="261518" cy="261518"/>
          </a:xfrm>
          <a:prstGeom prst="rect">
            <a:avLst/>
          </a:prstGeom>
        </p:spPr>
      </p:pic>
      <p:sp>
        <p:nvSpPr>
          <p:cNvPr id="31" name="Text 25"/>
          <p:cNvSpPr/>
          <p:nvPr/>
        </p:nvSpPr>
        <p:spPr>
          <a:xfrm>
            <a:off x="1389888" y="3904488"/>
            <a:ext cx="2651760" cy="365760"/>
          </a:xfrm>
          <a:prstGeom prst="rect">
            <a:avLst/>
          </a:prstGeom>
          <a:noFill/>
          <a:ln/>
        </p:spPr>
        <p:txBody>
          <a:bodyPr wrap="square" rtlCol="0" anchor="ctr"/>
          <a:lstStyle/>
          <a:p>
            <a:pPr marL="0" indent="0">
              <a:buNone/>
            </a:pPr>
            <a:r>
              <a:rPr lang="en-US" sz="1400" b="1" dirty="0">
                <a:solidFill>
                  <a:srgbClr val="FFFFFF"/>
                </a:solidFill>
                <a:latin typeface="Bookman Old Style" pitchFamily="34" charset="0"/>
                <a:ea typeface="Bookman Old Style" pitchFamily="34" charset="-122"/>
                <a:cs typeface="Bookman Old Style" pitchFamily="34" charset="-120"/>
              </a:rPr>
              <a:t>Results Detail</a:t>
            </a:r>
            <a:endParaRPr lang="en-US" sz="1400" dirty="0"/>
          </a:p>
        </p:txBody>
      </p:sp>
      <p:sp>
        <p:nvSpPr>
          <p:cNvPr id="32" name="Text 26"/>
          <p:cNvSpPr/>
          <p:nvPr/>
        </p:nvSpPr>
        <p:spPr>
          <a:xfrm>
            <a:off x="1389888" y="4224528"/>
            <a:ext cx="2651760" cy="274320"/>
          </a:xfrm>
          <a:prstGeom prst="rect">
            <a:avLst/>
          </a:prstGeom>
          <a:noFill/>
          <a:ln/>
        </p:spPr>
        <p:txBody>
          <a:bodyPr wrap="square" rtlCol="0" anchor="ctr"/>
          <a:lstStyle/>
          <a:p>
            <a:pPr marL="0" indent="0">
              <a:buNone/>
            </a:pPr>
            <a:r>
              <a:rPr lang="en-US" sz="1400" b="1" dirty="0">
                <a:solidFill>
                  <a:srgbClr val="EE334E"/>
                </a:solidFill>
                <a:latin typeface="Calibri" pitchFamily="34" charset="0"/>
                <a:ea typeface="Calibri" pitchFamily="34" charset="-122"/>
                <a:cs typeface="Calibri" pitchFamily="34" charset="-120"/>
              </a:rPr>
              <a:t>7,394 rows</a:t>
            </a:r>
            <a:endParaRPr lang="en-US" sz="1400" dirty="0"/>
          </a:p>
        </p:txBody>
      </p:sp>
      <p:sp>
        <p:nvSpPr>
          <p:cNvPr id="33" name="Text 27"/>
          <p:cNvSpPr/>
          <p:nvPr/>
        </p:nvSpPr>
        <p:spPr>
          <a:xfrm>
            <a:off x="777240" y="4590288"/>
            <a:ext cx="3154680" cy="731520"/>
          </a:xfrm>
          <a:prstGeom prst="rect">
            <a:avLst/>
          </a:prstGeom>
          <a:noFill/>
          <a:ln/>
        </p:spPr>
        <p:txBody>
          <a:bodyPr wrap="square" rtlCol="0" anchor="ctr"/>
          <a:lstStyle/>
          <a:p>
            <a:pPr marL="0" indent="0">
              <a:lnSpc>
                <a:spcPct val="115000"/>
              </a:lnSpc>
              <a:buNone/>
            </a:pPr>
            <a:r>
              <a:rPr lang="en-US" sz="1400" dirty="0">
                <a:solidFill>
                  <a:schemeClr val="bg1"/>
                </a:solidFill>
                <a:latin typeface="Calibri" pitchFamily="34" charset="0"/>
                <a:ea typeface="Calibri" pitchFamily="34" charset="-122"/>
                <a:cs typeface="Calibri" pitchFamily="34" charset="-120"/>
              </a:rPr>
              <a:t>Event context: dates, venues, participant counts</a:t>
            </a:r>
            <a:endParaRPr lang="en-US" sz="1400" dirty="0">
              <a:solidFill>
                <a:schemeClr val="bg1"/>
              </a:solidFill>
            </a:endParaRPr>
          </a:p>
        </p:txBody>
      </p:sp>
      <p:sp>
        <p:nvSpPr>
          <p:cNvPr id="34" name="Shape 28"/>
          <p:cNvSpPr/>
          <p:nvPr/>
        </p:nvSpPr>
        <p:spPr>
          <a:xfrm>
            <a:off x="4389120" y="3721608"/>
            <a:ext cx="3611880" cy="1691640"/>
          </a:xfrm>
          <a:prstGeom prst="roundRect">
            <a:avLst>
              <a:gd name="adj" fmla="val 4324"/>
            </a:avLst>
          </a:prstGeom>
          <a:solidFill>
            <a:srgbClr val="0B1E39"/>
          </a:solidFill>
          <a:ln/>
        </p:spPr>
      </p:sp>
      <p:sp>
        <p:nvSpPr>
          <p:cNvPr id="35" name="Shape 29"/>
          <p:cNvSpPr/>
          <p:nvPr/>
        </p:nvSpPr>
        <p:spPr>
          <a:xfrm>
            <a:off x="4617720" y="3922776"/>
            <a:ext cx="475488" cy="475488"/>
          </a:xfrm>
          <a:prstGeom prst="ellipse">
            <a:avLst/>
          </a:prstGeom>
          <a:solidFill>
            <a:srgbClr val="0081C8"/>
          </a:solidFill>
          <a:ln/>
        </p:spPr>
      </p:sp>
      <p:pic>
        <p:nvPicPr>
          <p:cNvPr id="36" name="Image 4" descr="/home/claude/ppt/icons/file_FFFFFF.png"/>
          <p:cNvPicPr>
            <a:picLocks noChangeAspect="1"/>
          </p:cNvPicPr>
          <p:nvPr/>
        </p:nvPicPr>
        <p:blipFill>
          <a:blip r:embed="rId3"/>
          <a:stretch>
            <a:fillRect/>
          </a:stretch>
        </p:blipFill>
        <p:spPr>
          <a:xfrm>
            <a:off x="4724705" y="4029761"/>
            <a:ext cx="261518" cy="261518"/>
          </a:xfrm>
          <a:prstGeom prst="rect">
            <a:avLst/>
          </a:prstGeom>
        </p:spPr>
      </p:pic>
      <p:sp>
        <p:nvSpPr>
          <p:cNvPr id="37" name="Text 30"/>
          <p:cNvSpPr/>
          <p:nvPr/>
        </p:nvSpPr>
        <p:spPr>
          <a:xfrm>
            <a:off x="5230368" y="3904488"/>
            <a:ext cx="2651760" cy="365760"/>
          </a:xfrm>
          <a:prstGeom prst="rect">
            <a:avLst/>
          </a:prstGeom>
          <a:noFill/>
          <a:ln/>
        </p:spPr>
        <p:txBody>
          <a:bodyPr wrap="square" rtlCol="0" anchor="ctr"/>
          <a:lstStyle/>
          <a:p>
            <a:pPr marL="0" indent="0">
              <a:buNone/>
            </a:pPr>
            <a:r>
              <a:rPr lang="en-US" sz="1400" b="1" dirty="0">
                <a:solidFill>
                  <a:srgbClr val="FFFFFF"/>
                </a:solidFill>
                <a:latin typeface="Bookman Old Style" pitchFamily="34" charset="0"/>
                <a:ea typeface="Bookman Old Style" pitchFamily="34" charset="-122"/>
                <a:cs typeface="Bookman Old Style" pitchFamily="34" charset="-120"/>
              </a:rPr>
              <a:t>Country Reference</a:t>
            </a:r>
            <a:endParaRPr lang="en-US" sz="1400" dirty="0"/>
          </a:p>
        </p:txBody>
      </p:sp>
      <p:sp>
        <p:nvSpPr>
          <p:cNvPr id="38" name="Text 31"/>
          <p:cNvSpPr/>
          <p:nvPr/>
        </p:nvSpPr>
        <p:spPr>
          <a:xfrm>
            <a:off x="5230368" y="4224528"/>
            <a:ext cx="2651760" cy="274320"/>
          </a:xfrm>
          <a:prstGeom prst="rect">
            <a:avLst/>
          </a:prstGeom>
          <a:noFill/>
          <a:ln/>
        </p:spPr>
        <p:txBody>
          <a:bodyPr wrap="square" rtlCol="0" anchor="ctr"/>
          <a:lstStyle/>
          <a:p>
            <a:pPr marL="0" indent="0">
              <a:buNone/>
            </a:pPr>
            <a:r>
              <a:rPr lang="en-US" sz="1400" b="1" dirty="0">
                <a:solidFill>
                  <a:srgbClr val="0081C8"/>
                </a:solidFill>
                <a:latin typeface="Calibri" pitchFamily="34" charset="0"/>
                <a:ea typeface="Calibri" pitchFamily="34" charset="-122"/>
                <a:cs typeface="Calibri" pitchFamily="34" charset="-120"/>
              </a:rPr>
              <a:t>234 rows</a:t>
            </a:r>
            <a:endParaRPr lang="en-US" sz="1400" dirty="0"/>
          </a:p>
        </p:txBody>
      </p:sp>
      <p:sp>
        <p:nvSpPr>
          <p:cNvPr id="39" name="Text 32"/>
          <p:cNvSpPr/>
          <p:nvPr/>
        </p:nvSpPr>
        <p:spPr>
          <a:xfrm>
            <a:off x="4617720" y="4590288"/>
            <a:ext cx="3154680" cy="731520"/>
          </a:xfrm>
          <a:prstGeom prst="rect">
            <a:avLst/>
          </a:prstGeom>
          <a:noFill/>
          <a:ln/>
        </p:spPr>
        <p:txBody>
          <a:bodyPr wrap="square" rtlCol="0" anchor="ctr"/>
          <a:lstStyle/>
          <a:p>
            <a:pPr marL="0" indent="0">
              <a:lnSpc>
                <a:spcPct val="115000"/>
              </a:lnSpc>
              <a:buNone/>
            </a:pPr>
            <a:r>
              <a:rPr lang="en-US" sz="1400" dirty="0">
                <a:solidFill>
                  <a:schemeClr val="bg1"/>
                </a:solidFill>
                <a:latin typeface="Calibri" pitchFamily="34" charset="0"/>
                <a:ea typeface="Calibri" pitchFamily="34" charset="-122"/>
                <a:cs typeface="Calibri" pitchFamily="34" charset="-120"/>
              </a:rPr>
              <a:t>NOC code to country name mapping</a:t>
            </a:r>
            <a:endParaRPr lang="en-US" sz="1400" dirty="0">
              <a:solidFill>
                <a:schemeClr val="bg1"/>
              </a:solidFill>
            </a:endParaRPr>
          </a:p>
        </p:txBody>
      </p:sp>
      <p:sp>
        <p:nvSpPr>
          <p:cNvPr id="40" name="Shape 33"/>
          <p:cNvSpPr/>
          <p:nvPr/>
        </p:nvSpPr>
        <p:spPr>
          <a:xfrm>
            <a:off x="8229600" y="3721608"/>
            <a:ext cx="3611880" cy="1691640"/>
          </a:xfrm>
          <a:prstGeom prst="roundRect">
            <a:avLst>
              <a:gd name="adj" fmla="val 4324"/>
            </a:avLst>
          </a:prstGeom>
          <a:solidFill>
            <a:srgbClr val="0B1E39"/>
          </a:solidFill>
          <a:ln/>
        </p:spPr>
      </p:sp>
      <p:sp>
        <p:nvSpPr>
          <p:cNvPr id="41" name="Shape 34"/>
          <p:cNvSpPr/>
          <p:nvPr/>
        </p:nvSpPr>
        <p:spPr>
          <a:xfrm>
            <a:off x="8458200" y="3922776"/>
            <a:ext cx="475488" cy="475488"/>
          </a:xfrm>
          <a:prstGeom prst="ellipse">
            <a:avLst/>
          </a:prstGeom>
          <a:solidFill>
            <a:srgbClr val="FCB131"/>
          </a:solidFill>
          <a:ln/>
        </p:spPr>
      </p:sp>
      <p:pic>
        <p:nvPicPr>
          <p:cNvPr id="42" name="Image 5" descr="/home/claude/ppt/icons/file_FFFFFF.png"/>
          <p:cNvPicPr>
            <a:picLocks noChangeAspect="1"/>
          </p:cNvPicPr>
          <p:nvPr/>
        </p:nvPicPr>
        <p:blipFill>
          <a:blip r:embed="rId3"/>
          <a:stretch>
            <a:fillRect/>
          </a:stretch>
        </p:blipFill>
        <p:spPr>
          <a:xfrm>
            <a:off x="8565185" y="4029761"/>
            <a:ext cx="261518" cy="261518"/>
          </a:xfrm>
          <a:prstGeom prst="rect">
            <a:avLst/>
          </a:prstGeom>
        </p:spPr>
      </p:pic>
      <p:sp>
        <p:nvSpPr>
          <p:cNvPr id="43" name="Text 35"/>
          <p:cNvSpPr/>
          <p:nvPr/>
        </p:nvSpPr>
        <p:spPr>
          <a:xfrm>
            <a:off x="9070848" y="3904488"/>
            <a:ext cx="2651760" cy="365760"/>
          </a:xfrm>
          <a:prstGeom prst="rect">
            <a:avLst/>
          </a:prstGeom>
          <a:noFill/>
          <a:ln/>
        </p:spPr>
        <p:txBody>
          <a:bodyPr wrap="square" rtlCol="0" anchor="ctr"/>
          <a:lstStyle/>
          <a:p>
            <a:pPr marL="0" indent="0">
              <a:buNone/>
            </a:pPr>
            <a:r>
              <a:rPr lang="en-US" sz="1400" b="1" dirty="0">
                <a:solidFill>
                  <a:srgbClr val="FFFFFF"/>
                </a:solidFill>
                <a:latin typeface="Bookman Old Style" pitchFamily="34" charset="0"/>
                <a:ea typeface="Bookman Old Style" pitchFamily="34" charset="-122"/>
                <a:cs typeface="Bookman Old Style" pitchFamily="34" charset="-120"/>
              </a:rPr>
              <a:t>Games Reference</a:t>
            </a:r>
            <a:endParaRPr lang="en-US" sz="1400" dirty="0"/>
          </a:p>
        </p:txBody>
      </p:sp>
      <p:sp>
        <p:nvSpPr>
          <p:cNvPr id="44" name="Text 36"/>
          <p:cNvSpPr/>
          <p:nvPr/>
        </p:nvSpPr>
        <p:spPr>
          <a:xfrm>
            <a:off x="9070848" y="4224528"/>
            <a:ext cx="2651760" cy="274320"/>
          </a:xfrm>
          <a:prstGeom prst="rect">
            <a:avLst/>
          </a:prstGeom>
          <a:noFill/>
          <a:ln/>
        </p:spPr>
        <p:txBody>
          <a:bodyPr wrap="square" rtlCol="0" anchor="ctr"/>
          <a:lstStyle/>
          <a:p>
            <a:pPr marL="0" indent="0">
              <a:buNone/>
            </a:pPr>
            <a:r>
              <a:rPr lang="en-US" sz="1400" b="1" dirty="0">
                <a:solidFill>
                  <a:srgbClr val="FCB131"/>
                </a:solidFill>
                <a:latin typeface="Calibri" pitchFamily="34" charset="0"/>
                <a:ea typeface="Calibri" pitchFamily="34" charset="-122"/>
                <a:cs typeface="Calibri" pitchFamily="34" charset="-120"/>
              </a:rPr>
              <a:t>64 rows</a:t>
            </a:r>
            <a:endParaRPr lang="en-US" sz="1400" dirty="0"/>
          </a:p>
        </p:txBody>
      </p:sp>
      <p:sp>
        <p:nvSpPr>
          <p:cNvPr id="45" name="Text 37"/>
          <p:cNvSpPr/>
          <p:nvPr/>
        </p:nvSpPr>
        <p:spPr>
          <a:xfrm>
            <a:off x="8458200" y="4590288"/>
            <a:ext cx="3154680" cy="731520"/>
          </a:xfrm>
          <a:prstGeom prst="rect">
            <a:avLst/>
          </a:prstGeom>
          <a:noFill/>
          <a:ln/>
        </p:spPr>
        <p:txBody>
          <a:bodyPr wrap="square" rtlCol="0" anchor="ctr"/>
          <a:lstStyle/>
          <a:p>
            <a:pPr marL="0" indent="0">
              <a:lnSpc>
                <a:spcPct val="115000"/>
              </a:lnSpc>
              <a:buNone/>
            </a:pPr>
            <a:r>
              <a:rPr lang="en-US" sz="1400" dirty="0">
                <a:solidFill>
                  <a:schemeClr val="bg1"/>
                </a:solidFill>
                <a:latin typeface="Calibri" pitchFamily="34" charset="0"/>
                <a:ea typeface="Calibri" pitchFamily="34" charset="-122"/>
                <a:cs typeface="Calibri" pitchFamily="34" charset="-120"/>
              </a:rPr>
              <a:t>Edition, year, host city, season, host nation</a:t>
            </a:r>
            <a:endParaRPr lang="en-US" sz="1400" dirty="0">
              <a:solidFill>
                <a:schemeClr val="bg1"/>
              </a:solidFill>
            </a:endParaRPr>
          </a:p>
        </p:txBody>
      </p:sp>
      <p:sp>
        <p:nvSpPr>
          <p:cNvPr id="46" name="Text 38"/>
          <p:cNvSpPr/>
          <p:nvPr/>
        </p:nvSpPr>
        <p:spPr>
          <a:xfrm>
            <a:off x="457200" y="6537960"/>
            <a:ext cx="7315200" cy="274320"/>
          </a:xfrm>
          <a:prstGeom prst="rect">
            <a:avLst/>
          </a:prstGeom>
          <a:noFill/>
          <a:ln/>
        </p:spPr>
        <p:txBody>
          <a:bodyPr wrap="square" rtlCol="0" anchor="ctr"/>
          <a:lstStyle/>
          <a:p>
            <a:pPr marL="0" indent="0">
              <a:buNone/>
            </a:pPr>
            <a:r>
              <a:rPr lang="en-US" sz="900" kern="0" spc="100" dirty="0">
                <a:solidFill>
                  <a:srgbClr val="9AA6B8"/>
                </a:solidFill>
                <a:latin typeface="Calibri" pitchFamily="34" charset="0"/>
                <a:ea typeface="Calibri" pitchFamily="34" charset="-122"/>
                <a:cs typeface="Calibri" pitchFamily="34" charset="-120"/>
              </a:rPr>
              <a:t>OLYMPIC INSIGHTS  |  POWER BI ANALYTICS PROJECT</a:t>
            </a:r>
            <a:endParaRPr lang="en-US" sz="900" dirty="0"/>
          </a:p>
        </p:txBody>
      </p:sp>
      <p:sp>
        <p:nvSpPr>
          <p:cNvPr id="47" name="Text 39"/>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E39"/>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marL="0" indent="0">
              <a:buNone/>
            </a:pPr>
            <a:r>
              <a:rPr lang="en-US" sz="1250" b="1" kern="0" spc="200" dirty="0">
                <a:solidFill>
                  <a:srgbClr val="FCB131"/>
                </a:solidFill>
                <a:latin typeface="Calibri" pitchFamily="34" charset="0"/>
                <a:ea typeface="Calibri" pitchFamily="34" charset="-122"/>
                <a:cs typeface="Calibri" pitchFamily="34" charset="-120"/>
              </a:rPr>
              <a:t>HOW IT WAS BUILT</a:t>
            </a:r>
            <a:endParaRPr lang="en-US" sz="1250" dirty="0"/>
          </a:p>
        </p:txBody>
      </p:sp>
      <p:sp>
        <p:nvSpPr>
          <p:cNvPr id="3" name="Text 1"/>
          <p:cNvSpPr/>
          <p:nvPr/>
        </p:nvSpPr>
        <p:spPr>
          <a:xfrm>
            <a:off x="548640" y="694944"/>
            <a:ext cx="9601200" cy="594360"/>
          </a:xfrm>
          <a:prstGeom prst="rect">
            <a:avLst/>
          </a:prstGeom>
          <a:noFill/>
          <a:ln/>
        </p:spPr>
        <p:txBody>
          <a:bodyPr wrap="square" rtlCol="0" anchor="ctr"/>
          <a:lstStyle/>
          <a:p>
            <a:pPr marL="0" indent="0">
              <a:buNone/>
            </a:pPr>
            <a:r>
              <a:rPr lang="en-US" sz="2700" b="1" dirty="0">
                <a:solidFill>
                  <a:srgbClr val="FFFFFF"/>
                </a:solidFill>
                <a:latin typeface="Bookman Old Style" pitchFamily="34" charset="0"/>
                <a:ea typeface="Bookman Old Style" pitchFamily="34" charset="-122"/>
                <a:cs typeface="Bookman Old Style" pitchFamily="34" charset="-120"/>
              </a:rPr>
              <a:t>Tools &amp; Technologies</a:t>
            </a:r>
            <a:endParaRPr lang="en-US" sz="2700" dirty="0"/>
          </a:p>
        </p:txBody>
      </p:sp>
      <p:sp>
        <p:nvSpPr>
          <p:cNvPr id="4" name="Shape 2"/>
          <p:cNvSpPr/>
          <p:nvPr/>
        </p:nvSpPr>
        <p:spPr>
          <a:xfrm>
            <a:off x="10561320" y="438912"/>
            <a:ext cx="292608" cy="292608"/>
          </a:xfrm>
          <a:prstGeom prst="ellipse">
            <a:avLst/>
          </a:prstGeom>
          <a:ln w="30480">
            <a:solidFill>
              <a:srgbClr val="0081C8"/>
            </a:solidFill>
            <a:prstDash val="solid"/>
          </a:ln>
        </p:spPr>
      </p:sp>
      <p:sp>
        <p:nvSpPr>
          <p:cNvPr id="5" name="Shape 3"/>
          <p:cNvSpPr/>
          <p:nvPr/>
        </p:nvSpPr>
        <p:spPr>
          <a:xfrm>
            <a:off x="10722254" y="438912"/>
            <a:ext cx="292608" cy="292608"/>
          </a:xfrm>
          <a:prstGeom prst="ellipse">
            <a:avLst/>
          </a:prstGeom>
          <a:ln w="30480">
            <a:solidFill>
              <a:srgbClr val="FCB131"/>
            </a:solidFill>
            <a:prstDash val="solid"/>
          </a:ln>
        </p:spPr>
      </p:sp>
      <p:sp>
        <p:nvSpPr>
          <p:cNvPr id="6" name="Shape 4"/>
          <p:cNvSpPr/>
          <p:nvPr/>
        </p:nvSpPr>
        <p:spPr>
          <a:xfrm>
            <a:off x="10883189" y="438912"/>
            <a:ext cx="292608" cy="292608"/>
          </a:xfrm>
          <a:prstGeom prst="ellipse">
            <a:avLst/>
          </a:prstGeom>
          <a:ln w="30480">
            <a:solidFill>
              <a:srgbClr val="1A1A1A"/>
            </a:solidFill>
            <a:prstDash val="solid"/>
          </a:ln>
        </p:spPr>
      </p:sp>
      <p:sp>
        <p:nvSpPr>
          <p:cNvPr id="7" name="Shape 5"/>
          <p:cNvSpPr/>
          <p:nvPr/>
        </p:nvSpPr>
        <p:spPr>
          <a:xfrm>
            <a:off x="11044123" y="438912"/>
            <a:ext cx="292608" cy="292608"/>
          </a:xfrm>
          <a:prstGeom prst="ellipse">
            <a:avLst/>
          </a:prstGeom>
          <a:ln w="30480">
            <a:solidFill>
              <a:srgbClr val="00A651"/>
            </a:solidFill>
            <a:prstDash val="solid"/>
          </a:ln>
        </p:spPr>
      </p:sp>
      <p:sp>
        <p:nvSpPr>
          <p:cNvPr id="8" name="Shape 6"/>
          <p:cNvSpPr/>
          <p:nvPr/>
        </p:nvSpPr>
        <p:spPr>
          <a:xfrm>
            <a:off x="11205058" y="438912"/>
            <a:ext cx="292608" cy="292608"/>
          </a:xfrm>
          <a:prstGeom prst="ellipse">
            <a:avLst/>
          </a:prstGeom>
          <a:ln w="30480">
            <a:solidFill>
              <a:srgbClr val="EE334E"/>
            </a:solidFill>
            <a:prstDash val="solid"/>
          </a:ln>
        </p:spPr>
      </p:sp>
      <p:sp>
        <p:nvSpPr>
          <p:cNvPr id="9" name="Shape 7"/>
          <p:cNvSpPr/>
          <p:nvPr/>
        </p:nvSpPr>
        <p:spPr>
          <a:xfrm>
            <a:off x="548640" y="2103120"/>
            <a:ext cx="2606040" cy="2926080"/>
          </a:xfrm>
          <a:prstGeom prst="roundRect">
            <a:avLst>
              <a:gd name="adj" fmla="val 2807"/>
            </a:avLst>
          </a:prstGeom>
          <a:solidFill>
            <a:srgbClr val="12294D"/>
          </a:solidFill>
          <a:ln w="19050">
            <a:solidFill>
              <a:srgbClr val="0081C8"/>
            </a:solidFill>
            <a:prstDash val="solid"/>
          </a:ln>
        </p:spPr>
      </p:sp>
      <p:sp>
        <p:nvSpPr>
          <p:cNvPr id="10" name="Shape 8"/>
          <p:cNvSpPr/>
          <p:nvPr/>
        </p:nvSpPr>
        <p:spPr>
          <a:xfrm>
            <a:off x="1485900" y="2423160"/>
            <a:ext cx="731520" cy="731520"/>
          </a:xfrm>
          <a:prstGeom prst="ellipse">
            <a:avLst/>
          </a:prstGeom>
          <a:solidFill>
            <a:srgbClr val="0081C8"/>
          </a:solidFill>
          <a:ln/>
        </p:spPr>
      </p:sp>
      <p:pic>
        <p:nvPicPr>
          <p:cNvPr id="11" name="Image 0" descr="/home/claude/ppt/icons/database_FFFFFF.png"/>
          <p:cNvPicPr>
            <a:picLocks noChangeAspect="1"/>
          </p:cNvPicPr>
          <p:nvPr/>
        </p:nvPicPr>
        <p:blipFill>
          <a:blip r:embed="rId3"/>
          <a:stretch>
            <a:fillRect/>
          </a:stretch>
        </p:blipFill>
        <p:spPr>
          <a:xfrm>
            <a:off x="1650492" y="2587752"/>
            <a:ext cx="402336" cy="402336"/>
          </a:xfrm>
          <a:prstGeom prst="rect">
            <a:avLst/>
          </a:prstGeom>
        </p:spPr>
      </p:pic>
      <p:sp>
        <p:nvSpPr>
          <p:cNvPr id="12" name="Text 9"/>
          <p:cNvSpPr/>
          <p:nvPr/>
        </p:nvSpPr>
        <p:spPr>
          <a:xfrm>
            <a:off x="685800" y="3337560"/>
            <a:ext cx="2331720" cy="457200"/>
          </a:xfrm>
          <a:prstGeom prst="rect">
            <a:avLst/>
          </a:prstGeom>
          <a:noFill/>
          <a:ln/>
        </p:spPr>
        <p:txBody>
          <a:bodyPr wrap="square" rtlCol="0" anchor="ctr"/>
          <a:lstStyle/>
          <a:p>
            <a:pPr marL="0" indent="0" algn="ctr">
              <a:buNone/>
            </a:pPr>
            <a:r>
              <a:rPr lang="en-US" b="1" dirty="0">
                <a:solidFill>
                  <a:srgbClr val="FFFFFF"/>
                </a:solidFill>
                <a:latin typeface="Bookman Old Style" pitchFamily="34" charset="0"/>
                <a:ea typeface="Bookman Old Style" pitchFamily="34" charset="-122"/>
                <a:cs typeface="Bookman Old Style" pitchFamily="34" charset="-120"/>
              </a:rPr>
              <a:t>Power Query</a:t>
            </a:r>
            <a:endParaRPr lang="en-US" dirty="0"/>
          </a:p>
        </p:txBody>
      </p:sp>
      <p:sp>
        <p:nvSpPr>
          <p:cNvPr id="13" name="Text 10"/>
          <p:cNvSpPr/>
          <p:nvPr/>
        </p:nvSpPr>
        <p:spPr>
          <a:xfrm>
            <a:off x="731520" y="3840480"/>
            <a:ext cx="2240280" cy="1005840"/>
          </a:xfrm>
          <a:prstGeom prst="rect">
            <a:avLst/>
          </a:prstGeom>
          <a:noFill/>
          <a:ln/>
        </p:spPr>
        <p:txBody>
          <a:bodyPr wrap="square" rtlCol="0" anchor="ctr"/>
          <a:lstStyle/>
          <a:p>
            <a:pPr marL="0" indent="0" algn="ctr">
              <a:lnSpc>
                <a:spcPct val="120000"/>
              </a:lnSpc>
              <a:buNone/>
            </a:pPr>
            <a:r>
              <a:rPr lang="en-US" sz="1400" dirty="0">
                <a:solidFill>
                  <a:srgbClr val="C7D3E6"/>
                </a:solidFill>
                <a:latin typeface="Calibri" pitchFamily="34" charset="0"/>
                <a:ea typeface="Calibri" pitchFamily="34" charset="-122"/>
                <a:cs typeface="Calibri" pitchFamily="34" charset="-120"/>
              </a:rPr>
              <a:t>Data cleaning, transformation &amp; the ETL pipeline</a:t>
            </a:r>
            <a:endParaRPr lang="en-US" sz="1400" dirty="0"/>
          </a:p>
        </p:txBody>
      </p:sp>
      <p:sp>
        <p:nvSpPr>
          <p:cNvPr id="14" name="Shape 11"/>
          <p:cNvSpPr/>
          <p:nvPr/>
        </p:nvSpPr>
        <p:spPr>
          <a:xfrm>
            <a:off x="3383280" y="2103120"/>
            <a:ext cx="2606040" cy="2926080"/>
          </a:xfrm>
          <a:prstGeom prst="roundRect">
            <a:avLst>
              <a:gd name="adj" fmla="val 2807"/>
            </a:avLst>
          </a:prstGeom>
          <a:solidFill>
            <a:srgbClr val="12294D"/>
          </a:solidFill>
          <a:ln w="19050">
            <a:solidFill>
              <a:srgbClr val="FCB131"/>
            </a:solidFill>
            <a:prstDash val="solid"/>
          </a:ln>
        </p:spPr>
      </p:sp>
      <p:sp>
        <p:nvSpPr>
          <p:cNvPr id="15" name="Shape 12"/>
          <p:cNvSpPr/>
          <p:nvPr/>
        </p:nvSpPr>
        <p:spPr>
          <a:xfrm>
            <a:off x="4320540" y="2423160"/>
            <a:ext cx="731520" cy="731520"/>
          </a:xfrm>
          <a:prstGeom prst="ellipse">
            <a:avLst/>
          </a:prstGeom>
          <a:solidFill>
            <a:srgbClr val="FCB131"/>
          </a:solidFill>
          <a:ln/>
        </p:spPr>
      </p:sp>
      <p:pic>
        <p:nvPicPr>
          <p:cNvPr id="16" name="Image 1" descr="/home/claude/ppt/icons/sitemap_FFFFFF.png"/>
          <p:cNvPicPr>
            <a:picLocks noChangeAspect="1"/>
          </p:cNvPicPr>
          <p:nvPr/>
        </p:nvPicPr>
        <p:blipFill>
          <a:blip r:embed="rId4"/>
          <a:stretch>
            <a:fillRect/>
          </a:stretch>
        </p:blipFill>
        <p:spPr>
          <a:xfrm>
            <a:off x="4485132" y="2587752"/>
            <a:ext cx="402336" cy="402336"/>
          </a:xfrm>
          <a:prstGeom prst="rect">
            <a:avLst/>
          </a:prstGeom>
        </p:spPr>
      </p:pic>
      <p:sp>
        <p:nvSpPr>
          <p:cNvPr id="17" name="Text 13"/>
          <p:cNvSpPr/>
          <p:nvPr/>
        </p:nvSpPr>
        <p:spPr>
          <a:xfrm>
            <a:off x="3520440" y="3337560"/>
            <a:ext cx="2331720" cy="457200"/>
          </a:xfrm>
          <a:prstGeom prst="rect">
            <a:avLst/>
          </a:prstGeom>
          <a:noFill/>
          <a:ln/>
        </p:spPr>
        <p:txBody>
          <a:bodyPr wrap="square" rtlCol="0" anchor="ctr"/>
          <a:lstStyle/>
          <a:p>
            <a:pPr marL="0" indent="0" algn="ctr">
              <a:buNone/>
            </a:pPr>
            <a:r>
              <a:rPr lang="en-US" b="1" dirty="0">
                <a:solidFill>
                  <a:srgbClr val="FFFFFF"/>
                </a:solidFill>
                <a:latin typeface="Bookman Old Style" pitchFamily="34" charset="0"/>
                <a:ea typeface="Bookman Old Style" pitchFamily="34" charset="-122"/>
                <a:cs typeface="Bookman Old Style" pitchFamily="34" charset="-120"/>
              </a:rPr>
              <a:t>Power BI Desktop</a:t>
            </a:r>
            <a:endParaRPr lang="en-US" dirty="0"/>
          </a:p>
        </p:txBody>
      </p:sp>
      <p:sp>
        <p:nvSpPr>
          <p:cNvPr id="18" name="Text 14"/>
          <p:cNvSpPr/>
          <p:nvPr/>
        </p:nvSpPr>
        <p:spPr>
          <a:xfrm>
            <a:off x="3566160" y="3840480"/>
            <a:ext cx="2240280" cy="1005840"/>
          </a:xfrm>
          <a:prstGeom prst="rect">
            <a:avLst/>
          </a:prstGeom>
          <a:noFill/>
          <a:ln/>
        </p:spPr>
        <p:txBody>
          <a:bodyPr wrap="square" rtlCol="0" anchor="ctr"/>
          <a:lstStyle/>
          <a:p>
            <a:pPr marL="0" indent="0" algn="ctr">
              <a:lnSpc>
                <a:spcPct val="120000"/>
              </a:lnSpc>
              <a:buNone/>
            </a:pPr>
            <a:r>
              <a:rPr lang="en-US" sz="1400" dirty="0">
                <a:solidFill>
                  <a:srgbClr val="C7D3E6"/>
                </a:solidFill>
                <a:latin typeface="Calibri" pitchFamily="34" charset="0"/>
                <a:ea typeface="Calibri" pitchFamily="34" charset="-122"/>
                <a:cs typeface="Calibri" pitchFamily="34" charset="-120"/>
              </a:rPr>
              <a:t>Star-schema data modeling &amp; DAX measures</a:t>
            </a:r>
            <a:endParaRPr lang="en-US" sz="1400" dirty="0"/>
          </a:p>
        </p:txBody>
      </p:sp>
      <p:sp>
        <p:nvSpPr>
          <p:cNvPr id="19" name="Shape 15"/>
          <p:cNvSpPr/>
          <p:nvPr/>
        </p:nvSpPr>
        <p:spPr>
          <a:xfrm>
            <a:off x="6217920" y="2103120"/>
            <a:ext cx="2606040" cy="2926080"/>
          </a:xfrm>
          <a:prstGeom prst="roundRect">
            <a:avLst>
              <a:gd name="adj" fmla="val 2807"/>
            </a:avLst>
          </a:prstGeom>
          <a:solidFill>
            <a:srgbClr val="12294D"/>
          </a:solidFill>
          <a:ln w="19050">
            <a:solidFill>
              <a:srgbClr val="00A651"/>
            </a:solidFill>
            <a:prstDash val="solid"/>
          </a:ln>
        </p:spPr>
      </p:sp>
      <p:sp>
        <p:nvSpPr>
          <p:cNvPr id="20" name="Shape 16"/>
          <p:cNvSpPr/>
          <p:nvPr/>
        </p:nvSpPr>
        <p:spPr>
          <a:xfrm>
            <a:off x="7155180" y="2423160"/>
            <a:ext cx="731520" cy="731520"/>
          </a:xfrm>
          <a:prstGeom prst="ellipse">
            <a:avLst/>
          </a:prstGeom>
          <a:solidFill>
            <a:srgbClr val="00A651"/>
          </a:solidFill>
          <a:ln/>
        </p:spPr>
      </p:sp>
      <p:pic>
        <p:nvPicPr>
          <p:cNvPr id="21" name="Image 2" descr="/home/claude/ppt/icons/barchart_FFFFFF.png"/>
          <p:cNvPicPr>
            <a:picLocks noChangeAspect="1"/>
          </p:cNvPicPr>
          <p:nvPr/>
        </p:nvPicPr>
        <p:blipFill>
          <a:blip r:embed="rId5"/>
          <a:stretch>
            <a:fillRect/>
          </a:stretch>
        </p:blipFill>
        <p:spPr>
          <a:xfrm>
            <a:off x="7319772" y="2587752"/>
            <a:ext cx="402336" cy="402336"/>
          </a:xfrm>
          <a:prstGeom prst="rect">
            <a:avLst/>
          </a:prstGeom>
        </p:spPr>
      </p:pic>
      <p:sp>
        <p:nvSpPr>
          <p:cNvPr id="22" name="Text 17"/>
          <p:cNvSpPr/>
          <p:nvPr/>
        </p:nvSpPr>
        <p:spPr>
          <a:xfrm>
            <a:off x="6355080" y="3337560"/>
            <a:ext cx="2331720" cy="457200"/>
          </a:xfrm>
          <a:prstGeom prst="rect">
            <a:avLst/>
          </a:prstGeom>
          <a:noFill/>
          <a:ln/>
        </p:spPr>
        <p:txBody>
          <a:bodyPr wrap="square" rtlCol="0" anchor="ctr"/>
          <a:lstStyle/>
          <a:p>
            <a:pPr marL="0" indent="0" algn="ctr">
              <a:buNone/>
            </a:pPr>
            <a:r>
              <a:rPr lang="en-US" b="1" dirty="0">
                <a:solidFill>
                  <a:srgbClr val="FFFFFF"/>
                </a:solidFill>
                <a:latin typeface="Bookman Old Style" pitchFamily="34" charset="0"/>
                <a:ea typeface="Bookman Old Style" pitchFamily="34" charset="-122"/>
                <a:cs typeface="Bookman Old Style" pitchFamily="34" charset="-120"/>
              </a:rPr>
              <a:t>DAX</a:t>
            </a:r>
            <a:endParaRPr lang="en-US" dirty="0"/>
          </a:p>
        </p:txBody>
      </p:sp>
      <p:sp>
        <p:nvSpPr>
          <p:cNvPr id="23" name="Text 18"/>
          <p:cNvSpPr/>
          <p:nvPr/>
        </p:nvSpPr>
        <p:spPr>
          <a:xfrm>
            <a:off x="6400800" y="3840480"/>
            <a:ext cx="2240280" cy="1005840"/>
          </a:xfrm>
          <a:prstGeom prst="rect">
            <a:avLst/>
          </a:prstGeom>
          <a:noFill/>
          <a:ln/>
        </p:spPr>
        <p:txBody>
          <a:bodyPr wrap="square" rtlCol="0" anchor="ctr"/>
          <a:lstStyle/>
          <a:p>
            <a:pPr marL="0" indent="0" algn="ctr">
              <a:lnSpc>
                <a:spcPct val="120000"/>
              </a:lnSpc>
              <a:buNone/>
            </a:pPr>
            <a:r>
              <a:rPr lang="en-US" sz="1400" dirty="0">
                <a:solidFill>
                  <a:srgbClr val="C7D3E6"/>
                </a:solidFill>
                <a:latin typeface="Calibri" pitchFamily="34" charset="0"/>
                <a:ea typeface="Calibri" pitchFamily="34" charset="-122"/>
                <a:cs typeface="Calibri" pitchFamily="34" charset="-120"/>
              </a:rPr>
              <a:t>Calculated columns, measures &amp; Top-N logic</a:t>
            </a:r>
            <a:endParaRPr lang="en-US" sz="1400" dirty="0"/>
          </a:p>
        </p:txBody>
      </p:sp>
      <p:sp>
        <p:nvSpPr>
          <p:cNvPr id="24" name="Shape 19"/>
          <p:cNvSpPr/>
          <p:nvPr/>
        </p:nvSpPr>
        <p:spPr>
          <a:xfrm>
            <a:off x="9052560" y="2103120"/>
            <a:ext cx="2606040" cy="2926080"/>
          </a:xfrm>
          <a:prstGeom prst="roundRect">
            <a:avLst>
              <a:gd name="adj" fmla="val 2807"/>
            </a:avLst>
          </a:prstGeom>
          <a:solidFill>
            <a:srgbClr val="12294D"/>
          </a:solidFill>
          <a:ln w="19050">
            <a:solidFill>
              <a:srgbClr val="EE334E"/>
            </a:solidFill>
            <a:prstDash val="solid"/>
          </a:ln>
        </p:spPr>
      </p:sp>
      <p:sp>
        <p:nvSpPr>
          <p:cNvPr id="25" name="Shape 20"/>
          <p:cNvSpPr/>
          <p:nvPr/>
        </p:nvSpPr>
        <p:spPr>
          <a:xfrm>
            <a:off x="9989820" y="2423160"/>
            <a:ext cx="731520" cy="731520"/>
          </a:xfrm>
          <a:prstGeom prst="ellipse">
            <a:avLst/>
          </a:prstGeom>
          <a:solidFill>
            <a:srgbClr val="EE334E"/>
          </a:solidFill>
          <a:ln/>
        </p:spPr>
      </p:sp>
      <p:pic>
        <p:nvPicPr>
          <p:cNvPr id="26" name="Image 3" descr="/home/claude/ppt/icons/piechart_FFFFFF.png"/>
          <p:cNvPicPr>
            <a:picLocks noChangeAspect="1"/>
          </p:cNvPicPr>
          <p:nvPr/>
        </p:nvPicPr>
        <p:blipFill>
          <a:blip r:embed="rId6"/>
          <a:stretch>
            <a:fillRect/>
          </a:stretch>
        </p:blipFill>
        <p:spPr>
          <a:xfrm>
            <a:off x="10154412" y="2587752"/>
            <a:ext cx="402336" cy="402336"/>
          </a:xfrm>
          <a:prstGeom prst="rect">
            <a:avLst/>
          </a:prstGeom>
        </p:spPr>
      </p:pic>
      <p:sp>
        <p:nvSpPr>
          <p:cNvPr id="27" name="Text 21"/>
          <p:cNvSpPr/>
          <p:nvPr/>
        </p:nvSpPr>
        <p:spPr>
          <a:xfrm>
            <a:off x="9189720" y="3337560"/>
            <a:ext cx="2331720" cy="457200"/>
          </a:xfrm>
          <a:prstGeom prst="rect">
            <a:avLst/>
          </a:prstGeom>
          <a:noFill/>
          <a:ln/>
        </p:spPr>
        <p:txBody>
          <a:bodyPr wrap="square" rtlCol="0" anchor="ctr"/>
          <a:lstStyle/>
          <a:p>
            <a:pPr marL="0" indent="0" algn="ctr">
              <a:buNone/>
            </a:pPr>
            <a:r>
              <a:rPr lang="en-US" b="1" dirty="0">
                <a:solidFill>
                  <a:srgbClr val="FFFFFF"/>
                </a:solidFill>
                <a:latin typeface="Bookman Old Style" pitchFamily="34" charset="0"/>
                <a:ea typeface="Bookman Old Style" pitchFamily="34" charset="-122"/>
                <a:cs typeface="Bookman Old Style" pitchFamily="34" charset="-120"/>
              </a:rPr>
              <a:t>Power BI Service</a:t>
            </a:r>
            <a:endParaRPr lang="en-US" dirty="0"/>
          </a:p>
        </p:txBody>
      </p:sp>
      <p:sp>
        <p:nvSpPr>
          <p:cNvPr id="28" name="Text 22"/>
          <p:cNvSpPr/>
          <p:nvPr/>
        </p:nvSpPr>
        <p:spPr>
          <a:xfrm>
            <a:off x="9235440" y="3840480"/>
            <a:ext cx="2240280" cy="1005840"/>
          </a:xfrm>
          <a:prstGeom prst="rect">
            <a:avLst/>
          </a:prstGeom>
          <a:noFill/>
          <a:ln/>
        </p:spPr>
        <p:txBody>
          <a:bodyPr wrap="square" rtlCol="0" anchor="ctr"/>
          <a:lstStyle/>
          <a:p>
            <a:pPr marL="0" indent="0" algn="ctr">
              <a:lnSpc>
                <a:spcPct val="120000"/>
              </a:lnSpc>
              <a:buNone/>
            </a:pPr>
            <a:r>
              <a:rPr lang="en-US" sz="1400" dirty="0">
                <a:solidFill>
                  <a:srgbClr val="C7D3E6"/>
                </a:solidFill>
                <a:latin typeface="Calibri" pitchFamily="34" charset="0"/>
                <a:ea typeface="Calibri" pitchFamily="34" charset="-122"/>
                <a:cs typeface="Calibri" pitchFamily="34" charset="-120"/>
              </a:rPr>
              <a:t>Interactive 6-page report with cross-filtering</a:t>
            </a:r>
            <a:endParaRPr lang="en-US" sz="1400" dirty="0"/>
          </a:p>
        </p:txBody>
      </p:sp>
      <p:sp>
        <p:nvSpPr>
          <p:cNvPr id="29" name="Text 23"/>
          <p:cNvSpPr/>
          <p:nvPr/>
        </p:nvSpPr>
        <p:spPr>
          <a:xfrm>
            <a:off x="457200" y="6537960"/>
            <a:ext cx="7315200" cy="274320"/>
          </a:xfrm>
          <a:prstGeom prst="rect">
            <a:avLst/>
          </a:prstGeom>
          <a:noFill/>
          <a:ln/>
        </p:spPr>
        <p:txBody>
          <a:bodyPr wrap="square" rtlCol="0" anchor="ctr"/>
          <a:lstStyle/>
          <a:p>
            <a:pPr marL="0" indent="0">
              <a:buNone/>
            </a:pPr>
            <a:r>
              <a:rPr lang="en-US" sz="900" kern="0" spc="100" dirty="0">
                <a:solidFill>
                  <a:srgbClr val="8FA0BE"/>
                </a:solidFill>
                <a:latin typeface="Calibri" pitchFamily="34" charset="0"/>
                <a:ea typeface="Calibri" pitchFamily="34" charset="-122"/>
                <a:cs typeface="Calibri" pitchFamily="34" charset="-120"/>
              </a:rPr>
              <a:t>OLYMPIC INSIGHTS  |  POWER BI ANALYTICS PROJECT</a:t>
            </a:r>
            <a:endParaRPr lang="en-US" sz="900" dirty="0"/>
          </a:p>
        </p:txBody>
      </p:sp>
      <p:sp>
        <p:nvSpPr>
          <p:cNvPr id="30" name="Text 24"/>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8FA0B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marL="0" indent="0">
              <a:buNone/>
            </a:pPr>
            <a:r>
              <a:rPr lang="en-US" sz="1400" b="1" kern="0" spc="200" dirty="0">
                <a:solidFill>
                  <a:srgbClr val="EE334E"/>
                </a:solidFill>
                <a:latin typeface="Calibri" pitchFamily="34" charset="0"/>
                <a:ea typeface="Calibri" pitchFamily="34" charset="-122"/>
                <a:cs typeface="Calibri" pitchFamily="34" charset="-120"/>
              </a:rPr>
              <a:t>FROM RAW TO READY</a:t>
            </a:r>
            <a:endParaRPr lang="en-US" sz="1400" dirty="0"/>
          </a:p>
        </p:txBody>
      </p:sp>
      <p:sp>
        <p:nvSpPr>
          <p:cNvPr id="3" name="Text 1"/>
          <p:cNvSpPr/>
          <p:nvPr/>
        </p:nvSpPr>
        <p:spPr>
          <a:xfrm>
            <a:off x="548640" y="694944"/>
            <a:ext cx="9601200" cy="594360"/>
          </a:xfrm>
          <a:prstGeom prst="rect">
            <a:avLst/>
          </a:prstGeom>
          <a:noFill/>
          <a:ln/>
        </p:spPr>
        <p:txBody>
          <a:bodyPr wrap="square" rtlCol="0" anchor="ctr"/>
          <a:lstStyle/>
          <a:p>
            <a:pPr marL="0" indent="0">
              <a:buNone/>
            </a:pPr>
            <a:r>
              <a:rPr lang="en-US" sz="3200" b="1" dirty="0">
                <a:solidFill>
                  <a:srgbClr val="0B1E39"/>
                </a:solidFill>
                <a:latin typeface="Bookman Old Style" pitchFamily="34" charset="0"/>
                <a:ea typeface="Bookman Old Style" pitchFamily="34" charset="-122"/>
                <a:cs typeface="Bookman Old Style" pitchFamily="34" charset="-120"/>
              </a:rPr>
              <a:t>Data Cleaning &amp; Transformation</a:t>
            </a:r>
            <a:endParaRPr lang="en-US" sz="3200" dirty="0"/>
          </a:p>
        </p:txBody>
      </p:sp>
      <p:sp>
        <p:nvSpPr>
          <p:cNvPr id="4" name="Shape 2"/>
          <p:cNvSpPr/>
          <p:nvPr/>
        </p:nvSpPr>
        <p:spPr>
          <a:xfrm>
            <a:off x="10561320" y="438912"/>
            <a:ext cx="292608" cy="292608"/>
          </a:xfrm>
          <a:prstGeom prst="ellipse">
            <a:avLst/>
          </a:prstGeom>
          <a:ln w="30480">
            <a:solidFill>
              <a:srgbClr val="0081C8"/>
            </a:solidFill>
            <a:prstDash val="solid"/>
          </a:ln>
        </p:spPr>
      </p:sp>
      <p:sp>
        <p:nvSpPr>
          <p:cNvPr id="5" name="Shape 3"/>
          <p:cNvSpPr/>
          <p:nvPr/>
        </p:nvSpPr>
        <p:spPr>
          <a:xfrm>
            <a:off x="10722254" y="438912"/>
            <a:ext cx="292608" cy="292608"/>
          </a:xfrm>
          <a:prstGeom prst="ellipse">
            <a:avLst/>
          </a:prstGeom>
          <a:ln w="30480">
            <a:solidFill>
              <a:srgbClr val="FCB131"/>
            </a:solidFill>
            <a:prstDash val="solid"/>
          </a:ln>
        </p:spPr>
      </p:sp>
      <p:sp>
        <p:nvSpPr>
          <p:cNvPr id="6" name="Shape 4"/>
          <p:cNvSpPr/>
          <p:nvPr/>
        </p:nvSpPr>
        <p:spPr>
          <a:xfrm>
            <a:off x="10883189" y="438912"/>
            <a:ext cx="292608" cy="292608"/>
          </a:xfrm>
          <a:prstGeom prst="ellipse">
            <a:avLst/>
          </a:prstGeom>
          <a:ln w="30480">
            <a:solidFill>
              <a:srgbClr val="1A1A1A"/>
            </a:solidFill>
            <a:prstDash val="solid"/>
          </a:ln>
        </p:spPr>
      </p:sp>
      <p:sp>
        <p:nvSpPr>
          <p:cNvPr id="7" name="Shape 5"/>
          <p:cNvSpPr/>
          <p:nvPr/>
        </p:nvSpPr>
        <p:spPr>
          <a:xfrm>
            <a:off x="11044123" y="438912"/>
            <a:ext cx="292608" cy="292608"/>
          </a:xfrm>
          <a:prstGeom prst="ellipse">
            <a:avLst/>
          </a:prstGeom>
          <a:ln w="30480">
            <a:solidFill>
              <a:srgbClr val="00A651"/>
            </a:solidFill>
            <a:prstDash val="solid"/>
          </a:ln>
        </p:spPr>
      </p:sp>
      <p:sp>
        <p:nvSpPr>
          <p:cNvPr id="8" name="Shape 6"/>
          <p:cNvSpPr/>
          <p:nvPr/>
        </p:nvSpPr>
        <p:spPr>
          <a:xfrm>
            <a:off x="11205058" y="438912"/>
            <a:ext cx="292608" cy="292608"/>
          </a:xfrm>
          <a:prstGeom prst="ellipse">
            <a:avLst/>
          </a:prstGeom>
          <a:ln w="30480">
            <a:solidFill>
              <a:srgbClr val="EE334E"/>
            </a:solidFill>
            <a:prstDash val="solid"/>
          </a:ln>
        </p:spPr>
      </p:sp>
      <p:sp>
        <p:nvSpPr>
          <p:cNvPr id="9" name="Shape 7"/>
          <p:cNvSpPr/>
          <p:nvPr/>
        </p:nvSpPr>
        <p:spPr>
          <a:xfrm>
            <a:off x="548640" y="1554480"/>
            <a:ext cx="502920" cy="502920"/>
          </a:xfrm>
          <a:prstGeom prst="ellipse">
            <a:avLst/>
          </a:prstGeom>
          <a:solidFill>
            <a:srgbClr val="0081C8"/>
          </a:solidFill>
          <a:ln/>
        </p:spPr>
      </p:sp>
      <p:pic>
        <p:nvPicPr>
          <p:cNvPr id="10" name="Image 0" descr="/home/claude/ppt/icons/broom_FFFFFF.png"/>
          <p:cNvPicPr>
            <a:picLocks noChangeAspect="1"/>
          </p:cNvPicPr>
          <p:nvPr/>
        </p:nvPicPr>
        <p:blipFill>
          <a:blip r:embed="rId3"/>
          <a:stretch>
            <a:fillRect/>
          </a:stretch>
        </p:blipFill>
        <p:spPr>
          <a:xfrm>
            <a:off x="661797" y="1667637"/>
            <a:ext cx="276606" cy="276606"/>
          </a:xfrm>
          <a:prstGeom prst="rect">
            <a:avLst/>
          </a:prstGeom>
        </p:spPr>
      </p:pic>
      <p:sp>
        <p:nvSpPr>
          <p:cNvPr id="11" name="Text 8"/>
          <p:cNvSpPr/>
          <p:nvPr/>
        </p:nvSpPr>
        <p:spPr>
          <a:xfrm>
            <a:off x="1188720" y="1481328"/>
            <a:ext cx="640080" cy="640080"/>
          </a:xfrm>
          <a:prstGeom prst="rect">
            <a:avLst/>
          </a:prstGeom>
          <a:noFill/>
          <a:ln/>
        </p:spPr>
        <p:txBody>
          <a:bodyPr wrap="square" rtlCol="0" anchor="ctr"/>
          <a:lstStyle/>
          <a:p>
            <a:pPr marL="0" indent="0">
              <a:buNone/>
            </a:pPr>
            <a:r>
              <a:rPr lang="en-US" sz="2400" b="1" dirty="0">
                <a:latin typeface="Bookman Old Style" pitchFamily="34" charset="0"/>
                <a:ea typeface="Bookman Old Style" pitchFamily="34" charset="-122"/>
                <a:cs typeface="Bookman Old Style" pitchFamily="34" charset="-120"/>
              </a:rPr>
              <a:t>01</a:t>
            </a:r>
            <a:endParaRPr lang="en-US" sz="2400" dirty="0"/>
          </a:p>
        </p:txBody>
      </p:sp>
      <p:sp>
        <p:nvSpPr>
          <p:cNvPr id="12" name="Text 9"/>
          <p:cNvSpPr/>
          <p:nvPr/>
        </p:nvSpPr>
        <p:spPr>
          <a:xfrm>
            <a:off x="1874520" y="1527048"/>
            <a:ext cx="8961120" cy="365760"/>
          </a:xfrm>
          <a:prstGeom prst="rect">
            <a:avLst/>
          </a:prstGeom>
          <a:noFill/>
          <a:ln/>
        </p:spPr>
        <p:txBody>
          <a:bodyPr wrap="square" rtlCol="0" anchor="ctr"/>
          <a:lstStyle/>
          <a:p>
            <a:pPr marL="0" indent="0">
              <a:buNone/>
            </a:pPr>
            <a:r>
              <a:rPr lang="en-US" sz="1600" b="1" dirty="0">
                <a:solidFill>
                  <a:srgbClr val="0B1E39"/>
                </a:solidFill>
                <a:latin typeface="Bookman Old Style" pitchFamily="34" charset="0"/>
                <a:ea typeface="Bookman Old Style" pitchFamily="34" charset="-122"/>
                <a:cs typeface="Bookman Old Style" pitchFamily="34" charset="-120"/>
              </a:rPr>
              <a:t>Trimmed &amp; standardized text</a:t>
            </a:r>
            <a:endParaRPr lang="en-US" sz="1600" dirty="0"/>
          </a:p>
        </p:txBody>
      </p:sp>
      <p:sp>
        <p:nvSpPr>
          <p:cNvPr id="13" name="Text 10"/>
          <p:cNvSpPr/>
          <p:nvPr/>
        </p:nvSpPr>
        <p:spPr>
          <a:xfrm>
            <a:off x="1874520" y="1883664"/>
            <a:ext cx="9326880" cy="457200"/>
          </a:xfrm>
          <a:prstGeom prst="rect">
            <a:avLst/>
          </a:prstGeom>
          <a:noFill/>
          <a:ln/>
        </p:spPr>
        <p:txBody>
          <a:bodyPr wrap="square" rtlCol="0" anchor="ctr"/>
          <a:lstStyle/>
          <a:p>
            <a:pPr marL="0" indent="0">
              <a:lnSpc>
                <a:spcPct val="115000"/>
              </a:lnSpc>
              <a:buNone/>
            </a:pPr>
            <a:r>
              <a:rPr lang="en-US" sz="1600" dirty="0">
                <a:solidFill>
                  <a:srgbClr val="5B6B85"/>
                </a:solidFill>
                <a:latin typeface="Calibri" pitchFamily="34" charset="0"/>
                <a:ea typeface="Calibri" pitchFamily="34" charset="-122"/>
                <a:cs typeface="Calibri" pitchFamily="34" charset="-120"/>
              </a:rPr>
              <a:t>Removed stray whitespace from country names, NOC codes and sport labels.</a:t>
            </a:r>
            <a:endParaRPr lang="en-US" sz="1600" dirty="0"/>
          </a:p>
        </p:txBody>
      </p:sp>
      <p:sp>
        <p:nvSpPr>
          <p:cNvPr id="14" name="Shape 11"/>
          <p:cNvSpPr/>
          <p:nvPr/>
        </p:nvSpPr>
        <p:spPr>
          <a:xfrm>
            <a:off x="548640" y="2606040"/>
            <a:ext cx="502920" cy="502920"/>
          </a:xfrm>
          <a:prstGeom prst="ellipse">
            <a:avLst/>
          </a:prstGeom>
          <a:solidFill>
            <a:srgbClr val="FCB131"/>
          </a:solidFill>
          <a:ln/>
        </p:spPr>
      </p:sp>
      <p:pic>
        <p:nvPicPr>
          <p:cNvPr id="15" name="Image 1" descr="/home/claude/ppt/icons/calendar_FFFFFF.png"/>
          <p:cNvPicPr>
            <a:picLocks noChangeAspect="1"/>
          </p:cNvPicPr>
          <p:nvPr/>
        </p:nvPicPr>
        <p:blipFill>
          <a:blip r:embed="rId4"/>
          <a:stretch>
            <a:fillRect/>
          </a:stretch>
        </p:blipFill>
        <p:spPr>
          <a:xfrm>
            <a:off x="661797" y="2719197"/>
            <a:ext cx="276606" cy="276606"/>
          </a:xfrm>
          <a:prstGeom prst="rect">
            <a:avLst/>
          </a:prstGeom>
        </p:spPr>
      </p:pic>
      <p:sp>
        <p:nvSpPr>
          <p:cNvPr id="16" name="Text 12"/>
          <p:cNvSpPr/>
          <p:nvPr/>
        </p:nvSpPr>
        <p:spPr>
          <a:xfrm>
            <a:off x="1234440" y="2551176"/>
            <a:ext cx="640080" cy="640080"/>
          </a:xfrm>
          <a:prstGeom prst="rect">
            <a:avLst/>
          </a:prstGeom>
          <a:noFill/>
          <a:ln/>
        </p:spPr>
        <p:txBody>
          <a:bodyPr wrap="square" rtlCol="0" anchor="ctr"/>
          <a:lstStyle/>
          <a:p>
            <a:pPr marL="0" indent="0">
              <a:buNone/>
            </a:pPr>
            <a:r>
              <a:rPr lang="en-US" sz="2000" b="1" dirty="0">
                <a:latin typeface="Bookman Old Style" pitchFamily="34" charset="0"/>
                <a:ea typeface="Bookman Old Style" pitchFamily="34" charset="-122"/>
                <a:cs typeface="Bookman Old Style" pitchFamily="34" charset="-120"/>
              </a:rPr>
              <a:t>02</a:t>
            </a:r>
            <a:endParaRPr lang="en-US" sz="2000" dirty="0"/>
          </a:p>
        </p:txBody>
      </p:sp>
      <p:sp>
        <p:nvSpPr>
          <p:cNvPr id="17" name="Text 13"/>
          <p:cNvSpPr/>
          <p:nvPr/>
        </p:nvSpPr>
        <p:spPr>
          <a:xfrm>
            <a:off x="1874520" y="2578608"/>
            <a:ext cx="8961120" cy="365760"/>
          </a:xfrm>
          <a:prstGeom prst="rect">
            <a:avLst/>
          </a:prstGeom>
          <a:noFill/>
          <a:ln/>
        </p:spPr>
        <p:txBody>
          <a:bodyPr wrap="square" rtlCol="0" anchor="ctr"/>
          <a:lstStyle/>
          <a:p>
            <a:pPr marL="0" indent="0">
              <a:buNone/>
            </a:pPr>
            <a:r>
              <a:rPr lang="en-US" sz="1600" b="1" dirty="0">
                <a:solidFill>
                  <a:srgbClr val="0B1E39"/>
                </a:solidFill>
                <a:latin typeface="Bookman Old Style" pitchFamily="34" charset="0"/>
                <a:ea typeface="Bookman Old Style" pitchFamily="34" charset="-122"/>
                <a:cs typeface="Bookman Old Style" pitchFamily="34" charset="-120"/>
              </a:rPr>
              <a:t>Parsed dates &amp; derived age</a:t>
            </a:r>
            <a:endParaRPr lang="en-US" sz="1600" dirty="0"/>
          </a:p>
        </p:txBody>
      </p:sp>
      <p:sp>
        <p:nvSpPr>
          <p:cNvPr id="18" name="Text 14"/>
          <p:cNvSpPr/>
          <p:nvPr/>
        </p:nvSpPr>
        <p:spPr>
          <a:xfrm>
            <a:off x="1874520" y="2935224"/>
            <a:ext cx="9326880" cy="457200"/>
          </a:xfrm>
          <a:prstGeom prst="rect">
            <a:avLst/>
          </a:prstGeom>
          <a:noFill/>
          <a:ln/>
        </p:spPr>
        <p:txBody>
          <a:bodyPr wrap="square" rtlCol="0" anchor="ctr"/>
          <a:lstStyle/>
          <a:p>
            <a:pPr marL="0" indent="0">
              <a:lnSpc>
                <a:spcPct val="115000"/>
              </a:lnSpc>
              <a:buNone/>
            </a:pPr>
            <a:r>
              <a:rPr lang="en-US" sz="1600" dirty="0">
                <a:solidFill>
                  <a:srgbClr val="5B6B85"/>
                </a:solidFill>
                <a:latin typeface="Calibri" pitchFamily="34" charset="0"/>
                <a:ea typeface="Calibri" pitchFamily="34" charset="-122"/>
                <a:cs typeface="Calibri" pitchFamily="34" charset="-120"/>
              </a:rPr>
              <a:t>Converted birth date text into real dates; computed age at every event.</a:t>
            </a:r>
            <a:endParaRPr lang="en-US" sz="1600" dirty="0"/>
          </a:p>
        </p:txBody>
      </p:sp>
      <p:sp>
        <p:nvSpPr>
          <p:cNvPr id="19" name="Shape 15"/>
          <p:cNvSpPr/>
          <p:nvPr/>
        </p:nvSpPr>
        <p:spPr>
          <a:xfrm>
            <a:off x="548640" y="3657600"/>
            <a:ext cx="502920" cy="502920"/>
          </a:xfrm>
          <a:prstGeom prst="ellipse">
            <a:avLst/>
          </a:prstGeom>
          <a:solidFill>
            <a:srgbClr val="00A651"/>
          </a:solidFill>
          <a:ln/>
        </p:spPr>
      </p:sp>
      <p:pic>
        <p:nvPicPr>
          <p:cNvPr id="20" name="Image 2" descr="/home/claude/ppt/icons/filter_FFFFFF.png"/>
          <p:cNvPicPr>
            <a:picLocks noChangeAspect="1"/>
          </p:cNvPicPr>
          <p:nvPr/>
        </p:nvPicPr>
        <p:blipFill>
          <a:blip r:embed="rId5"/>
          <a:stretch>
            <a:fillRect/>
          </a:stretch>
        </p:blipFill>
        <p:spPr>
          <a:xfrm>
            <a:off x="661797" y="3770757"/>
            <a:ext cx="276606" cy="276606"/>
          </a:xfrm>
          <a:prstGeom prst="rect">
            <a:avLst/>
          </a:prstGeom>
        </p:spPr>
      </p:pic>
      <p:sp>
        <p:nvSpPr>
          <p:cNvPr id="21" name="Text 16"/>
          <p:cNvSpPr/>
          <p:nvPr/>
        </p:nvSpPr>
        <p:spPr>
          <a:xfrm>
            <a:off x="1188720" y="3584448"/>
            <a:ext cx="640080" cy="640080"/>
          </a:xfrm>
          <a:prstGeom prst="rect">
            <a:avLst/>
          </a:prstGeom>
          <a:noFill/>
          <a:ln/>
        </p:spPr>
        <p:txBody>
          <a:bodyPr wrap="square" rtlCol="0" anchor="ctr"/>
          <a:lstStyle/>
          <a:p>
            <a:pPr marL="0" indent="0">
              <a:buNone/>
            </a:pPr>
            <a:r>
              <a:rPr lang="en-US" sz="2000" b="1" dirty="0">
                <a:latin typeface="Bookman Old Style" pitchFamily="34" charset="0"/>
                <a:ea typeface="Bookman Old Style" pitchFamily="34" charset="-122"/>
                <a:cs typeface="Bookman Old Style" pitchFamily="34" charset="-120"/>
              </a:rPr>
              <a:t>03</a:t>
            </a:r>
            <a:endParaRPr lang="en-US" sz="2000" dirty="0"/>
          </a:p>
        </p:txBody>
      </p:sp>
      <p:sp>
        <p:nvSpPr>
          <p:cNvPr id="22" name="Text 17"/>
          <p:cNvSpPr/>
          <p:nvPr/>
        </p:nvSpPr>
        <p:spPr>
          <a:xfrm>
            <a:off x="1874520" y="3630168"/>
            <a:ext cx="8961120" cy="365760"/>
          </a:xfrm>
          <a:prstGeom prst="rect">
            <a:avLst/>
          </a:prstGeom>
          <a:noFill/>
          <a:ln/>
        </p:spPr>
        <p:txBody>
          <a:bodyPr wrap="square" rtlCol="0" anchor="ctr"/>
          <a:lstStyle/>
          <a:p>
            <a:pPr marL="0" indent="0">
              <a:buNone/>
            </a:pPr>
            <a:r>
              <a:rPr lang="en-US" sz="1600" b="1" dirty="0">
                <a:solidFill>
                  <a:srgbClr val="0B1E39"/>
                </a:solidFill>
                <a:latin typeface="Bookman Old Style" pitchFamily="34" charset="0"/>
                <a:ea typeface="Bookman Old Style" pitchFamily="34" charset="-122"/>
                <a:cs typeface="Bookman Old Style" pitchFamily="34" charset="-120"/>
              </a:rPr>
              <a:t>Handled messy values</a:t>
            </a:r>
            <a:endParaRPr lang="en-US" sz="1600" dirty="0"/>
          </a:p>
        </p:txBody>
      </p:sp>
      <p:sp>
        <p:nvSpPr>
          <p:cNvPr id="23" name="Text 18"/>
          <p:cNvSpPr/>
          <p:nvPr/>
        </p:nvSpPr>
        <p:spPr>
          <a:xfrm>
            <a:off x="1874520" y="3986784"/>
            <a:ext cx="9326880" cy="457200"/>
          </a:xfrm>
          <a:prstGeom prst="rect">
            <a:avLst/>
          </a:prstGeom>
          <a:noFill/>
          <a:ln/>
        </p:spPr>
        <p:txBody>
          <a:bodyPr wrap="square" rtlCol="0" anchor="ctr"/>
          <a:lstStyle/>
          <a:p>
            <a:pPr marL="0" indent="0">
              <a:lnSpc>
                <a:spcPct val="115000"/>
              </a:lnSpc>
              <a:buNone/>
            </a:pPr>
            <a:r>
              <a:rPr lang="en-US" sz="1600" dirty="0">
                <a:solidFill>
                  <a:srgbClr val="5B6B85"/>
                </a:solidFill>
                <a:latin typeface="Calibri" pitchFamily="34" charset="0"/>
                <a:ea typeface="Calibri" pitchFamily="34" charset="-122"/>
                <a:cs typeface="Calibri" pitchFamily="34" charset="-120"/>
              </a:rPr>
              <a:t>Averaged weight ranges, nulled impossible ages, flagged cancelled editions.</a:t>
            </a:r>
            <a:endParaRPr lang="en-US" sz="1600" dirty="0"/>
          </a:p>
        </p:txBody>
      </p:sp>
      <p:sp>
        <p:nvSpPr>
          <p:cNvPr id="24" name="Shape 19"/>
          <p:cNvSpPr/>
          <p:nvPr/>
        </p:nvSpPr>
        <p:spPr>
          <a:xfrm>
            <a:off x="548640" y="4709160"/>
            <a:ext cx="502920" cy="502920"/>
          </a:xfrm>
          <a:prstGeom prst="ellipse">
            <a:avLst/>
          </a:prstGeom>
          <a:solidFill>
            <a:srgbClr val="EE334E"/>
          </a:solidFill>
          <a:ln/>
        </p:spPr>
      </p:sp>
      <p:pic>
        <p:nvPicPr>
          <p:cNvPr id="25" name="Image 3" descr="/home/claude/ppt/icons/link_FFFFFF.png"/>
          <p:cNvPicPr>
            <a:picLocks noChangeAspect="1"/>
          </p:cNvPicPr>
          <p:nvPr/>
        </p:nvPicPr>
        <p:blipFill>
          <a:blip r:embed="rId6"/>
          <a:stretch>
            <a:fillRect/>
          </a:stretch>
        </p:blipFill>
        <p:spPr>
          <a:xfrm>
            <a:off x="661797" y="4822317"/>
            <a:ext cx="276606" cy="276606"/>
          </a:xfrm>
          <a:prstGeom prst="rect">
            <a:avLst/>
          </a:prstGeom>
        </p:spPr>
      </p:pic>
      <p:sp>
        <p:nvSpPr>
          <p:cNvPr id="26" name="Text 20"/>
          <p:cNvSpPr/>
          <p:nvPr/>
        </p:nvSpPr>
        <p:spPr>
          <a:xfrm>
            <a:off x="1188720" y="4636008"/>
            <a:ext cx="640080" cy="640080"/>
          </a:xfrm>
          <a:prstGeom prst="rect">
            <a:avLst/>
          </a:prstGeom>
          <a:noFill/>
          <a:ln/>
        </p:spPr>
        <p:txBody>
          <a:bodyPr wrap="square" rtlCol="0" anchor="ctr"/>
          <a:lstStyle/>
          <a:p>
            <a:pPr marL="0" indent="0">
              <a:buNone/>
            </a:pPr>
            <a:r>
              <a:rPr lang="en-US" sz="2000" b="1" dirty="0">
                <a:latin typeface="Bookman Old Style" pitchFamily="34" charset="0"/>
                <a:ea typeface="Bookman Old Style" pitchFamily="34" charset="-122"/>
                <a:cs typeface="Bookman Old Style" pitchFamily="34" charset="-120"/>
              </a:rPr>
              <a:t>04</a:t>
            </a:r>
            <a:endParaRPr lang="en-US" sz="2000" dirty="0"/>
          </a:p>
        </p:txBody>
      </p:sp>
      <p:sp>
        <p:nvSpPr>
          <p:cNvPr id="27" name="Text 21"/>
          <p:cNvSpPr/>
          <p:nvPr/>
        </p:nvSpPr>
        <p:spPr>
          <a:xfrm>
            <a:off x="1874520" y="4681728"/>
            <a:ext cx="8961120" cy="365760"/>
          </a:xfrm>
          <a:prstGeom prst="rect">
            <a:avLst/>
          </a:prstGeom>
          <a:noFill/>
          <a:ln/>
        </p:spPr>
        <p:txBody>
          <a:bodyPr wrap="square" rtlCol="0" anchor="ctr"/>
          <a:lstStyle/>
          <a:p>
            <a:pPr marL="0" indent="0">
              <a:buNone/>
            </a:pPr>
            <a:r>
              <a:rPr lang="en-US" sz="1600" b="1" dirty="0">
                <a:solidFill>
                  <a:srgbClr val="0B1E39"/>
                </a:solidFill>
                <a:latin typeface="Bookman Old Style" pitchFamily="34" charset="0"/>
                <a:ea typeface="Bookman Old Style" pitchFamily="34" charset="-122"/>
                <a:cs typeface="Bookman Old Style" pitchFamily="34" charset="-120"/>
              </a:rPr>
              <a:t>Joined six files together</a:t>
            </a:r>
            <a:endParaRPr lang="en-US" sz="1600" dirty="0"/>
          </a:p>
        </p:txBody>
      </p:sp>
      <p:sp>
        <p:nvSpPr>
          <p:cNvPr id="28" name="Text 22"/>
          <p:cNvSpPr/>
          <p:nvPr/>
        </p:nvSpPr>
        <p:spPr>
          <a:xfrm>
            <a:off x="1874520" y="5038344"/>
            <a:ext cx="9326880" cy="457200"/>
          </a:xfrm>
          <a:prstGeom prst="rect">
            <a:avLst/>
          </a:prstGeom>
          <a:noFill/>
          <a:ln/>
        </p:spPr>
        <p:txBody>
          <a:bodyPr wrap="square" rtlCol="0" anchor="ctr"/>
          <a:lstStyle/>
          <a:p>
            <a:pPr marL="0" indent="0">
              <a:lnSpc>
                <a:spcPct val="115000"/>
              </a:lnSpc>
              <a:buNone/>
            </a:pPr>
            <a:r>
              <a:rPr lang="en-US" sz="1400" dirty="0">
                <a:solidFill>
                  <a:srgbClr val="5B6B85"/>
                </a:solidFill>
                <a:latin typeface="Calibri" pitchFamily="34" charset="0"/>
                <a:ea typeface="Calibri" pitchFamily="34" charset="-122"/>
                <a:cs typeface="Calibri" pitchFamily="34" charset="-120"/>
              </a:rPr>
              <a:t>Merged athlete, event, medal &amp; host data into one enriched fact table.</a:t>
            </a:r>
            <a:endParaRPr lang="en-US" sz="1400" dirty="0"/>
          </a:p>
        </p:txBody>
      </p:sp>
      <p:sp>
        <p:nvSpPr>
          <p:cNvPr id="30" name="Text 24"/>
          <p:cNvSpPr/>
          <p:nvPr/>
        </p:nvSpPr>
        <p:spPr>
          <a:xfrm>
            <a:off x="777240" y="5623560"/>
            <a:ext cx="10424160" cy="594360"/>
          </a:xfrm>
          <a:prstGeom prst="rect">
            <a:avLst/>
          </a:prstGeom>
          <a:noFill/>
          <a:ln/>
        </p:spPr>
        <p:txBody>
          <a:bodyPr wrap="square" rtlCol="0" anchor="ctr"/>
          <a:lstStyle/>
          <a:p>
            <a:pPr marL="0" indent="0">
              <a:buNone/>
            </a:pPr>
            <a:endParaRPr lang="en-US" sz="1050" dirty="0"/>
          </a:p>
        </p:txBody>
      </p:sp>
      <p:sp>
        <p:nvSpPr>
          <p:cNvPr id="31" name="Text 25"/>
          <p:cNvSpPr/>
          <p:nvPr/>
        </p:nvSpPr>
        <p:spPr>
          <a:xfrm>
            <a:off x="457200" y="6537960"/>
            <a:ext cx="7315200" cy="274320"/>
          </a:xfrm>
          <a:prstGeom prst="rect">
            <a:avLst/>
          </a:prstGeom>
          <a:noFill/>
          <a:ln/>
        </p:spPr>
        <p:txBody>
          <a:bodyPr wrap="square" rtlCol="0" anchor="ctr"/>
          <a:lstStyle/>
          <a:p>
            <a:pPr marL="0" indent="0">
              <a:buNone/>
            </a:pPr>
            <a:r>
              <a:rPr lang="en-US" sz="900" kern="0" spc="100" dirty="0">
                <a:solidFill>
                  <a:srgbClr val="9AA6B8"/>
                </a:solidFill>
                <a:latin typeface="Calibri" pitchFamily="34" charset="0"/>
                <a:ea typeface="Calibri" pitchFamily="34" charset="-122"/>
                <a:cs typeface="Calibri" pitchFamily="34" charset="-120"/>
              </a:rPr>
              <a:t>OLYMPIC INSIGHTS  |  POWER BI ANALYTICS PROJECT</a:t>
            </a:r>
            <a:endParaRPr lang="en-US" sz="900" dirty="0"/>
          </a:p>
        </p:txBody>
      </p:sp>
      <p:sp>
        <p:nvSpPr>
          <p:cNvPr id="32" name="Text 26"/>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oundRect">
            <a:avLst/>
          </a:prstGeom>
          <a:solidFill>
            <a:schemeClr val="bg1">
              <a:lumMod val="50000"/>
            </a:schemeClr>
          </a:solidFill>
          <a:ln/>
        </p:spPr>
      </p:sp>
      <p:sp>
        <p:nvSpPr>
          <p:cNvPr id="3" name="Text 1"/>
          <p:cNvSpPr/>
          <p:nvPr/>
        </p:nvSpPr>
        <p:spPr>
          <a:xfrm>
            <a:off x="457200" y="146304"/>
            <a:ext cx="5486400" cy="292608"/>
          </a:xfrm>
          <a:prstGeom prst="rect">
            <a:avLst/>
          </a:prstGeom>
          <a:noFill/>
          <a:ln/>
        </p:spPr>
        <p:txBody>
          <a:bodyPr wrap="square" rtlCol="0" anchor="ctr"/>
          <a:lstStyle/>
          <a:p>
            <a:pPr marL="0" indent="0">
              <a:buNone/>
            </a:pPr>
            <a:r>
              <a:rPr lang="en-US" sz="1600" b="1" kern="0" spc="200" dirty="0">
                <a:solidFill>
                  <a:schemeClr val="bg1"/>
                </a:solidFill>
                <a:latin typeface="Calibri" pitchFamily="34" charset="0"/>
                <a:ea typeface="Calibri" pitchFamily="34" charset="-122"/>
                <a:cs typeface="Calibri" pitchFamily="34" charset="-120"/>
              </a:rPr>
              <a:t>DASHBOARD PAGE 1</a:t>
            </a:r>
            <a:endParaRPr lang="en-US" sz="1600" dirty="0">
              <a:solidFill>
                <a:schemeClr val="bg1"/>
              </a:solidFill>
            </a:endParaRPr>
          </a:p>
        </p:txBody>
      </p:sp>
      <p:sp>
        <p:nvSpPr>
          <p:cNvPr id="4" name="Text 2"/>
          <p:cNvSpPr/>
          <p:nvPr/>
        </p:nvSpPr>
        <p:spPr>
          <a:xfrm>
            <a:off x="457200" y="420624"/>
            <a:ext cx="7772400" cy="548640"/>
          </a:xfrm>
          <a:prstGeom prst="rect">
            <a:avLst/>
          </a:prstGeom>
          <a:noFill/>
          <a:ln/>
        </p:spPr>
        <p:txBody>
          <a:bodyPr wrap="square" rtlCol="0" anchor="ctr"/>
          <a:lstStyle/>
          <a:p>
            <a:pPr marL="0" indent="0">
              <a:buNone/>
            </a:pPr>
            <a:r>
              <a:rPr lang="en-US" sz="2400" b="1" dirty="0">
                <a:solidFill>
                  <a:srgbClr val="FFFFFF"/>
                </a:solidFill>
                <a:latin typeface="Bookman Old Style" pitchFamily="34" charset="0"/>
                <a:ea typeface="Bookman Old Style" pitchFamily="34" charset="-122"/>
                <a:cs typeface="Bookman Old Style" pitchFamily="34" charset="-120"/>
              </a:rPr>
              <a:t>Global Medal Overview</a:t>
            </a:r>
            <a:endParaRPr lang="en-US" sz="2400" dirty="0"/>
          </a:p>
        </p:txBody>
      </p:sp>
      <p:sp>
        <p:nvSpPr>
          <p:cNvPr id="5" name="Shape 3"/>
          <p:cNvSpPr/>
          <p:nvPr/>
        </p:nvSpPr>
        <p:spPr>
          <a:xfrm>
            <a:off x="10607040" y="384048"/>
            <a:ext cx="256032" cy="256032"/>
          </a:xfrm>
          <a:prstGeom prst="ellipse">
            <a:avLst/>
          </a:prstGeom>
          <a:ln w="27940">
            <a:solidFill>
              <a:srgbClr val="0081C8"/>
            </a:solidFill>
            <a:prstDash val="solid"/>
          </a:ln>
        </p:spPr>
      </p:sp>
      <p:sp>
        <p:nvSpPr>
          <p:cNvPr id="6" name="Shape 4"/>
          <p:cNvSpPr/>
          <p:nvPr/>
        </p:nvSpPr>
        <p:spPr>
          <a:xfrm>
            <a:off x="10747858" y="384048"/>
            <a:ext cx="256032" cy="256032"/>
          </a:xfrm>
          <a:prstGeom prst="ellipse">
            <a:avLst/>
          </a:prstGeom>
          <a:ln w="27940">
            <a:solidFill>
              <a:srgbClr val="FCB131"/>
            </a:solidFill>
            <a:prstDash val="solid"/>
          </a:ln>
        </p:spPr>
      </p:sp>
      <p:sp>
        <p:nvSpPr>
          <p:cNvPr id="7" name="Shape 5"/>
          <p:cNvSpPr/>
          <p:nvPr/>
        </p:nvSpPr>
        <p:spPr>
          <a:xfrm>
            <a:off x="10888675" y="384048"/>
            <a:ext cx="256032" cy="256032"/>
          </a:xfrm>
          <a:prstGeom prst="ellipse">
            <a:avLst/>
          </a:prstGeom>
          <a:ln w="27940">
            <a:solidFill>
              <a:srgbClr val="1A1A1A"/>
            </a:solidFill>
            <a:prstDash val="solid"/>
          </a:ln>
        </p:spPr>
      </p:sp>
      <p:sp>
        <p:nvSpPr>
          <p:cNvPr id="8" name="Shape 6"/>
          <p:cNvSpPr/>
          <p:nvPr/>
        </p:nvSpPr>
        <p:spPr>
          <a:xfrm>
            <a:off x="11029493" y="384048"/>
            <a:ext cx="256032" cy="256032"/>
          </a:xfrm>
          <a:prstGeom prst="ellipse">
            <a:avLst/>
          </a:prstGeom>
          <a:ln w="27940">
            <a:solidFill>
              <a:srgbClr val="00A651"/>
            </a:solidFill>
            <a:prstDash val="solid"/>
          </a:ln>
        </p:spPr>
      </p:sp>
      <p:sp>
        <p:nvSpPr>
          <p:cNvPr id="9" name="Shape 7"/>
          <p:cNvSpPr/>
          <p:nvPr/>
        </p:nvSpPr>
        <p:spPr>
          <a:xfrm>
            <a:off x="11170310" y="384048"/>
            <a:ext cx="256032" cy="256032"/>
          </a:xfrm>
          <a:prstGeom prst="ellipse">
            <a:avLst/>
          </a:prstGeom>
          <a:ln w="27940">
            <a:solidFill>
              <a:srgbClr val="EE334E"/>
            </a:solidFill>
            <a:prstDash val="solid"/>
          </a:ln>
        </p:spPr>
      </p:sp>
      <p:sp>
        <p:nvSpPr>
          <p:cNvPr id="10" name="Shape 8"/>
          <p:cNvSpPr/>
          <p:nvPr/>
        </p:nvSpPr>
        <p:spPr>
          <a:xfrm>
            <a:off x="200975" y="1140677"/>
            <a:ext cx="7437008" cy="4704241"/>
          </a:xfrm>
          <a:prstGeom prst="roundRect">
            <a:avLst>
              <a:gd name="adj" fmla="val 1075"/>
            </a:avLst>
          </a:prstGeom>
          <a:solidFill>
            <a:srgbClr val="F4F6F9"/>
          </a:solidFill>
          <a:ln w="25400">
            <a:solidFill>
              <a:srgbClr val="0081C8"/>
            </a:solidFill>
            <a:prstDash val="solid"/>
          </a:ln>
        </p:spPr>
      </p:sp>
      <p:pic>
        <p:nvPicPr>
          <p:cNvPr id="11" name="Image 0" descr="/home/claude/ppt/screens/page1_global.png"/>
          <p:cNvPicPr>
            <a:picLocks noChangeAspect="1"/>
          </p:cNvPicPr>
          <p:nvPr/>
        </p:nvPicPr>
        <p:blipFill>
          <a:blip r:embed="rId3"/>
          <a:srcRect/>
          <a:stretch/>
        </p:blipFill>
        <p:spPr>
          <a:xfrm>
            <a:off x="128321" y="1159199"/>
            <a:ext cx="7611926" cy="4645331"/>
          </a:xfrm>
          <a:prstGeom prst="rect">
            <a:avLst/>
          </a:prstGeom>
        </p:spPr>
      </p:pic>
      <p:sp>
        <p:nvSpPr>
          <p:cNvPr id="12" name="Shape 9"/>
          <p:cNvSpPr/>
          <p:nvPr/>
        </p:nvSpPr>
        <p:spPr>
          <a:xfrm>
            <a:off x="508049" y="5934036"/>
            <a:ext cx="6400800" cy="658368"/>
          </a:xfrm>
          <a:prstGeom prst="roundRect">
            <a:avLst>
              <a:gd name="adj" fmla="val 8333"/>
            </a:avLst>
          </a:prstGeom>
          <a:solidFill>
            <a:schemeClr val="accent1">
              <a:lumMod val="75000"/>
            </a:schemeClr>
          </a:solidFill>
          <a:ln/>
        </p:spPr>
      </p:sp>
      <p:sp>
        <p:nvSpPr>
          <p:cNvPr id="13" name="Text 10"/>
          <p:cNvSpPr/>
          <p:nvPr/>
        </p:nvSpPr>
        <p:spPr>
          <a:xfrm>
            <a:off x="548640" y="5844919"/>
            <a:ext cx="2103120" cy="658368"/>
          </a:xfrm>
          <a:prstGeom prst="rect">
            <a:avLst/>
          </a:prstGeom>
          <a:noFill/>
          <a:ln/>
        </p:spPr>
        <p:txBody>
          <a:bodyPr wrap="square" rtlCol="0" anchor="ctr"/>
          <a:lstStyle/>
          <a:p>
            <a:pPr marL="0" indent="0">
              <a:buNone/>
            </a:pPr>
            <a:r>
              <a:rPr lang="en-US" sz="2200" b="1" dirty="0">
                <a:solidFill>
                  <a:srgbClr val="FFFFFF"/>
                </a:solidFill>
                <a:latin typeface="Bookman Old Style" pitchFamily="34" charset="0"/>
                <a:ea typeface="Bookman Old Style" pitchFamily="34" charset="-122"/>
                <a:cs typeface="Bookman Old Style" pitchFamily="34" charset="-120"/>
              </a:rPr>
              <a:t>20,654</a:t>
            </a:r>
            <a:endParaRPr lang="en-US" sz="2200" dirty="0"/>
          </a:p>
        </p:txBody>
      </p:sp>
      <p:sp>
        <p:nvSpPr>
          <p:cNvPr id="14" name="Text 11"/>
          <p:cNvSpPr/>
          <p:nvPr/>
        </p:nvSpPr>
        <p:spPr>
          <a:xfrm>
            <a:off x="2040304" y="5934036"/>
            <a:ext cx="3886200" cy="658368"/>
          </a:xfrm>
          <a:prstGeom prst="rect">
            <a:avLst/>
          </a:prstGeom>
          <a:noFill/>
          <a:ln/>
        </p:spPr>
        <p:txBody>
          <a:bodyPr wrap="square" rtlCol="0" anchor="ctr"/>
          <a:lstStyle/>
          <a:p>
            <a:pPr marL="0" indent="0">
              <a:lnSpc>
                <a:spcPct val="105000"/>
              </a:lnSpc>
              <a:buNone/>
            </a:pPr>
            <a:r>
              <a:rPr lang="en-US" sz="1600" dirty="0">
                <a:solidFill>
                  <a:srgbClr val="FFFFFF"/>
                </a:solidFill>
                <a:latin typeface="Calibri" pitchFamily="34" charset="0"/>
                <a:ea typeface="Calibri" pitchFamily="34" charset="-122"/>
                <a:cs typeface="Calibri" pitchFamily="34" charset="-120"/>
              </a:rPr>
              <a:t>official medals awarded across every Summer &amp; Winter edition since 1896</a:t>
            </a:r>
            <a:endParaRPr lang="en-US" sz="1600" dirty="0"/>
          </a:p>
        </p:txBody>
      </p:sp>
      <p:sp>
        <p:nvSpPr>
          <p:cNvPr id="15" name="Shape 12"/>
          <p:cNvSpPr/>
          <p:nvPr/>
        </p:nvSpPr>
        <p:spPr>
          <a:xfrm>
            <a:off x="7851953" y="1293876"/>
            <a:ext cx="4211726" cy="1170432"/>
          </a:xfrm>
          <a:prstGeom prst="roundRect">
            <a:avLst>
              <a:gd name="adj" fmla="val 5469"/>
            </a:avLst>
          </a:prstGeom>
          <a:solidFill>
            <a:srgbClr val="F4F6F9"/>
          </a:solidFill>
          <a:ln/>
        </p:spPr>
      </p:sp>
      <p:sp>
        <p:nvSpPr>
          <p:cNvPr id="16" name="Shape 13"/>
          <p:cNvSpPr/>
          <p:nvPr/>
        </p:nvSpPr>
        <p:spPr>
          <a:xfrm>
            <a:off x="7860630" y="1307592"/>
            <a:ext cx="64008" cy="1170432"/>
          </a:xfrm>
          <a:prstGeom prst="roundRect">
            <a:avLst/>
          </a:prstGeom>
          <a:solidFill>
            <a:srgbClr val="0081C8"/>
          </a:solidFill>
          <a:ln/>
        </p:spPr>
      </p:sp>
      <p:sp>
        <p:nvSpPr>
          <p:cNvPr id="17" name="Shape 14"/>
          <p:cNvSpPr/>
          <p:nvPr/>
        </p:nvSpPr>
        <p:spPr>
          <a:xfrm>
            <a:off x="7999359" y="1719072"/>
            <a:ext cx="475488" cy="475488"/>
          </a:xfrm>
          <a:prstGeom prst="ellipse">
            <a:avLst/>
          </a:prstGeom>
          <a:solidFill>
            <a:srgbClr val="0081C8"/>
          </a:solidFill>
          <a:ln/>
        </p:spPr>
      </p:sp>
      <p:pic>
        <p:nvPicPr>
          <p:cNvPr id="18" name="Image 1" descr="/home/claude/ppt/icons/trophy_FFFFFF.png"/>
          <p:cNvPicPr>
            <a:picLocks noChangeAspect="1"/>
          </p:cNvPicPr>
          <p:nvPr/>
        </p:nvPicPr>
        <p:blipFill>
          <a:blip r:embed="rId4"/>
          <a:stretch>
            <a:fillRect/>
          </a:stretch>
        </p:blipFill>
        <p:spPr>
          <a:xfrm>
            <a:off x="8124836" y="1791310"/>
            <a:ext cx="261518" cy="261518"/>
          </a:xfrm>
          <a:prstGeom prst="rect">
            <a:avLst/>
          </a:prstGeom>
        </p:spPr>
      </p:pic>
      <p:sp>
        <p:nvSpPr>
          <p:cNvPr id="19" name="Text 15"/>
          <p:cNvSpPr/>
          <p:nvPr/>
        </p:nvSpPr>
        <p:spPr>
          <a:xfrm>
            <a:off x="8474847" y="1362456"/>
            <a:ext cx="3730752" cy="384048"/>
          </a:xfrm>
          <a:prstGeom prst="rect">
            <a:avLst/>
          </a:prstGeom>
          <a:noFill/>
          <a:ln/>
        </p:spPr>
        <p:txBody>
          <a:bodyPr wrap="square" rtlCol="0" anchor="ctr"/>
          <a:lstStyle/>
          <a:p>
            <a:pPr marL="0" indent="0">
              <a:buNone/>
            </a:pPr>
            <a:r>
              <a:rPr lang="en-US" sz="2000" b="1" dirty="0">
                <a:solidFill>
                  <a:srgbClr val="0081C8"/>
                </a:solidFill>
                <a:latin typeface="Bookman Old Style" pitchFamily="34" charset="0"/>
                <a:ea typeface="Bookman Old Style" pitchFamily="34" charset="-122"/>
                <a:cs typeface="Bookman Old Style" pitchFamily="34" charset="-120"/>
              </a:rPr>
              <a:t>3.0K vs 1.2K</a:t>
            </a:r>
            <a:endParaRPr lang="en-US" sz="2000" dirty="0"/>
          </a:p>
        </p:txBody>
      </p:sp>
      <p:sp>
        <p:nvSpPr>
          <p:cNvPr id="20" name="Text 16"/>
          <p:cNvSpPr/>
          <p:nvPr/>
        </p:nvSpPr>
        <p:spPr>
          <a:xfrm>
            <a:off x="8489290" y="1719072"/>
            <a:ext cx="3730752" cy="667512"/>
          </a:xfrm>
          <a:prstGeom prst="rect">
            <a:avLst/>
          </a:prstGeom>
          <a:noFill/>
          <a:ln/>
        </p:spPr>
        <p:txBody>
          <a:bodyPr wrap="square" rtlCol="0" anchor="ctr"/>
          <a:lstStyle/>
          <a:p>
            <a:pPr marL="0" indent="0">
              <a:lnSpc>
                <a:spcPct val="110000"/>
              </a:lnSpc>
              <a:buNone/>
            </a:pPr>
            <a:r>
              <a:rPr lang="en-US" sz="1400" dirty="0">
                <a:latin typeface="Calibri" pitchFamily="34" charset="0"/>
                <a:ea typeface="Calibri" pitchFamily="34" charset="-122"/>
                <a:cs typeface="Calibri" pitchFamily="34" charset="-120"/>
              </a:rPr>
              <a:t>United States dominates all-time medals — nearly 2.5x ahead of the Soviet Union in second place.</a:t>
            </a:r>
            <a:endParaRPr lang="en-US" sz="1400" dirty="0"/>
          </a:p>
        </p:txBody>
      </p:sp>
      <p:sp>
        <p:nvSpPr>
          <p:cNvPr id="21" name="Shape 17"/>
          <p:cNvSpPr/>
          <p:nvPr/>
        </p:nvSpPr>
        <p:spPr>
          <a:xfrm>
            <a:off x="7860629" y="2606040"/>
            <a:ext cx="4252427" cy="1170432"/>
          </a:xfrm>
          <a:prstGeom prst="roundRect">
            <a:avLst>
              <a:gd name="adj" fmla="val 5469"/>
            </a:avLst>
          </a:prstGeom>
          <a:solidFill>
            <a:srgbClr val="F4F6F9"/>
          </a:solidFill>
          <a:ln/>
        </p:spPr>
      </p:sp>
      <p:sp>
        <p:nvSpPr>
          <p:cNvPr id="22" name="Shape 18"/>
          <p:cNvSpPr/>
          <p:nvPr/>
        </p:nvSpPr>
        <p:spPr>
          <a:xfrm>
            <a:off x="7833029" y="2599182"/>
            <a:ext cx="64008" cy="1170432"/>
          </a:xfrm>
          <a:prstGeom prst="roundRect">
            <a:avLst/>
          </a:prstGeom>
          <a:solidFill>
            <a:srgbClr val="FCB131"/>
          </a:solidFill>
          <a:ln/>
        </p:spPr>
      </p:sp>
      <p:sp>
        <p:nvSpPr>
          <p:cNvPr id="23" name="Shape 19"/>
          <p:cNvSpPr/>
          <p:nvPr/>
        </p:nvSpPr>
        <p:spPr>
          <a:xfrm>
            <a:off x="7999358" y="3008376"/>
            <a:ext cx="445565" cy="475488"/>
          </a:xfrm>
          <a:prstGeom prst="ellipse">
            <a:avLst/>
          </a:prstGeom>
          <a:solidFill>
            <a:srgbClr val="FCB131"/>
          </a:solidFill>
          <a:ln/>
        </p:spPr>
      </p:sp>
      <p:pic>
        <p:nvPicPr>
          <p:cNvPr id="24" name="Image 2" descr="/home/claude/ppt/icons/chartline_FFFFFF.png"/>
          <p:cNvPicPr>
            <a:picLocks noChangeAspect="1"/>
          </p:cNvPicPr>
          <p:nvPr/>
        </p:nvPicPr>
        <p:blipFill>
          <a:blip r:embed="rId5"/>
          <a:stretch>
            <a:fillRect/>
          </a:stretch>
        </p:blipFill>
        <p:spPr>
          <a:xfrm>
            <a:off x="8098841" y="3115361"/>
            <a:ext cx="261518" cy="261518"/>
          </a:xfrm>
          <a:prstGeom prst="rect">
            <a:avLst/>
          </a:prstGeom>
        </p:spPr>
      </p:pic>
      <p:sp>
        <p:nvSpPr>
          <p:cNvPr id="25" name="Text 20"/>
          <p:cNvSpPr/>
          <p:nvPr/>
        </p:nvSpPr>
        <p:spPr>
          <a:xfrm>
            <a:off x="8489290" y="2634461"/>
            <a:ext cx="3730752" cy="384048"/>
          </a:xfrm>
          <a:prstGeom prst="rect">
            <a:avLst/>
          </a:prstGeom>
          <a:noFill/>
          <a:ln/>
        </p:spPr>
        <p:txBody>
          <a:bodyPr wrap="square" rtlCol="0" anchor="ctr"/>
          <a:lstStyle/>
          <a:p>
            <a:pPr marL="0" indent="0">
              <a:buNone/>
            </a:pPr>
            <a:r>
              <a:rPr lang="en-US" sz="2400" b="1" dirty="0">
                <a:solidFill>
                  <a:srgbClr val="FCB131"/>
                </a:solidFill>
                <a:latin typeface="Bookman Old Style" pitchFamily="34" charset="0"/>
                <a:ea typeface="Bookman Old Style" pitchFamily="34" charset="-122"/>
                <a:cs typeface="Bookman Old Style" pitchFamily="34" charset="-120"/>
              </a:rPr>
              <a:t>4x growth</a:t>
            </a:r>
            <a:endParaRPr lang="en-US" sz="2400" dirty="0"/>
          </a:p>
        </p:txBody>
      </p:sp>
      <p:sp>
        <p:nvSpPr>
          <p:cNvPr id="26" name="Text 21"/>
          <p:cNvSpPr/>
          <p:nvPr/>
        </p:nvSpPr>
        <p:spPr>
          <a:xfrm>
            <a:off x="8489290" y="3044952"/>
            <a:ext cx="3730752" cy="667512"/>
          </a:xfrm>
          <a:prstGeom prst="rect">
            <a:avLst/>
          </a:prstGeom>
          <a:noFill/>
          <a:ln/>
        </p:spPr>
        <p:txBody>
          <a:bodyPr wrap="square" rtlCol="0" anchor="ctr"/>
          <a:lstStyle/>
          <a:p>
            <a:pPr marL="0" indent="0">
              <a:lnSpc>
                <a:spcPct val="110000"/>
              </a:lnSpc>
              <a:buNone/>
            </a:pPr>
            <a:r>
              <a:rPr lang="en-US" sz="1400" dirty="0">
                <a:latin typeface="Calibri" pitchFamily="34" charset="0"/>
                <a:ea typeface="Calibri" pitchFamily="34" charset="-122"/>
                <a:cs typeface="Calibri" pitchFamily="34" charset="-120"/>
              </a:rPr>
              <a:t>The Olympic program has grown from ~226 events (1900) to 298 by 1992.</a:t>
            </a:r>
            <a:endParaRPr lang="en-US" sz="1400" dirty="0"/>
          </a:p>
        </p:txBody>
      </p:sp>
      <p:sp>
        <p:nvSpPr>
          <p:cNvPr id="27" name="Shape 22"/>
          <p:cNvSpPr/>
          <p:nvPr/>
        </p:nvSpPr>
        <p:spPr>
          <a:xfrm>
            <a:off x="7860629" y="3931304"/>
            <a:ext cx="4252428" cy="1170432"/>
          </a:xfrm>
          <a:prstGeom prst="roundRect">
            <a:avLst>
              <a:gd name="adj" fmla="val 5469"/>
            </a:avLst>
          </a:prstGeom>
          <a:solidFill>
            <a:srgbClr val="F4F6F9"/>
          </a:solidFill>
          <a:ln/>
        </p:spPr>
      </p:sp>
      <p:sp>
        <p:nvSpPr>
          <p:cNvPr id="28" name="Shape 23"/>
          <p:cNvSpPr/>
          <p:nvPr/>
        </p:nvSpPr>
        <p:spPr>
          <a:xfrm>
            <a:off x="7860630" y="3941064"/>
            <a:ext cx="64008" cy="1170432"/>
          </a:xfrm>
          <a:prstGeom prst="roundRect">
            <a:avLst/>
          </a:prstGeom>
          <a:solidFill>
            <a:srgbClr val="00A651"/>
          </a:solidFill>
          <a:ln/>
        </p:spPr>
      </p:sp>
      <p:sp>
        <p:nvSpPr>
          <p:cNvPr id="29" name="Shape 24"/>
          <p:cNvSpPr/>
          <p:nvPr/>
        </p:nvSpPr>
        <p:spPr>
          <a:xfrm>
            <a:off x="8076420" y="4270248"/>
            <a:ext cx="475488" cy="475488"/>
          </a:xfrm>
          <a:prstGeom prst="ellipse">
            <a:avLst/>
          </a:prstGeom>
          <a:solidFill>
            <a:srgbClr val="00A651"/>
          </a:solidFill>
          <a:ln/>
        </p:spPr>
      </p:sp>
      <p:pic>
        <p:nvPicPr>
          <p:cNvPr id="30" name="Image 3" descr="/home/claude/ppt/icons/globe_FFFFFF.png"/>
          <p:cNvPicPr>
            <a:picLocks noChangeAspect="1"/>
          </p:cNvPicPr>
          <p:nvPr/>
        </p:nvPicPr>
        <p:blipFill>
          <a:blip r:embed="rId6"/>
          <a:stretch>
            <a:fillRect/>
          </a:stretch>
        </p:blipFill>
        <p:spPr>
          <a:xfrm>
            <a:off x="8183405" y="4385761"/>
            <a:ext cx="261518" cy="261518"/>
          </a:xfrm>
          <a:prstGeom prst="rect">
            <a:avLst/>
          </a:prstGeom>
        </p:spPr>
      </p:pic>
      <p:sp>
        <p:nvSpPr>
          <p:cNvPr id="31" name="Text 25"/>
          <p:cNvSpPr/>
          <p:nvPr/>
        </p:nvSpPr>
        <p:spPr>
          <a:xfrm>
            <a:off x="8489290" y="3995928"/>
            <a:ext cx="3730752" cy="384048"/>
          </a:xfrm>
          <a:prstGeom prst="rect">
            <a:avLst/>
          </a:prstGeom>
          <a:noFill/>
          <a:ln/>
        </p:spPr>
        <p:txBody>
          <a:bodyPr wrap="square" rtlCol="0" anchor="ctr"/>
          <a:lstStyle/>
          <a:p>
            <a:pPr marL="0" indent="0">
              <a:buNone/>
            </a:pPr>
            <a:r>
              <a:rPr lang="en-US" sz="1900" b="1" dirty="0">
                <a:solidFill>
                  <a:srgbClr val="00A651"/>
                </a:solidFill>
                <a:latin typeface="Bookman Old Style" pitchFamily="34" charset="0"/>
                <a:ea typeface="Bookman Old Style" pitchFamily="34" charset="-122"/>
                <a:cs typeface="Bookman Old Style" pitchFamily="34" charset="-120"/>
              </a:rPr>
              <a:t>154 of 200+</a:t>
            </a:r>
            <a:endParaRPr lang="en-US" sz="1900" dirty="0"/>
          </a:p>
        </p:txBody>
      </p:sp>
      <p:sp>
        <p:nvSpPr>
          <p:cNvPr id="32" name="Text 26"/>
          <p:cNvSpPr/>
          <p:nvPr/>
        </p:nvSpPr>
        <p:spPr>
          <a:xfrm>
            <a:off x="8596275" y="4380349"/>
            <a:ext cx="3730752" cy="667512"/>
          </a:xfrm>
          <a:prstGeom prst="rect">
            <a:avLst/>
          </a:prstGeom>
          <a:noFill/>
          <a:ln/>
        </p:spPr>
        <p:txBody>
          <a:bodyPr wrap="square" rtlCol="0" anchor="ctr"/>
          <a:lstStyle/>
          <a:p>
            <a:pPr marL="0" indent="0">
              <a:lnSpc>
                <a:spcPct val="110000"/>
              </a:lnSpc>
              <a:buNone/>
            </a:pPr>
            <a:r>
              <a:rPr lang="en-US" sz="1400" dirty="0">
                <a:latin typeface="Calibri" pitchFamily="34" charset="0"/>
                <a:ea typeface="Calibri" pitchFamily="34" charset="-122"/>
                <a:cs typeface="Calibri" pitchFamily="34" charset="-120"/>
              </a:rPr>
              <a:t>Nations that have won at least one medal — roughly 3 in 4 competing nations have podiumed.</a:t>
            </a:r>
            <a:endParaRPr lang="en-US" sz="1400" dirty="0"/>
          </a:p>
        </p:txBody>
      </p:sp>
      <p:sp>
        <p:nvSpPr>
          <p:cNvPr id="33" name="Shape 27"/>
          <p:cNvSpPr/>
          <p:nvPr/>
        </p:nvSpPr>
        <p:spPr>
          <a:xfrm>
            <a:off x="7897036" y="5294992"/>
            <a:ext cx="4216019" cy="1170432"/>
          </a:xfrm>
          <a:prstGeom prst="roundRect">
            <a:avLst>
              <a:gd name="adj" fmla="val 5469"/>
            </a:avLst>
          </a:prstGeom>
          <a:solidFill>
            <a:srgbClr val="F4F6F9"/>
          </a:solidFill>
          <a:ln/>
        </p:spPr>
      </p:sp>
      <p:sp>
        <p:nvSpPr>
          <p:cNvPr id="34" name="Shape 28"/>
          <p:cNvSpPr/>
          <p:nvPr/>
        </p:nvSpPr>
        <p:spPr>
          <a:xfrm>
            <a:off x="7878748" y="5294992"/>
            <a:ext cx="64008" cy="1170432"/>
          </a:xfrm>
          <a:prstGeom prst="roundRect">
            <a:avLst/>
          </a:prstGeom>
          <a:solidFill>
            <a:srgbClr val="EE334E"/>
          </a:solidFill>
          <a:ln/>
        </p:spPr>
      </p:sp>
      <p:sp>
        <p:nvSpPr>
          <p:cNvPr id="35" name="Shape 29"/>
          <p:cNvSpPr/>
          <p:nvPr/>
        </p:nvSpPr>
        <p:spPr>
          <a:xfrm>
            <a:off x="8071408" y="5622329"/>
            <a:ext cx="475488" cy="475488"/>
          </a:xfrm>
          <a:prstGeom prst="ellipse">
            <a:avLst/>
          </a:prstGeom>
          <a:solidFill>
            <a:srgbClr val="EE334E"/>
          </a:solidFill>
          <a:ln/>
        </p:spPr>
      </p:sp>
      <p:pic>
        <p:nvPicPr>
          <p:cNvPr id="36" name="Image 4" descr="/home/claude/ppt/icons/calendar_FFFFFF.png"/>
          <p:cNvPicPr>
            <a:picLocks noChangeAspect="1"/>
          </p:cNvPicPr>
          <p:nvPr/>
        </p:nvPicPr>
        <p:blipFill>
          <a:blip r:embed="rId7"/>
          <a:stretch>
            <a:fillRect/>
          </a:stretch>
        </p:blipFill>
        <p:spPr>
          <a:xfrm>
            <a:off x="8169697" y="5714160"/>
            <a:ext cx="261518" cy="261518"/>
          </a:xfrm>
          <a:prstGeom prst="rect">
            <a:avLst/>
          </a:prstGeom>
        </p:spPr>
      </p:pic>
      <p:sp>
        <p:nvSpPr>
          <p:cNvPr id="37" name="Text 30"/>
          <p:cNvSpPr/>
          <p:nvPr/>
        </p:nvSpPr>
        <p:spPr>
          <a:xfrm>
            <a:off x="8546896" y="5367528"/>
            <a:ext cx="3730752" cy="384048"/>
          </a:xfrm>
          <a:prstGeom prst="rect">
            <a:avLst/>
          </a:prstGeom>
          <a:noFill/>
          <a:ln/>
        </p:spPr>
        <p:txBody>
          <a:bodyPr wrap="square" rtlCol="0" anchor="ctr"/>
          <a:lstStyle/>
          <a:p>
            <a:pPr marL="0" indent="0">
              <a:buNone/>
            </a:pPr>
            <a:r>
              <a:rPr lang="en-US" sz="1900" b="1" dirty="0">
                <a:solidFill>
                  <a:srgbClr val="EE334E"/>
                </a:solidFill>
                <a:latin typeface="Bookman Old Style" pitchFamily="34" charset="0"/>
                <a:ea typeface="Bookman Old Style" pitchFamily="34" charset="-122"/>
                <a:cs typeface="Bookman Old Style" pitchFamily="34" charset="-120"/>
              </a:rPr>
              <a:t>2 World Wars</a:t>
            </a:r>
            <a:endParaRPr lang="en-US" sz="1900" dirty="0"/>
          </a:p>
        </p:txBody>
      </p:sp>
      <p:sp>
        <p:nvSpPr>
          <p:cNvPr id="38" name="Text 31"/>
          <p:cNvSpPr/>
          <p:nvPr/>
        </p:nvSpPr>
        <p:spPr>
          <a:xfrm>
            <a:off x="8525483" y="5683612"/>
            <a:ext cx="3730752" cy="667512"/>
          </a:xfrm>
          <a:prstGeom prst="rect">
            <a:avLst/>
          </a:prstGeom>
          <a:noFill/>
          <a:ln/>
        </p:spPr>
        <p:txBody>
          <a:bodyPr wrap="square" rtlCol="0" anchor="ctr"/>
          <a:lstStyle/>
          <a:p>
            <a:pPr marL="0" indent="0">
              <a:lnSpc>
                <a:spcPct val="110000"/>
              </a:lnSpc>
              <a:buNone/>
            </a:pPr>
            <a:r>
              <a:rPr lang="en-US" sz="1400" dirty="0">
                <a:latin typeface="Calibri" pitchFamily="34" charset="0"/>
                <a:ea typeface="Calibri" pitchFamily="34" charset="-122"/>
                <a:cs typeface="Calibri" pitchFamily="34" charset="-120"/>
              </a:rPr>
              <a:t>Visible gaps in 1916, 1940 &amp; 1944 mark real historical cancellations.</a:t>
            </a:r>
            <a:endParaRPr lang="en-US" sz="1400" dirty="0"/>
          </a:p>
        </p:txBody>
      </p:sp>
      <p:sp>
        <p:nvSpPr>
          <p:cNvPr id="39" name="Text 32"/>
          <p:cNvSpPr/>
          <p:nvPr/>
        </p:nvSpPr>
        <p:spPr>
          <a:xfrm>
            <a:off x="457200" y="6583680"/>
            <a:ext cx="7315200" cy="274320"/>
          </a:xfrm>
          <a:prstGeom prst="rect">
            <a:avLst/>
          </a:prstGeom>
          <a:noFill/>
          <a:ln/>
        </p:spPr>
        <p:txBody>
          <a:bodyPr wrap="square" rtlCol="0" anchor="ctr"/>
          <a:lstStyle/>
          <a:p>
            <a:pPr marL="0" indent="0">
              <a:buNone/>
            </a:pPr>
            <a:r>
              <a:rPr lang="en-US" sz="1000" kern="0" spc="100" dirty="0">
                <a:solidFill>
                  <a:srgbClr val="9AA6B8"/>
                </a:solidFill>
                <a:latin typeface="Calibri" pitchFamily="34" charset="0"/>
                <a:ea typeface="Calibri" pitchFamily="34" charset="-122"/>
                <a:cs typeface="Calibri" pitchFamily="34" charset="-120"/>
              </a:rPr>
              <a:t>OLYMPIC INSIGHTS  |  POWER BI ANALYTICS PROJECT</a:t>
            </a:r>
            <a:endParaRPr lang="en-US" sz="1000" dirty="0"/>
          </a:p>
        </p:txBody>
      </p:sp>
      <p:sp>
        <p:nvSpPr>
          <p:cNvPr id="40" name="Text 33"/>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oundRect">
            <a:avLst/>
          </a:prstGeom>
          <a:solidFill>
            <a:schemeClr val="bg1">
              <a:lumMod val="50000"/>
            </a:schemeClr>
          </a:solidFill>
          <a:ln/>
        </p:spPr>
      </p:sp>
      <p:sp>
        <p:nvSpPr>
          <p:cNvPr id="3" name="Text 1"/>
          <p:cNvSpPr/>
          <p:nvPr/>
        </p:nvSpPr>
        <p:spPr>
          <a:xfrm>
            <a:off x="457200" y="146304"/>
            <a:ext cx="5486400" cy="292608"/>
          </a:xfrm>
          <a:prstGeom prst="rect">
            <a:avLst/>
          </a:prstGeom>
          <a:noFill/>
          <a:ln/>
        </p:spPr>
        <p:txBody>
          <a:bodyPr wrap="square" rtlCol="0" anchor="ctr"/>
          <a:lstStyle/>
          <a:p>
            <a:pPr marL="0" indent="0">
              <a:buNone/>
            </a:pPr>
            <a:r>
              <a:rPr lang="en-US" b="1" kern="0" spc="200" dirty="0">
                <a:solidFill>
                  <a:schemeClr val="bg1"/>
                </a:solidFill>
                <a:latin typeface="Calibri" pitchFamily="34" charset="0"/>
                <a:ea typeface="Calibri" pitchFamily="34" charset="-122"/>
                <a:cs typeface="Calibri" pitchFamily="34" charset="-120"/>
              </a:rPr>
              <a:t>DASHBOARD PAGE 2</a:t>
            </a:r>
            <a:endParaRPr lang="en-US" dirty="0">
              <a:solidFill>
                <a:schemeClr val="bg1"/>
              </a:solidFill>
            </a:endParaRPr>
          </a:p>
        </p:txBody>
      </p:sp>
      <p:sp>
        <p:nvSpPr>
          <p:cNvPr id="4" name="Text 2"/>
          <p:cNvSpPr/>
          <p:nvPr/>
        </p:nvSpPr>
        <p:spPr>
          <a:xfrm>
            <a:off x="457200" y="420624"/>
            <a:ext cx="7772400" cy="548640"/>
          </a:xfrm>
          <a:prstGeom prst="rect">
            <a:avLst/>
          </a:prstGeom>
          <a:noFill/>
          <a:ln/>
        </p:spPr>
        <p:txBody>
          <a:bodyPr wrap="square" rtlCol="0" anchor="ctr"/>
          <a:lstStyle/>
          <a:p>
            <a:pPr marL="0" indent="0">
              <a:buNone/>
            </a:pPr>
            <a:r>
              <a:rPr lang="en-US" sz="2800" b="1" dirty="0">
                <a:solidFill>
                  <a:srgbClr val="FFFFFF"/>
                </a:solidFill>
                <a:latin typeface="Bookman Old Style" pitchFamily="34" charset="0"/>
                <a:ea typeface="Bookman Old Style" pitchFamily="34" charset="-122"/>
                <a:cs typeface="Bookman Old Style" pitchFamily="34" charset="-120"/>
              </a:rPr>
              <a:t>Country Insights</a:t>
            </a:r>
            <a:endParaRPr lang="en-US" sz="2800" dirty="0"/>
          </a:p>
        </p:txBody>
      </p:sp>
      <p:sp>
        <p:nvSpPr>
          <p:cNvPr id="5" name="Shape 3"/>
          <p:cNvSpPr/>
          <p:nvPr/>
        </p:nvSpPr>
        <p:spPr>
          <a:xfrm>
            <a:off x="10607040" y="384048"/>
            <a:ext cx="256032" cy="256032"/>
          </a:xfrm>
          <a:prstGeom prst="ellipse">
            <a:avLst/>
          </a:prstGeom>
          <a:ln w="27940">
            <a:solidFill>
              <a:srgbClr val="0081C8"/>
            </a:solidFill>
            <a:prstDash val="solid"/>
          </a:ln>
        </p:spPr>
      </p:sp>
      <p:sp>
        <p:nvSpPr>
          <p:cNvPr id="6" name="Shape 4"/>
          <p:cNvSpPr/>
          <p:nvPr/>
        </p:nvSpPr>
        <p:spPr>
          <a:xfrm>
            <a:off x="10747858" y="384048"/>
            <a:ext cx="256032" cy="256032"/>
          </a:xfrm>
          <a:prstGeom prst="ellipse">
            <a:avLst/>
          </a:prstGeom>
          <a:ln w="27940">
            <a:solidFill>
              <a:srgbClr val="FCB131"/>
            </a:solidFill>
            <a:prstDash val="solid"/>
          </a:ln>
        </p:spPr>
      </p:sp>
      <p:sp>
        <p:nvSpPr>
          <p:cNvPr id="7" name="Shape 5"/>
          <p:cNvSpPr/>
          <p:nvPr/>
        </p:nvSpPr>
        <p:spPr>
          <a:xfrm>
            <a:off x="10888675" y="384048"/>
            <a:ext cx="256032" cy="256032"/>
          </a:xfrm>
          <a:prstGeom prst="ellipse">
            <a:avLst/>
          </a:prstGeom>
          <a:ln w="27940">
            <a:solidFill>
              <a:srgbClr val="1A1A1A"/>
            </a:solidFill>
            <a:prstDash val="solid"/>
          </a:ln>
        </p:spPr>
      </p:sp>
      <p:sp>
        <p:nvSpPr>
          <p:cNvPr id="8" name="Shape 6"/>
          <p:cNvSpPr/>
          <p:nvPr/>
        </p:nvSpPr>
        <p:spPr>
          <a:xfrm>
            <a:off x="11029493" y="384048"/>
            <a:ext cx="256032" cy="256032"/>
          </a:xfrm>
          <a:prstGeom prst="ellipse">
            <a:avLst/>
          </a:prstGeom>
          <a:ln w="27940">
            <a:solidFill>
              <a:srgbClr val="00A651"/>
            </a:solidFill>
            <a:prstDash val="solid"/>
          </a:ln>
        </p:spPr>
      </p:sp>
      <p:sp>
        <p:nvSpPr>
          <p:cNvPr id="9" name="Shape 7"/>
          <p:cNvSpPr/>
          <p:nvPr/>
        </p:nvSpPr>
        <p:spPr>
          <a:xfrm>
            <a:off x="11170310" y="384048"/>
            <a:ext cx="256032" cy="256032"/>
          </a:xfrm>
          <a:prstGeom prst="ellipse">
            <a:avLst/>
          </a:prstGeom>
          <a:ln w="27940">
            <a:solidFill>
              <a:srgbClr val="EE334E"/>
            </a:solidFill>
            <a:prstDash val="solid"/>
          </a:ln>
        </p:spPr>
      </p:sp>
      <p:sp>
        <p:nvSpPr>
          <p:cNvPr id="10" name="Shape 8"/>
          <p:cNvSpPr/>
          <p:nvPr/>
        </p:nvSpPr>
        <p:spPr>
          <a:xfrm>
            <a:off x="97604" y="1243584"/>
            <a:ext cx="7422102" cy="4510791"/>
          </a:xfrm>
          <a:prstGeom prst="roundRect">
            <a:avLst>
              <a:gd name="adj" fmla="val 1075"/>
            </a:avLst>
          </a:prstGeom>
          <a:solidFill>
            <a:srgbClr val="F4F6F9"/>
          </a:solidFill>
          <a:ln w="25400">
            <a:solidFill>
              <a:srgbClr val="FCB131"/>
            </a:solidFill>
            <a:prstDash val="solid"/>
          </a:ln>
        </p:spPr>
      </p:sp>
      <p:pic>
        <p:nvPicPr>
          <p:cNvPr id="11" name="Image 0" descr="/home/claude/ppt/screens/page2_country.png"/>
          <p:cNvPicPr>
            <a:picLocks noChangeAspect="1"/>
          </p:cNvPicPr>
          <p:nvPr/>
        </p:nvPicPr>
        <p:blipFill>
          <a:blip r:embed="rId3"/>
          <a:srcRect/>
          <a:stretch/>
        </p:blipFill>
        <p:spPr>
          <a:xfrm>
            <a:off x="133536" y="1291697"/>
            <a:ext cx="7386170" cy="4414564"/>
          </a:xfrm>
          <a:prstGeom prst="rect">
            <a:avLst/>
          </a:prstGeom>
        </p:spPr>
      </p:pic>
      <p:sp>
        <p:nvSpPr>
          <p:cNvPr id="12" name="Shape 9"/>
          <p:cNvSpPr/>
          <p:nvPr/>
        </p:nvSpPr>
        <p:spPr>
          <a:xfrm>
            <a:off x="133536" y="5925312"/>
            <a:ext cx="7386170" cy="658368"/>
          </a:xfrm>
          <a:prstGeom prst="roundRect">
            <a:avLst>
              <a:gd name="adj" fmla="val 8333"/>
            </a:avLst>
          </a:prstGeom>
          <a:solidFill>
            <a:srgbClr val="FCB131"/>
          </a:solidFill>
          <a:ln/>
        </p:spPr>
      </p:sp>
      <p:sp>
        <p:nvSpPr>
          <p:cNvPr id="13" name="Text 10"/>
          <p:cNvSpPr/>
          <p:nvPr/>
        </p:nvSpPr>
        <p:spPr>
          <a:xfrm>
            <a:off x="477498" y="5897880"/>
            <a:ext cx="2103120" cy="658368"/>
          </a:xfrm>
          <a:prstGeom prst="rect">
            <a:avLst/>
          </a:prstGeom>
          <a:noFill/>
          <a:ln/>
        </p:spPr>
        <p:txBody>
          <a:bodyPr wrap="square" rtlCol="0" anchor="ctr"/>
          <a:lstStyle/>
          <a:p>
            <a:pPr marL="0" indent="0">
              <a:buNone/>
            </a:pPr>
            <a:r>
              <a:rPr lang="en-US" sz="2400" b="1" dirty="0">
                <a:solidFill>
                  <a:srgbClr val="FFFFFF"/>
                </a:solidFill>
                <a:latin typeface="Bookman Old Style" pitchFamily="34" charset="0"/>
                <a:ea typeface="Bookman Old Style" pitchFamily="34" charset="-122"/>
                <a:cs typeface="Bookman Old Style" pitchFamily="34" charset="-120"/>
              </a:rPr>
              <a:t>13.35</a:t>
            </a:r>
            <a:endParaRPr lang="en-US" sz="2400" dirty="0"/>
          </a:p>
        </p:txBody>
      </p:sp>
      <p:sp>
        <p:nvSpPr>
          <p:cNvPr id="14" name="Text 11"/>
          <p:cNvSpPr/>
          <p:nvPr/>
        </p:nvSpPr>
        <p:spPr>
          <a:xfrm>
            <a:off x="1738173" y="5901985"/>
            <a:ext cx="3886200" cy="658368"/>
          </a:xfrm>
          <a:prstGeom prst="rect">
            <a:avLst/>
          </a:prstGeom>
          <a:noFill/>
          <a:ln/>
        </p:spPr>
        <p:txBody>
          <a:bodyPr wrap="square" rtlCol="0" anchor="ctr"/>
          <a:lstStyle/>
          <a:p>
            <a:pPr marL="0" indent="0">
              <a:lnSpc>
                <a:spcPct val="105000"/>
              </a:lnSpc>
              <a:buNone/>
            </a:pPr>
            <a:r>
              <a:rPr lang="en-US" sz="1600" dirty="0">
                <a:solidFill>
                  <a:srgbClr val="FFFFFF"/>
                </a:solidFill>
                <a:latin typeface="Calibri" pitchFamily="34" charset="0"/>
                <a:ea typeface="Calibri" pitchFamily="34" charset="-122"/>
                <a:cs typeface="Calibri" pitchFamily="34" charset="-120"/>
              </a:rPr>
              <a:t>medals won per 100 athletes sent — the global medal-efficiency benchmark</a:t>
            </a:r>
            <a:endParaRPr lang="en-US" sz="1600" dirty="0"/>
          </a:p>
        </p:txBody>
      </p:sp>
      <p:sp>
        <p:nvSpPr>
          <p:cNvPr id="15" name="Shape 12"/>
          <p:cNvSpPr/>
          <p:nvPr/>
        </p:nvSpPr>
        <p:spPr>
          <a:xfrm>
            <a:off x="7678548" y="1282148"/>
            <a:ext cx="4415847" cy="1170432"/>
          </a:xfrm>
          <a:prstGeom prst="roundRect">
            <a:avLst>
              <a:gd name="adj" fmla="val 5469"/>
            </a:avLst>
          </a:prstGeom>
          <a:solidFill>
            <a:srgbClr val="F4F6F9"/>
          </a:solidFill>
          <a:ln/>
        </p:spPr>
        <p:txBody>
          <a:bodyPr/>
          <a:lstStyle/>
          <a:p>
            <a:endParaRPr lang="en-IN" dirty="0"/>
          </a:p>
        </p:txBody>
      </p:sp>
      <p:sp>
        <p:nvSpPr>
          <p:cNvPr id="16" name="Shape 13"/>
          <p:cNvSpPr/>
          <p:nvPr/>
        </p:nvSpPr>
        <p:spPr>
          <a:xfrm>
            <a:off x="7660764" y="1289304"/>
            <a:ext cx="64008" cy="1170432"/>
          </a:xfrm>
          <a:prstGeom prst="roundRect">
            <a:avLst/>
          </a:prstGeom>
          <a:solidFill>
            <a:srgbClr val="FCB131"/>
          </a:solidFill>
          <a:ln/>
        </p:spPr>
      </p:sp>
      <p:sp>
        <p:nvSpPr>
          <p:cNvPr id="17" name="Shape 14"/>
          <p:cNvSpPr/>
          <p:nvPr/>
        </p:nvSpPr>
        <p:spPr>
          <a:xfrm>
            <a:off x="7852224" y="1722650"/>
            <a:ext cx="475488" cy="475488"/>
          </a:xfrm>
          <a:prstGeom prst="ellipse">
            <a:avLst/>
          </a:prstGeom>
          <a:solidFill>
            <a:srgbClr val="FCB131"/>
          </a:solidFill>
          <a:ln/>
        </p:spPr>
      </p:sp>
      <p:pic>
        <p:nvPicPr>
          <p:cNvPr id="18" name="Image 1" descr="/home/claude/ppt/icons/medal_FFFFFF.png"/>
          <p:cNvPicPr>
            <a:picLocks noChangeAspect="1"/>
          </p:cNvPicPr>
          <p:nvPr/>
        </p:nvPicPr>
        <p:blipFill>
          <a:blip r:embed="rId4"/>
          <a:stretch>
            <a:fillRect/>
          </a:stretch>
        </p:blipFill>
        <p:spPr>
          <a:xfrm>
            <a:off x="7968082" y="1819656"/>
            <a:ext cx="261518" cy="261518"/>
          </a:xfrm>
          <a:prstGeom prst="rect">
            <a:avLst/>
          </a:prstGeom>
        </p:spPr>
      </p:pic>
      <p:sp>
        <p:nvSpPr>
          <p:cNvPr id="19" name="Text 15"/>
          <p:cNvSpPr/>
          <p:nvPr/>
        </p:nvSpPr>
        <p:spPr>
          <a:xfrm>
            <a:off x="8327712" y="1310391"/>
            <a:ext cx="3730752" cy="384048"/>
          </a:xfrm>
          <a:prstGeom prst="rect">
            <a:avLst/>
          </a:prstGeom>
          <a:noFill/>
          <a:ln/>
        </p:spPr>
        <p:txBody>
          <a:bodyPr wrap="square" rtlCol="0" anchor="ctr"/>
          <a:lstStyle/>
          <a:p>
            <a:pPr marL="0" indent="0">
              <a:buNone/>
            </a:pPr>
            <a:r>
              <a:rPr lang="en-US" sz="1900" b="1" dirty="0">
                <a:solidFill>
                  <a:srgbClr val="FCB131"/>
                </a:solidFill>
                <a:latin typeface="Bookman Old Style" pitchFamily="34" charset="0"/>
                <a:ea typeface="Bookman Old Style" pitchFamily="34" charset="-122"/>
                <a:cs typeface="Bookman Old Style" pitchFamily="34" charset="-120"/>
              </a:rPr>
              <a:t>Cuba: 235</a:t>
            </a:r>
            <a:endParaRPr lang="en-US" sz="1900" dirty="0"/>
          </a:p>
        </p:txBody>
      </p:sp>
      <p:sp>
        <p:nvSpPr>
          <p:cNvPr id="20" name="Text 16"/>
          <p:cNvSpPr/>
          <p:nvPr/>
        </p:nvSpPr>
        <p:spPr>
          <a:xfrm>
            <a:off x="8363644" y="1682496"/>
            <a:ext cx="3730752" cy="667512"/>
          </a:xfrm>
          <a:prstGeom prst="rect">
            <a:avLst/>
          </a:prstGeom>
          <a:noFill/>
          <a:ln/>
        </p:spPr>
        <p:txBody>
          <a:bodyPr wrap="square" rtlCol="0" anchor="ctr"/>
          <a:lstStyle/>
          <a:p>
            <a:pPr marL="0" indent="0">
              <a:lnSpc>
                <a:spcPct val="110000"/>
              </a:lnSpc>
              <a:buNone/>
            </a:pPr>
            <a:r>
              <a:rPr lang="en-US" sz="1400" dirty="0">
                <a:latin typeface="Calibri" pitchFamily="34" charset="0"/>
                <a:ea typeface="Calibri" pitchFamily="34" charset="-122"/>
                <a:cs typeface="Calibri" pitchFamily="34" charset="-120"/>
              </a:rPr>
              <a:t>Medals climbed from single digits pre-1960 to a peak of 31 in 1992, tracking state-sponsored sport investment.</a:t>
            </a:r>
            <a:endParaRPr lang="en-US" sz="1400" dirty="0"/>
          </a:p>
        </p:txBody>
      </p:sp>
      <p:sp>
        <p:nvSpPr>
          <p:cNvPr id="21" name="Shape 17"/>
          <p:cNvSpPr/>
          <p:nvPr/>
        </p:nvSpPr>
        <p:spPr>
          <a:xfrm>
            <a:off x="7637981" y="2596896"/>
            <a:ext cx="4456413" cy="1170432"/>
          </a:xfrm>
          <a:prstGeom prst="roundRect">
            <a:avLst>
              <a:gd name="adj" fmla="val 5469"/>
            </a:avLst>
          </a:prstGeom>
          <a:solidFill>
            <a:srgbClr val="F4F6F9"/>
          </a:solidFill>
          <a:ln/>
        </p:spPr>
      </p:sp>
      <p:sp>
        <p:nvSpPr>
          <p:cNvPr id="22" name="Shape 18"/>
          <p:cNvSpPr/>
          <p:nvPr/>
        </p:nvSpPr>
        <p:spPr>
          <a:xfrm>
            <a:off x="7664552" y="2587752"/>
            <a:ext cx="64008" cy="1170432"/>
          </a:xfrm>
          <a:prstGeom prst="roundRect">
            <a:avLst/>
          </a:prstGeom>
          <a:solidFill>
            <a:srgbClr val="0081C8"/>
          </a:solidFill>
          <a:ln/>
        </p:spPr>
      </p:sp>
      <p:sp>
        <p:nvSpPr>
          <p:cNvPr id="23" name="Shape 19"/>
          <p:cNvSpPr/>
          <p:nvPr/>
        </p:nvSpPr>
        <p:spPr>
          <a:xfrm>
            <a:off x="7851524" y="3025358"/>
            <a:ext cx="475488" cy="475488"/>
          </a:xfrm>
          <a:prstGeom prst="ellipse">
            <a:avLst/>
          </a:prstGeom>
          <a:solidFill>
            <a:srgbClr val="0081C8"/>
          </a:solidFill>
          <a:ln/>
        </p:spPr>
      </p:sp>
      <p:pic>
        <p:nvPicPr>
          <p:cNvPr id="24" name="Image 2" descr="/home/claude/ppt/icons/running_FFFFFF.png"/>
          <p:cNvPicPr>
            <a:picLocks noChangeAspect="1"/>
          </p:cNvPicPr>
          <p:nvPr/>
        </p:nvPicPr>
        <p:blipFill>
          <a:blip r:embed="rId5"/>
          <a:stretch>
            <a:fillRect/>
          </a:stretch>
        </p:blipFill>
        <p:spPr>
          <a:xfrm>
            <a:off x="7961754" y="3130906"/>
            <a:ext cx="261518" cy="261518"/>
          </a:xfrm>
          <a:prstGeom prst="rect">
            <a:avLst/>
          </a:prstGeom>
        </p:spPr>
      </p:pic>
      <p:sp>
        <p:nvSpPr>
          <p:cNvPr id="25" name="Text 20"/>
          <p:cNvSpPr/>
          <p:nvPr/>
        </p:nvSpPr>
        <p:spPr>
          <a:xfrm>
            <a:off x="8363643" y="2651760"/>
            <a:ext cx="3730752" cy="384048"/>
          </a:xfrm>
          <a:prstGeom prst="rect">
            <a:avLst/>
          </a:prstGeom>
          <a:noFill/>
          <a:ln/>
        </p:spPr>
        <p:txBody>
          <a:bodyPr wrap="square" rtlCol="0" anchor="ctr"/>
          <a:lstStyle/>
          <a:p>
            <a:pPr marL="0" indent="0">
              <a:buNone/>
            </a:pPr>
            <a:r>
              <a:rPr lang="en-US" sz="1900" b="1" dirty="0">
                <a:solidFill>
                  <a:srgbClr val="0081C8"/>
                </a:solidFill>
                <a:latin typeface="Bookman Old Style" pitchFamily="34" charset="0"/>
                <a:ea typeface="Bookman Old Style" pitchFamily="34" charset="-122"/>
                <a:cs typeface="Bookman Old Style" pitchFamily="34" charset="-120"/>
              </a:rPr>
              <a:t>3,151 medals</a:t>
            </a:r>
            <a:endParaRPr lang="en-US" sz="1900" dirty="0"/>
          </a:p>
        </p:txBody>
      </p:sp>
      <p:sp>
        <p:nvSpPr>
          <p:cNvPr id="26" name="Text 21"/>
          <p:cNvSpPr/>
          <p:nvPr/>
        </p:nvSpPr>
        <p:spPr>
          <a:xfrm>
            <a:off x="8363644" y="3024985"/>
            <a:ext cx="3730752" cy="667512"/>
          </a:xfrm>
          <a:prstGeom prst="rect">
            <a:avLst/>
          </a:prstGeom>
          <a:noFill/>
          <a:ln/>
        </p:spPr>
        <p:txBody>
          <a:bodyPr wrap="square" rtlCol="0" anchor="ctr"/>
          <a:lstStyle/>
          <a:p>
            <a:pPr marL="0" indent="0">
              <a:lnSpc>
                <a:spcPct val="110000"/>
              </a:lnSpc>
              <a:buNone/>
            </a:pPr>
            <a:r>
              <a:rPr lang="en-US" sz="1400" dirty="0">
                <a:latin typeface="Calibri" pitchFamily="34" charset="0"/>
                <a:ea typeface="Calibri" pitchFamily="34" charset="-122"/>
                <a:cs typeface="Calibri" pitchFamily="34" charset="-120"/>
              </a:rPr>
              <a:t>Athletics is the single largest medal-generating sport — more than double the next closest (Shooting).</a:t>
            </a:r>
            <a:endParaRPr lang="en-US" sz="1400" dirty="0"/>
          </a:p>
        </p:txBody>
      </p:sp>
      <p:sp>
        <p:nvSpPr>
          <p:cNvPr id="27" name="Shape 22"/>
          <p:cNvSpPr/>
          <p:nvPr/>
        </p:nvSpPr>
        <p:spPr>
          <a:xfrm>
            <a:off x="7664552" y="3941064"/>
            <a:ext cx="4429844" cy="1170432"/>
          </a:xfrm>
          <a:prstGeom prst="roundRect">
            <a:avLst>
              <a:gd name="adj" fmla="val 5469"/>
            </a:avLst>
          </a:prstGeom>
          <a:solidFill>
            <a:srgbClr val="F4F6F9"/>
          </a:solidFill>
          <a:ln/>
        </p:spPr>
      </p:sp>
      <p:sp>
        <p:nvSpPr>
          <p:cNvPr id="28" name="Shape 23"/>
          <p:cNvSpPr/>
          <p:nvPr/>
        </p:nvSpPr>
        <p:spPr>
          <a:xfrm>
            <a:off x="7677242" y="3948528"/>
            <a:ext cx="64008" cy="1170432"/>
          </a:xfrm>
          <a:prstGeom prst="roundRect">
            <a:avLst/>
          </a:prstGeom>
          <a:solidFill>
            <a:srgbClr val="00A651"/>
          </a:solidFill>
          <a:ln/>
        </p:spPr>
      </p:sp>
      <p:sp>
        <p:nvSpPr>
          <p:cNvPr id="29" name="Shape 24"/>
          <p:cNvSpPr/>
          <p:nvPr/>
        </p:nvSpPr>
        <p:spPr>
          <a:xfrm>
            <a:off x="7869122" y="4346199"/>
            <a:ext cx="475488" cy="475488"/>
          </a:xfrm>
          <a:prstGeom prst="ellipse">
            <a:avLst/>
          </a:prstGeom>
          <a:solidFill>
            <a:srgbClr val="00A651"/>
          </a:solidFill>
          <a:ln/>
        </p:spPr>
      </p:sp>
      <p:pic>
        <p:nvPicPr>
          <p:cNvPr id="30" name="Image 3" descr="/home/claude/ppt/icons/piechart_FFFFFF.png"/>
          <p:cNvPicPr>
            <a:picLocks noChangeAspect="1"/>
          </p:cNvPicPr>
          <p:nvPr/>
        </p:nvPicPr>
        <p:blipFill>
          <a:blip r:embed="rId6"/>
          <a:stretch>
            <a:fillRect/>
          </a:stretch>
        </p:blipFill>
        <p:spPr>
          <a:xfrm>
            <a:off x="7995299" y="4459529"/>
            <a:ext cx="261518" cy="261518"/>
          </a:xfrm>
          <a:prstGeom prst="rect">
            <a:avLst/>
          </a:prstGeom>
        </p:spPr>
      </p:pic>
      <p:sp>
        <p:nvSpPr>
          <p:cNvPr id="31" name="Text 25"/>
          <p:cNvSpPr/>
          <p:nvPr/>
        </p:nvSpPr>
        <p:spPr>
          <a:xfrm>
            <a:off x="8363644" y="4015895"/>
            <a:ext cx="3730752" cy="384048"/>
          </a:xfrm>
          <a:prstGeom prst="rect">
            <a:avLst/>
          </a:prstGeom>
          <a:noFill/>
          <a:ln/>
        </p:spPr>
        <p:txBody>
          <a:bodyPr wrap="square" rtlCol="0" anchor="ctr"/>
          <a:lstStyle/>
          <a:p>
            <a:pPr marL="0" indent="0">
              <a:buNone/>
            </a:pPr>
            <a:r>
              <a:rPr lang="en-US" sz="1900" b="1" dirty="0">
                <a:solidFill>
                  <a:srgbClr val="00A651"/>
                </a:solidFill>
                <a:latin typeface="Bookman Old Style" pitchFamily="34" charset="0"/>
                <a:ea typeface="Bookman Old Style" pitchFamily="34" charset="-122"/>
                <a:cs typeface="Bookman Old Style" pitchFamily="34" charset="-120"/>
              </a:rPr>
              <a:t>32.7/32.6/34.7%</a:t>
            </a:r>
            <a:endParaRPr lang="en-US" sz="1900" dirty="0"/>
          </a:p>
        </p:txBody>
      </p:sp>
      <p:sp>
        <p:nvSpPr>
          <p:cNvPr id="32" name="Text 26"/>
          <p:cNvSpPr/>
          <p:nvPr/>
        </p:nvSpPr>
        <p:spPr>
          <a:xfrm>
            <a:off x="8375960" y="4347972"/>
            <a:ext cx="3730752" cy="667512"/>
          </a:xfrm>
          <a:prstGeom prst="rect">
            <a:avLst/>
          </a:prstGeom>
          <a:noFill/>
          <a:ln/>
        </p:spPr>
        <p:txBody>
          <a:bodyPr wrap="square" rtlCol="0" anchor="ctr"/>
          <a:lstStyle/>
          <a:p>
            <a:pPr marL="0" indent="0">
              <a:lnSpc>
                <a:spcPct val="110000"/>
              </a:lnSpc>
              <a:buNone/>
            </a:pPr>
            <a:r>
              <a:rPr lang="en-US" sz="1400" dirty="0">
                <a:latin typeface="Calibri" pitchFamily="34" charset="0"/>
                <a:ea typeface="Calibri" pitchFamily="34" charset="-122"/>
                <a:cs typeface="Calibri" pitchFamily="34" charset="-120"/>
              </a:rPr>
              <a:t>Gold, Silver &amp; Bronze are almost perfectly balanced across all nations — no systemic skew.</a:t>
            </a:r>
            <a:endParaRPr lang="en-US" sz="1400" dirty="0"/>
          </a:p>
        </p:txBody>
      </p:sp>
      <p:sp>
        <p:nvSpPr>
          <p:cNvPr id="33" name="Shape 27"/>
          <p:cNvSpPr/>
          <p:nvPr/>
        </p:nvSpPr>
        <p:spPr>
          <a:xfrm>
            <a:off x="7660763" y="5312664"/>
            <a:ext cx="4452293" cy="1170432"/>
          </a:xfrm>
          <a:prstGeom prst="roundRect">
            <a:avLst>
              <a:gd name="adj" fmla="val 5469"/>
            </a:avLst>
          </a:prstGeom>
          <a:solidFill>
            <a:srgbClr val="F4F6F9"/>
          </a:solidFill>
          <a:ln/>
        </p:spPr>
      </p:sp>
      <p:sp>
        <p:nvSpPr>
          <p:cNvPr id="34" name="Shape 28"/>
          <p:cNvSpPr/>
          <p:nvPr/>
        </p:nvSpPr>
        <p:spPr>
          <a:xfrm>
            <a:off x="7655165" y="5303520"/>
            <a:ext cx="64008" cy="1170432"/>
          </a:xfrm>
          <a:prstGeom prst="roundRect">
            <a:avLst/>
          </a:prstGeom>
          <a:solidFill>
            <a:srgbClr val="EE334E"/>
          </a:solidFill>
          <a:ln/>
        </p:spPr>
      </p:sp>
      <p:sp>
        <p:nvSpPr>
          <p:cNvPr id="35" name="Shape 29"/>
          <p:cNvSpPr/>
          <p:nvPr/>
        </p:nvSpPr>
        <p:spPr>
          <a:xfrm>
            <a:off x="7894557" y="5650992"/>
            <a:ext cx="475488" cy="475488"/>
          </a:xfrm>
          <a:prstGeom prst="ellipse">
            <a:avLst/>
          </a:prstGeom>
          <a:solidFill>
            <a:srgbClr val="EE334E"/>
          </a:solidFill>
          <a:ln/>
        </p:spPr>
      </p:sp>
      <p:pic>
        <p:nvPicPr>
          <p:cNvPr id="36" name="Image 4" descr="/home/claude/ppt/icons/trophy_FFFFFF.png"/>
          <p:cNvPicPr>
            <a:picLocks noChangeAspect="1"/>
          </p:cNvPicPr>
          <p:nvPr/>
        </p:nvPicPr>
        <p:blipFill>
          <a:blip r:embed="rId7"/>
          <a:stretch>
            <a:fillRect/>
          </a:stretch>
        </p:blipFill>
        <p:spPr>
          <a:xfrm>
            <a:off x="8016848" y="5761635"/>
            <a:ext cx="261518" cy="261518"/>
          </a:xfrm>
          <a:prstGeom prst="rect">
            <a:avLst/>
          </a:prstGeom>
        </p:spPr>
      </p:pic>
      <p:sp>
        <p:nvSpPr>
          <p:cNvPr id="37" name="Text 30"/>
          <p:cNvSpPr/>
          <p:nvPr/>
        </p:nvSpPr>
        <p:spPr>
          <a:xfrm>
            <a:off x="8435798" y="5360652"/>
            <a:ext cx="3730752" cy="384048"/>
          </a:xfrm>
          <a:prstGeom prst="rect">
            <a:avLst/>
          </a:prstGeom>
          <a:noFill/>
          <a:ln/>
        </p:spPr>
        <p:txBody>
          <a:bodyPr wrap="square" rtlCol="0" anchor="ctr"/>
          <a:lstStyle/>
          <a:p>
            <a:pPr marL="0" indent="0">
              <a:buNone/>
            </a:pPr>
            <a:r>
              <a:rPr lang="en-US" sz="1900" b="1" dirty="0">
                <a:solidFill>
                  <a:srgbClr val="EE334E"/>
                </a:solidFill>
                <a:latin typeface="Bookman Old Style" pitchFamily="34" charset="0"/>
                <a:ea typeface="Bookman Old Style" pitchFamily="34" charset="-122"/>
                <a:cs typeface="Bookman Old Style" pitchFamily="34" charset="-120"/>
              </a:rPr>
              <a:t>Weightlifting #1</a:t>
            </a:r>
            <a:endParaRPr lang="en-US" sz="1900" dirty="0"/>
          </a:p>
        </p:txBody>
      </p:sp>
      <p:sp>
        <p:nvSpPr>
          <p:cNvPr id="38" name="Text 31"/>
          <p:cNvSpPr/>
          <p:nvPr/>
        </p:nvSpPr>
        <p:spPr>
          <a:xfrm>
            <a:off x="8435798" y="5696712"/>
            <a:ext cx="3730752" cy="667512"/>
          </a:xfrm>
          <a:prstGeom prst="rect">
            <a:avLst/>
          </a:prstGeom>
          <a:noFill/>
          <a:ln/>
        </p:spPr>
        <p:txBody>
          <a:bodyPr wrap="square" rtlCol="0" anchor="ctr"/>
          <a:lstStyle/>
          <a:p>
            <a:pPr marL="0" indent="0">
              <a:lnSpc>
                <a:spcPct val="110000"/>
              </a:lnSpc>
              <a:buNone/>
            </a:pPr>
            <a:r>
              <a:rPr lang="en-US" sz="1400" dirty="0">
                <a:latin typeface="Calibri" pitchFamily="34" charset="0"/>
                <a:ea typeface="Calibri" pitchFamily="34" charset="-122"/>
                <a:cs typeface="Calibri" pitchFamily="34" charset="-120"/>
              </a:rPr>
              <a:t>Cuba's strongest sports: Weightlifting (19 medals) and Shooting (18).</a:t>
            </a:r>
            <a:endParaRPr lang="en-US" sz="1400" dirty="0"/>
          </a:p>
        </p:txBody>
      </p:sp>
      <p:sp>
        <p:nvSpPr>
          <p:cNvPr id="39" name="Text 32"/>
          <p:cNvSpPr/>
          <p:nvPr/>
        </p:nvSpPr>
        <p:spPr>
          <a:xfrm>
            <a:off x="457200" y="6537960"/>
            <a:ext cx="7315200" cy="274320"/>
          </a:xfrm>
          <a:prstGeom prst="rect">
            <a:avLst/>
          </a:prstGeom>
          <a:noFill/>
          <a:ln/>
        </p:spPr>
        <p:txBody>
          <a:bodyPr wrap="square" rtlCol="0" anchor="ctr"/>
          <a:lstStyle/>
          <a:p>
            <a:pPr marL="0" indent="0">
              <a:buNone/>
            </a:pPr>
            <a:r>
              <a:rPr lang="en-US" sz="900" kern="0" spc="100" dirty="0">
                <a:solidFill>
                  <a:srgbClr val="9AA6B8"/>
                </a:solidFill>
                <a:latin typeface="Calibri" pitchFamily="34" charset="0"/>
                <a:ea typeface="Calibri" pitchFamily="34" charset="-122"/>
                <a:cs typeface="Calibri" pitchFamily="34" charset="-120"/>
              </a:rPr>
              <a:t>OLYMPIC INSIGHTS  |  POWER BI ANALYTICS PROJECT</a:t>
            </a:r>
            <a:endParaRPr lang="en-US" sz="900" dirty="0"/>
          </a:p>
        </p:txBody>
      </p:sp>
      <p:sp>
        <p:nvSpPr>
          <p:cNvPr id="40" name="Text 33"/>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oundRect">
            <a:avLst/>
          </a:prstGeom>
          <a:solidFill>
            <a:schemeClr val="bg1">
              <a:lumMod val="50000"/>
            </a:schemeClr>
          </a:solidFill>
          <a:ln/>
        </p:spPr>
        <p:txBody>
          <a:bodyPr/>
          <a:lstStyle/>
          <a:p>
            <a:endParaRPr lang="en-IN" dirty="0"/>
          </a:p>
        </p:txBody>
      </p:sp>
      <p:sp>
        <p:nvSpPr>
          <p:cNvPr id="3" name="Text 1"/>
          <p:cNvSpPr/>
          <p:nvPr/>
        </p:nvSpPr>
        <p:spPr>
          <a:xfrm>
            <a:off x="457200" y="146304"/>
            <a:ext cx="5486400" cy="292608"/>
          </a:xfrm>
          <a:prstGeom prst="rect">
            <a:avLst/>
          </a:prstGeom>
          <a:noFill/>
          <a:ln/>
        </p:spPr>
        <p:txBody>
          <a:bodyPr wrap="square" rtlCol="0" anchor="ctr"/>
          <a:lstStyle/>
          <a:p>
            <a:pPr marL="0" indent="0">
              <a:buNone/>
            </a:pPr>
            <a:r>
              <a:rPr lang="en-US" sz="1600" b="1" kern="0" spc="200" dirty="0">
                <a:solidFill>
                  <a:schemeClr val="bg1"/>
                </a:solidFill>
                <a:latin typeface="Calibri" pitchFamily="34" charset="0"/>
                <a:ea typeface="Calibri" pitchFamily="34" charset="-122"/>
                <a:cs typeface="Calibri" pitchFamily="34" charset="-120"/>
              </a:rPr>
              <a:t>DASHBOARD PAGE 3</a:t>
            </a:r>
            <a:endParaRPr lang="en-US" sz="1600" dirty="0">
              <a:solidFill>
                <a:schemeClr val="bg1"/>
              </a:solidFill>
            </a:endParaRPr>
          </a:p>
        </p:txBody>
      </p:sp>
      <p:sp>
        <p:nvSpPr>
          <p:cNvPr id="4" name="Text 2"/>
          <p:cNvSpPr/>
          <p:nvPr/>
        </p:nvSpPr>
        <p:spPr>
          <a:xfrm>
            <a:off x="457200" y="420624"/>
            <a:ext cx="7772400" cy="548640"/>
          </a:xfrm>
          <a:prstGeom prst="rect">
            <a:avLst/>
          </a:prstGeom>
          <a:noFill/>
          <a:ln/>
        </p:spPr>
        <p:txBody>
          <a:bodyPr wrap="square" rtlCol="0" anchor="ctr"/>
          <a:lstStyle/>
          <a:p>
            <a:pPr marL="0" indent="0">
              <a:buNone/>
            </a:pPr>
            <a:r>
              <a:rPr lang="en-US" sz="2800" b="1" dirty="0">
                <a:solidFill>
                  <a:srgbClr val="FFFFFF"/>
                </a:solidFill>
                <a:latin typeface="Bookman Old Style" pitchFamily="34" charset="0"/>
                <a:ea typeface="Bookman Old Style" pitchFamily="34" charset="-122"/>
                <a:cs typeface="Bookman Old Style" pitchFamily="34" charset="-120"/>
              </a:rPr>
              <a:t>Athlete Spotlight</a:t>
            </a:r>
            <a:endParaRPr lang="en-US" sz="2800" dirty="0"/>
          </a:p>
        </p:txBody>
      </p:sp>
      <p:sp>
        <p:nvSpPr>
          <p:cNvPr id="5" name="Shape 3"/>
          <p:cNvSpPr/>
          <p:nvPr/>
        </p:nvSpPr>
        <p:spPr>
          <a:xfrm>
            <a:off x="10607040" y="384048"/>
            <a:ext cx="256032" cy="256032"/>
          </a:xfrm>
          <a:prstGeom prst="ellipse">
            <a:avLst/>
          </a:prstGeom>
          <a:ln w="27940">
            <a:solidFill>
              <a:srgbClr val="0081C8"/>
            </a:solidFill>
            <a:prstDash val="solid"/>
          </a:ln>
        </p:spPr>
      </p:sp>
      <p:sp>
        <p:nvSpPr>
          <p:cNvPr id="6" name="Shape 4"/>
          <p:cNvSpPr/>
          <p:nvPr/>
        </p:nvSpPr>
        <p:spPr>
          <a:xfrm>
            <a:off x="10747858" y="384048"/>
            <a:ext cx="256032" cy="256032"/>
          </a:xfrm>
          <a:prstGeom prst="ellipse">
            <a:avLst/>
          </a:prstGeom>
          <a:ln w="27940">
            <a:solidFill>
              <a:srgbClr val="FCB131"/>
            </a:solidFill>
            <a:prstDash val="solid"/>
          </a:ln>
        </p:spPr>
      </p:sp>
      <p:sp>
        <p:nvSpPr>
          <p:cNvPr id="7" name="Shape 5"/>
          <p:cNvSpPr/>
          <p:nvPr/>
        </p:nvSpPr>
        <p:spPr>
          <a:xfrm>
            <a:off x="10888675" y="384048"/>
            <a:ext cx="256032" cy="256032"/>
          </a:xfrm>
          <a:prstGeom prst="ellipse">
            <a:avLst/>
          </a:prstGeom>
          <a:ln w="27940">
            <a:solidFill>
              <a:srgbClr val="1A1A1A"/>
            </a:solidFill>
            <a:prstDash val="solid"/>
          </a:ln>
        </p:spPr>
      </p:sp>
      <p:sp>
        <p:nvSpPr>
          <p:cNvPr id="8" name="Shape 6"/>
          <p:cNvSpPr/>
          <p:nvPr/>
        </p:nvSpPr>
        <p:spPr>
          <a:xfrm>
            <a:off x="11029493" y="384048"/>
            <a:ext cx="256032" cy="256032"/>
          </a:xfrm>
          <a:prstGeom prst="ellipse">
            <a:avLst/>
          </a:prstGeom>
          <a:ln w="27940">
            <a:solidFill>
              <a:srgbClr val="00A651"/>
            </a:solidFill>
            <a:prstDash val="solid"/>
          </a:ln>
        </p:spPr>
      </p:sp>
      <p:sp>
        <p:nvSpPr>
          <p:cNvPr id="9" name="Shape 7"/>
          <p:cNvSpPr/>
          <p:nvPr/>
        </p:nvSpPr>
        <p:spPr>
          <a:xfrm>
            <a:off x="11170310" y="384048"/>
            <a:ext cx="256032" cy="256032"/>
          </a:xfrm>
          <a:prstGeom prst="ellipse">
            <a:avLst/>
          </a:prstGeom>
          <a:ln w="27940">
            <a:solidFill>
              <a:srgbClr val="EE334E"/>
            </a:solidFill>
            <a:prstDash val="solid"/>
          </a:ln>
        </p:spPr>
      </p:sp>
      <p:sp>
        <p:nvSpPr>
          <p:cNvPr id="10" name="Shape 8"/>
          <p:cNvSpPr/>
          <p:nvPr/>
        </p:nvSpPr>
        <p:spPr>
          <a:xfrm>
            <a:off x="342656" y="1295621"/>
            <a:ext cx="7447115" cy="4681728"/>
          </a:xfrm>
          <a:prstGeom prst="roundRect">
            <a:avLst>
              <a:gd name="adj" fmla="val 1075"/>
            </a:avLst>
          </a:prstGeom>
          <a:solidFill>
            <a:srgbClr val="F4F6F9"/>
          </a:solidFill>
          <a:ln w="25400">
            <a:solidFill>
              <a:srgbClr val="00A651"/>
            </a:solidFill>
            <a:prstDash val="solid"/>
          </a:ln>
        </p:spPr>
      </p:sp>
      <p:sp>
        <p:nvSpPr>
          <p:cNvPr id="12" name="Shape 9"/>
          <p:cNvSpPr/>
          <p:nvPr/>
        </p:nvSpPr>
        <p:spPr>
          <a:xfrm>
            <a:off x="373951" y="6072140"/>
            <a:ext cx="6693409" cy="576072"/>
          </a:xfrm>
          <a:prstGeom prst="roundRect">
            <a:avLst>
              <a:gd name="adj" fmla="val 8333"/>
            </a:avLst>
          </a:prstGeom>
          <a:solidFill>
            <a:schemeClr val="accent6">
              <a:lumMod val="75000"/>
            </a:schemeClr>
          </a:solidFill>
          <a:ln/>
        </p:spPr>
        <p:txBody>
          <a:bodyPr/>
          <a:lstStyle/>
          <a:p>
            <a:endParaRPr lang="en-IN" dirty="0"/>
          </a:p>
        </p:txBody>
      </p:sp>
      <p:sp>
        <p:nvSpPr>
          <p:cNvPr id="13" name="Text 10"/>
          <p:cNvSpPr/>
          <p:nvPr/>
        </p:nvSpPr>
        <p:spPr>
          <a:xfrm>
            <a:off x="512064" y="5940558"/>
            <a:ext cx="2103120" cy="658368"/>
          </a:xfrm>
          <a:prstGeom prst="rect">
            <a:avLst/>
          </a:prstGeom>
          <a:noFill/>
          <a:ln/>
        </p:spPr>
        <p:txBody>
          <a:bodyPr wrap="square" rtlCol="0" anchor="ctr"/>
          <a:lstStyle/>
          <a:p>
            <a:pPr marL="0" indent="0">
              <a:buNone/>
            </a:pPr>
            <a:r>
              <a:rPr lang="en-US" sz="2400" b="1" dirty="0">
                <a:solidFill>
                  <a:srgbClr val="FFFFFF"/>
                </a:solidFill>
                <a:latin typeface="Bookman Old Style" pitchFamily="34" charset="0"/>
                <a:ea typeface="Bookman Old Style" pitchFamily="34" charset="-122"/>
                <a:cs typeface="Bookman Old Style" pitchFamily="34" charset="-120"/>
              </a:rPr>
              <a:t>28</a:t>
            </a:r>
            <a:endParaRPr lang="en-US" sz="2400" dirty="0"/>
          </a:p>
        </p:txBody>
      </p:sp>
      <p:sp>
        <p:nvSpPr>
          <p:cNvPr id="14" name="Text 11"/>
          <p:cNvSpPr/>
          <p:nvPr/>
        </p:nvSpPr>
        <p:spPr>
          <a:xfrm>
            <a:off x="1130668" y="6047170"/>
            <a:ext cx="5133050" cy="658368"/>
          </a:xfrm>
          <a:prstGeom prst="rect">
            <a:avLst/>
          </a:prstGeom>
          <a:noFill/>
          <a:ln/>
        </p:spPr>
        <p:txBody>
          <a:bodyPr wrap="square" rtlCol="0" anchor="ctr"/>
          <a:lstStyle/>
          <a:p>
            <a:pPr marL="0" indent="0">
              <a:lnSpc>
                <a:spcPct val="105000"/>
              </a:lnSpc>
              <a:buNone/>
            </a:pPr>
            <a:r>
              <a:rPr lang="en-US" sz="1600" dirty="0">
                <a:solidFill>
                  <a:srgbClr val="FFFFFF"/>
                </a:solidFill>
                <a:latin typeface="Calibri" pitchFamily="34" charset="0"/>
                <a:ea typeface="Calibri" pitchFamily="34" charset="-122"/>
                <a:cs typeface="Calibri" pitchFamily="34" charset="-120"/>
              </a:rPr>
              <a:t>career medals for Michael Phelps — the most decorated Olympian in history</a:t>
            </a:r>
            <a:endParaRPr lang="en-US" sz="1600" dirty="0"/>
          </a:p>
        </p:txBody>
      </p:sp>
      <p:sp>
        <p:nvSpPr>
          <p:cNvPr id="15" name="Shape 12"/>
          <p:cNvSpPr/>
          <p:nvPr/>
        </p:nvSpPr>
        <p:spPr>
          <a:xfrm>
            <a:off x="7909559" y="1243584"/>
            <a:ext cx="4203497" cy="1170432"/>
          </a:xfrm>
          <a:prstGeom prst="roundRect">
            <a:avLst>
              <a:gd name="adj" fmla="val 5469"/>
            </a:avLst>
          </a:prstGeom>
          <a:solidFill>
            <a:srgbClr val="F4F6F9"/>
          </a:solidFill>
          <a:ln/>
        </p:spPr>
      </p:sp>
      <p:sp>
        <p:nvSpPr>
          <p:cNvPr id="16" name="Shape 13"/>
          <p:cNvSpPr/>
          <p:nvPr/>
        </p:nvSpPr>
        <p:spPr>
          <a:xfrm>
            <a:off x="7908515" y="1243584"/>
            <a:ext cx="64008" cy="1170432"/>
          </a:xfrm>
          <a:prstGeom prst="roundRect">
            <a:avLst/>
          </a:prstGeom>
          <a:solidFill>
            <a:srgbClr val="0081C8"/>
          </a:solidFill>
          <a:ln/>
        </p:spPr>
      </p:sp>
      <p:sp>
        <p:nvSpPr>
          <p:cNvPr id="17" name="Shape 14"/>
          <p:cNvSpPr/>
          <p:nvPr/>
        </p:nvSpPr>
        <p:spPr>
          <a:xfrm>
            <a:off x="8067621" y="1572768"/>
            <a:ext cx="475488" cy="475488"/>
          </a:xfrm>
          <a:prstGeom prst="ellipse">
            <a:avLst/>
          </a:prstGeom>
          <a:solidFill>
            <a:srgbClr val="0081C8"/>
          </a:solidFill>
          <a:ln/>
        </p:spPr>
      </p:sp>
      <p:pic>
        <p:nvPicPr>
          <p:cNvPr id="18" name="Image 1" descr="/home/claude/ppt/icons/trophy_FFFFFF.png"/>
          <p:cNvPicPr>
            <a:picLocks noChangeAspect="1"/>
          </p:cNvPicPr>
          <p:nvPr/>
        </p:nvPicPr>
        <p:blipFill>
          <a:blip r:embed="rId3"/>
          <a:stretch>
            <a:fillRect/>
          </a:stretch>
        </p:blipFill>
        <p:spPr>
          <a:xfrm>
            <a:off x="8174606" y="1724017"/>
            <a:ext cx="261518" cy="261518"/>
          </a:xfrm>
          <a:prstGeom prst="rect">
            <a:avLst/>
          </a:prstGeom>
        </p:spPr>
      </p:pic>
      <p:sp>
        <p:nvSpPr>
          <p:cNvPr id="19" name="Text 15"/>
          <p:cNvSpPr/>
          <p:nvPr/>
        </p:nvSpPr>
        <p:spPr>
          <a:xfrm>
            <a:off x="8531222" y="1330452"/>
            <a:ext cx="3730752" cy="384048"/>
          </a:xfrm>
          <a:prstGeom prst="rect">
            <a:avLst/>
          </a:prstGeom>
          <a:noFill/>
          <a:ln/>
        </p:spPr>
        <p:txBody>
          <a:bodyPr wrap="square" rtlCol="0" anchor="ctr"/>
          <a:lstStyle/>
          <a:p>
            <a:pPr marL="0" indent="0">
              <a:buNone/>
            </a:pPr>
            <a:r>
              <a:rPr lang="en-US" sz="1900" b="1" dirty="0">
                <a:solidFill>
                  <a:srgbClr val="0081C8"/>
                </a:solidFill>
                <a:latin typeface="Bookman Old Style" pitchFamily="34" charset="0"/>
                <a:ea typeface="Bookman Old Style" pitchFamily="34" charset="-122"/>
                <a:cs typeface="Bookman Old Style" pitchFamily="34" charset="-120"/>
              </a:rPr>
              <a:t>Swimming leads</a:t>
            </a:r>
            <a:endParaRPr lang="en-US" sz="1900" dirty="0"/>
          </a:p>
        </p:txBody>
      </p:sp>
      <p:sp>
        <p:nvSpPr>
          <p:cNvPr id="20" name="Text 16"/>
          <p:cNvSpPr/>
          <p:nvPr/>
        </p:nvSpPr>
        <p:spPr>
          <a:xfrm>
            <a:off x="8531222" y="1677924"/>
            <a:ext cx="3730752" cy="667512"/>
          </a:xfrm>
          <a:prstGeom prst="rect">
            <a:avLst/>
          </a:prstGeom>
          <a:noFill/>
          <a:ln/>
        </p:spPr>
        <p:txBody>
          <a:bodyPr wrap="square" rtlCol="0" anchor="ctr"/>
          <a:lstStyle/>
          <a:p>
            <a:pPr marL="0" indent="0">
              <a:lnSpc>
                <a:spcPct val="110000"/>
              </a:lnSpc>
              <a:buNone/>
            </a:pPr>
            <a:r>
              <a:rPr lang="en-US" sz="1400" dirty="0">
                <a:latin typeface="Calibri" pitchFamily="34" charset="0"/>
                <a:ea typeface="Calibri" pitchFamily="34" charset="-122"/>
                <a:cs typeface="Calibri" pitchFamily="34" charset="-120"/>
              </a:rPr>
              <a:t>Top 10 by medals is dominated by swimming &amp; gymnastics — Phelps (28), Latynina (18).</a:t>
            </a:r>
            <a:endParaRPr lang="en-US" sz="1400" dirty="0"/>
          </a:p>
        </p:txBody>
      </p:sp>
      <p:sp>
        <p:nvSpPr>
          <p:cNvPr id="21" name="Shape 17"/>
          <p:cNvSpPr/>
          <p:nvPr/>
        </p:nvSpPr>
        <p:spPr>
          <a:xfrm>
            <a:off x="7908515" y="2551700"/>
            <a:ext cx="4204542" cy="1170432"/>
          </a:xfrm>
          <a:prstGeom prst="roundRect">
            <a:avLst>
              <a:gd name="adj" fmla="val 5469"/>
            </a:avLst>
          </a:prstGeom>
          <a:solidFill>
            <a:srgbClr val="F4F6F9"/>
          </a:solidFill>
          <a:ln/>
        </p:spPr>
      </p:sp>
      <p:sp>
        <p:nvSpPr>
          <p:cNvPr id="22" name="Shape 18"/>
          <p:cNvSpPr/>
          <p:nvPr/>
        </p:nvSpPr>
        <p:spPr>
          <a:xfrm>
            <a:off x="7921205" y="2560320"/>
            <a:ext cx="64008" cy="1170432"/>
          </a:xfrm>
          <a:prstGeom prst="roundRect">
            <a:avLst/>
          </a:prstGeom>
          <a:solidFill>
            <a:srgbClr val="FCB131"/>
          </a:solidFill>
          <a:ln/>
        </p:spPr>
      </p:sp>
      <p:sp>
        <p:nvSpPr>
          <p:cNvPr id="23" name="Shape 19"/>
          <p:cNvSpPr/>
          <p:nvPr/>
        </p:nvSpPr>
        <p:spPr>
          <a:xfrm>
            <a:off x="8005908" y="2907792"/>
            <a:ext cx="475488" cy="475488"/>
          </a:xfrm>
          <a:prstGeom prst="ellipse">
            <a:avLst/>
          </a:prstGeom>
          <a:solidFill>
            <a:srgbClr val="FCB131"/>
          </a:solidFill>
          <a:ln/>
        </p:spPr>
      </p:sp>
      <p:pic>
        <p:nvPicPr>
          <p:cNvPr id="24" name="Image 2" descr="/home/claude/ppt/icons/medal_FFFFFF.png"/>
          <p:cNvPicPr>
            <a:picLocks noChangeAspect="1"/>
          </p:cNvPicPr>
          <p:nvPr/>
        </p:nvPicPr>
        <p:blipFill>
          <a:blip r:embed="rId4"/>
          <a:stretch>
            <a:fillRect/>
          </a:stretch>
        </p:blipFill>
        <p:spPr>
          <a:xfrm>
            <a:off x="8126348" y="3029212"/>
            <a:ext cx="261518" cy="261518"/>
          </a:xfrm>
          <a:prstGeom prst="rect">
            <a:avLst/>
          </a:prstGeom>
        </p:spPr>
      </p:pic>
      <p:sp>
        <p:nvSpPr>
          <p:cNvPr id="25" name="Text 20"/>
          <p:cNvSpPr/>
          <p:nvPr/>
        </p:nvSpPr>
        <p:spPr>
          <a:xfrm>
            <a:off x="8461248" y="2596681"/>
            <a:ext cx="3730752" cy="384048"/>
          </a:xfrm>
          <a:prstGeom prst="rect">
            <a:avLst/>
          </a:prstGeom>
          <a:noFill/>
          <a:ln/>
        </p:spPr>
        <p:txBody>
          <a:bodyPr wrap="square" rtlCol="0" anchor="ctr"/>
          <a:lstStyle/>
          <a:p>
            <a:pPr marL="0" indent="0">
              <a:buNone/>
            </a:pPr>
            <a:r>
              <a:rPr lang="en-US" sz="2000" b="1" dirty="0">
                <a:solidFill>
                  <a:srgbClr val="FCB131"/>
                </a:solidFill>
                <a:latin typeface="Bookman Old Style" pitchFamily="34" charset="0"/>
                <a:ea typeface="Bookman Old Style" pitchFamily="34" charset="-122"/>
                <a:cs typeface="Bookman Old Style" pitchFamily="34" charset="-120"/>
              </a:rPr>
              <a:t>16.96%</a:t>
            </a:r>
            <a:endParaRPr lang="en-US" sz="2000" dirty="0"/>
          </a:p>
        </p:txBody>
      </p:sp>
      <p:sp>
        <p:nvSpPr>
          <p:cNvPr id="26" name="Text 21"/>
          <p:cNvSpPr/>
          <p:nvPr/>
        </p:nvSpPr>
        <p:spPr>
          <a:xfrm>
            <a:off x="8456763" y="3008376"/>
            <a:ext cx="3730752" cy="667512"/>
          </a:xfrm>
          <a:prstGeom prst="rect">
            <a:avLst/>
          </a:prstGeom>
          <a:noFill/>
          <a:ln/>
        </p:spPr>
        <p:txBody>
          <a:bodyPr wrap="square" rtlCol="0" anchor="ctr"/>
          <a:lstStyle/>
          <a:p>
            <a:pPr marL="0" indent="0">
              <a:lnSpc>
                <a:spcPct val="110000"/>
              </a:lnSpc>
              <a:buNone/>
            </a:pPr>
            <a:r>
              <a:rPr lang="en-US" sz="1400" dirty="0">
                <a:latin typeface="Calibri" pitchFamily="34" charset="0"/>
                <a:ea typeface="Calibri" pitchFamily="34" charset="-122"/>
                <a:cs typeface="Calibri" pitchFamily="34" charset="-120"/>
              </a:rPr>
              <a:t>Of all 155K athletes, only this share have ever won a medal — most careers end with zero podiums.</a:t>
            </a:r>
            <a:endParaRPr lang="en-US" sz="1400" dirty="0"/>
          </a:p>
        </p:txBody>
      </p:sp>
      <p:sp>
        <p:nvSpPr>
          <p:cNvPr id="27" name="Shape 22"/>
          <p:cNvSpPr/>
          <p:nvPr/>
        </p:nvSpPr>
        <p:spPr>
          <a:xfrm>
            <a:off x="7938688" y="3986044"/>
            <a:ext cx="4204543" cy="1170432"/>
          </a:xfrm>
          <a:prstGeom prst="roundRect">
            <a:avLst>
              <a:gd name="adj" fmla="val 5469"/>
            </a:avLst>
          </a:prstGeom>
          <a:solidFill>
            <a:srgbClr val="F4F6F9"/>
          </a:solidFill>
          <a:ln/>
        </p:spPr>
      </p:sp>
      <p:sp>
        <p:nvSpPr>
          <p:cNvPr id="28" name="Shape 23"/>
          <p:cNvSpPr/>
          <p:nvPr/>
        </p:nvSpPr>
        <p:spPr>
          <a:xfrm>
            <a:off x="7936078" y="3958049"/>
            <a:ext cx="64008" cy="1170432"/>
          </a:xfrm>
          <a:prstGeom prst="roundRect">
            <a:avLst/>
          </a:prstGeom>
          <a:solidFill>
            <a:srgbClr val="00A651"/>
          </a:solidFill>
          <a:ln/>
        </p:spPr>
      </p:sp>
      <p:sp>
        <p:nvSpPr>
          <p:cNvPr id="29" name="Shape 24"/>
          <p:cNvSpPr/>
          <p:nvPr/>
        </p:nvSpPr>
        <p:spPr>
          <a:xfrm>
            <a:off x="8030111" y="4314119"/>
            <a:ext cx="475488" cy="475488"/>
          </a:xfrm>
          <a:prstGeom prst="ellipse">
            <a:avLst/>
          </a:prstGeom>
          <a:solidFill>
            <a:srgbClr val="00A651"/>
          </a:solidFill>
          <a:ln/>
        </p:spPr>
      </p:sp>
      <p:pic>
        <p:nvPicPr>
          <p:cNvPr id="30" name="Image 3" descr="/home/claude/ppt/icons/venusmars_FFFFFF.png"/>
          <p:cNvPicPr>
            <a:picLocks noChangeAspect="1"/>
          </p:cNvPicPr>
          <p:nvPr/>
        </p:nvPicPr>
        <p:blipFill>
          <a:blip r:embed="rId5"/>
          <a:stretch>
            <a:fillRect/>
          </a:stretch>
        </p:blipFill>
        <p:spPr>
          <a:xfrm>
            <a:off x="8167571" y="4450705"/>
            <a:ext cx="261518" cy="261518"/>
          </a:xfrm>
          <a:prstGeom prst="rect">
            <a:avLst/>
          </a:prstGeom>
        </p:spPr>
      </p:pic>
      <p:sp>
        <p:nvSpPr>
          <p:cNvPr id="31" name="Text 25"/>
          <p:cNvSpPr/>
          <p:nvPr/>
        </p:nvSpPr>
        <p:spPr>
          <a:xfrm>
            <a:off x="8481396" y="3968338"/>
            <a:ext cx="3730752" cy="384048"/>
          </a:xfrm>
          <a:prstGeom prst="rect">
            <a:avLst/>
          </a:prstGeom>
          <a:noFill/>
          <a:ln/>
        </p:spPr>
        <p:txBody>
          <a:bodyPr wrap="square" rtlCol="0" anchor="ctr"/>
          <a:lstStyle/>
          <a:p>
            <a:pPr marL="0" indent="0">
              <a:buNone/>
            </a:pPr>
            <a:r>
              <a:rPr lang="en-US" sz="2000" b="1" dirty="0">
                <a:solidFill>
                  <a:srgbClr val="00A651"/>
                </a:solidFill>
                <a:latin typeface="Bookman Old Style" pitchFamily="34" charset="0"/>
                <a:ea typeface="Bookman Old Style" pitchFamily="34" charset="-122"/>
                <a:cs typeface="Bookman Old Style" pitchFamily="34" charset="-120"/>
              </a:rPr>
              <a:t>71.3% vs 27.7%</a:t>
            </a:r>
            <a:endParaRPr lang="en-US" sz="2000" dirty="0"/>
          </a:p>
        </p:txBody>
      </p:sp>
      <p:sp>
        <p:nvSpPr>
          <p:cNvPr id="32" name="Text 26"/>
          <p:cNvSpPr/>
          <p:nvPr/>
        </p:nvSpPr>
        <p:spPr>
          <a:xfrm>
            <a:off x="8531222" y="4361688"/>
            <a:ext cx="3730752" cy="667512"/>
          </a:xfrm>
          <a:prstGeom prst="rect">
            <a:avLst/>
          </a:prstGeom>
          <a:noFill/>
          <a:ln/>
        </p:spPr>
        <p:txBody>
          <a:bodyPr wrap="square" rtlCol="0" anchor="ctr"/>
          <a:lstStyle/>
          <a:p>
            <a:pPr marL="0" indent="0">
              <a:lnSpc>
                <a:spcPct val="110000"/>
              </a:lnSpc>
              <a:buNone/>
            </a:pPr>
            <a:r>
              <a:rPr lang="en-US" sz="1400" dirty="0">
                <a:latin typeface="Calibri" pitchFamily="34" charset="0"/>
                <a:ea typeface="Calibri" pitchFamily="34" charset="-122"/>
                <a:cs typeface="Calibri" pitchFamily="34" charset="-120"/>
              </a:rPr>
              <a:t>Medal winners skew heavily male, though the gap is narrowing in recent decades.</a:t>
            </a:r>
            <a:endParaRPr lang="en-US" sz="1400" dirty="0"/>
          </a:p>
        </p:txBody>
      </p:sp>
      <p:sp>
        <p:nvSpPr>
          <p:cNvPr id="33" name="Shape 27"/>
          <p:cNvSpPr/>
          <p:nvPr/>
        </p:nvSpPr>
        <p:spPr>
          <a:xfrm>
            <a:off x="7972522" y="5275099"/>
            <a:ext cx="4118443" cy="1170432"/>
          </a:xfrm>
          <a:prstGeom prst="roundRect">
            <a:avLst>
              <a:gd name="adj" fmla="val 5469"/>
            </a:avLst>
          </a:prstGeom>
          <a:solidFill>
            <a:srgbClr val="F4F6F9"/>
          </a:solidFill>
          <a:ln/>
        </p:spPr>
      </p:sp>
      <p:sp>
        <p:nvSpPr>
          <p:cNvPr id="34" name="Shape 28"/>
          <p:cNvSpPr/>
          <p:nvPr/>
        </p:nvSpPr>
        <p:spPr>
          <a:xfrm>
            <a:off x="7953209" y="5277768"/>
            <a:ext cx="64008" cy="1170432"/>
          </a:xfrm>
          <a:prstGeom prst="roundRect">
            <a:avLst/>
          </a:prstGeom>
          <a:solidFill>
            <a:srgbClr val="EE334E"/>
          </a:solidFill>
          <a:ln/>
        </p:spPr>
      </p:sp>
      <p:sp>
        <p:nvSpPr>
          <p:cNvPr id="35" name="Shape 29"/>
          <p:cNvSpPr/>
          <p:nvPr/>
        </p:nvSpPr>
        <p:spPr>
          <a:xfrm>
            <a:off x="8089712" y="5571682"/>
            <a:ext cx="475488" cy="475488"/>
          </a:xfrm>
          <a:prstGeom prst="ellipse">
            <a:avLst/>
          </a:prstGeom>
          <a:solidFill>
            <a:srgbClr val="EE334E"/>
          </a:solidFill>
          <a:ln/>
        </p:spPr>
      </p:sp>
      <p:pic>
        <p:nvPicPr>
          <p:cNvPr id="36" name="Image 4" descr="/home/claude/ppt/icons/birthdaycake_FFFFFF.png"/>
          <p:cNvPicPr>
            <a:picLocks noChangeAspect="1"/>
          </p:cNvPicPr>
          <p:nvPr/>
        </p:nvPicPr>
        <p:blipFill>
          <a:blip r:embed="rId6"/>
          <a:stretch>
            <a:fillRect/>
          </a:stretch>
        </p:blipFill>
        <p:spPr>
          <a:xfrm>
            <a:off x="8197074" y="5663794"/>
            <a:ext cx="261518" cy="261518"/>
          </a:xfrm>
          <a:prstGeom prst="rect">
            <a:avLst/>
          </a:prstGeom>
        </p:spPr>
      </p:pic>
      <p:sp>
        <p:nvSpPr>
          <p:cNvPr id="37" name="Text 30"/>
          <p:cNvSpPr/>
          <p:nvPr/>
        </p:nvSpPr>
        <p:spPr>
          <a:xfrm>
            <a:off x="8543109" y="5444460"/>
            <a:ext cx="3730752" cy="384048"/>
          </a:xfrm>
          <a:prstGeom prst="rect">
            <a:avLst/>
          </a:prstGeom>
          <a:noFill/>
          <a:ln/>
        </p:spPr>
        <p:txBody>
          <a:bodyPr wrap="square" rtlCol="0" anchor="ctr"/>
          <a:lstStyle/>
          <a:p>
            <a:pPr marL="0" indent="0">
              <a:buNone/>
            </a:pPr>
            <a:r>
              <a:rPr lang="en-US" sz="1900" b="1" dirty="0">
                <a:solidFill>
                  <a:srgbClr val="EE334E"/>
                </a:solidFill>
                <a:latin typeface="Bookman Old Style" pitchFamily="34" charset="0"/>
                <a:ea typeface="Bookman Old Style" pitchFamily="34" charset="-122"/>
                <a:cs typeface="Bookman Old Style" pitchFamily="34" charset="-120"/>
              </a:rPr>
              <a:t>Age 20–24</a:t>
            </a:r>
            <a:endParaRPr lang="en-US" sz="1900" dirty="0"/>
          </a:p>
        </p:txBody>
      </p:sp>
      <p:sp>
        <p:nvSpPr>
          <p:cNvPr id="38" name="Text 31"/>
          <p:cNvSpPr/>
          <p:nvPr/>
        </p:nvSpPr>
        <p:spPr>
          <a:xfrm>
            <a:off x="8531222" y="5738384"/>
            <a:ext cx="3730752" cy="667512"/>
          </a:xfrm>
          <a:prstGeom prst="rect">
            <a:avLst/>
          </a:prstGeom>
          <a:noFill/>
          <a:ln/>
        </p:spPr>
        <p:txBody>
          <a:bodyPr wrap="square" rtlCol="0" anchor="ctr"/>
          <a:lstStyle/>
          <a:p>
            <a:pPr marL="0" indent="0">
              <a:lnSpc>
                <a:spcPct val="110000"/>
              </a:lnSpc>
              <a:buNone/>
            </a:pPr>
            <a:r>
              <a:rPr lang="en-US" sz="1400" dirty="0">
                <a:latin typeface="Calibri" pitchFamily="34" charset="0"/>
                <a:ea typeface="Calibri" pitchFamily="34" charset="-122"/>
                <a:cs typeface="Calibri" pitchFamily="34" charset="-120"/>
              </a:rPr>
              <a:t>Peak medal-winning age band, with a sharp drop-off after 30.</a:t>
            </a:r>
            <a:endParaRPr lang="en-US" sz="1400" dirty="0"/>
          </a:p>
        </p:txBody>
      </p:sp>
      <p:sp>
        <p:nvSpPr>
          <p:cNvPr id="39" name="Text 32"/>
          <p:cNvSpPr/>
          <p:nvPr/>
        </p:nvSpPr>
        <p:spPr>
          <a:xfrm>
            <a:off x="192024" y="6620256"/>
            <a:ext cx="7315200" cy="274320"/>
          </a:xfrm>
          <a:prstGeom prst="rect">
            <a:avLst/>
          </a:prstGeom>
          <a:noFill/>
          <a:ln/>
        </p:spPr>
        <p:txBody>
          <a:bodyPr wrap="square" rtlCol="0" anchor="ctr"/>
          <a:lstStyle/>
          <a:p>
            <a:pPr marL="0" indent="0">
              <a:buNone/>
            </a:pPr>
            <a:r>
              <a:rPr lang="en-US" sz="900" kern="0" spc="100" dirty="0">
                <a:solidFill>
                  <a:srgbClr val="9AA6B8"/>
                </a:solidFill>
                <a:latin typeface="Calibri" pitchFamily="34" charset="0"/>
                <a:ea typeface="Calibri" pitchFamily="34" charset="-122"/>
                <a:cs typeface="Calibri" pitchFamily="34" charset="-120"/>
              </a:rPr>
              <a:t>OLYMPIC INSIGHTS  |  POWER BI ANALYTICS PROJECT</a:t>
            </a:r>
            <a:endParaRPr lang="en-US" sz="900" dirty="0"/>
          </a:p>
        </p:txBody>
      </p:sp>
      <p:sp>
        <p:nvSpPr>
          <p:cNvPr id="40" name="Text 33"/>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8</a:t>
            </a:r>
            <a:endParaRPr lang="en-US" sz="900" dirty="0"/>
          </a:p>
        </p:txBody>
      </p:sp>
      <p:pic>
        <p:nvPicPr>
          <p:cNvPr id="42" name="Picture 41">
            <a:extLst>
              <a:ext uri="{FF2B5EF4-FFF2-40B4-BE49-F238E27FC236}">
                <a16:creationId xmlns:a16="http://schemas.microsoft.com/office/drawing/2014/main" id="{A75B3913-A87C-6C0F-E063-8E420A1B39F6}"/>
              </a:ext>
            </a:extLst>
          </p:cNvPr>
          <p:cNvPicPr>
            <a:picLocks noChangeAspect="1"/>
          </p:cNvPicPr>
          <p:nvPr/>
        </p:nvPicPr>
        <p:blipFill>
          <a:blip r:embed="rId7"/>
          <a:stretch>
            <a:fillRect/>
          </a:stretch>
        </p:blipFill>
        <p:spPr>
          <a:xfrm>
            <a:off x="107696" y="1157867"/>
            <a:ext cx="7731790" cy="485694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oundRect">
            <a:avLst/>
          </a:prstGeom>
          <a:solidFill>
            <a:schemeClr val="bg1">
              <a:lumMod val="50000"/>
            </a:schemeClr>
          </a:solidFill>
          <a:ln/>
        </p:spPr>
      </p:sp>
      <p:sp>
        <p:nvSpPr>
          <p:cNvPr id="3" name="Text 1"/>
          <p:cNvSpPr/>
          <p:nvPr/>
        </p:nvSpPr>
        <p:spPr>
          <a:xfrm>
            <a:off x="457200" y="146304"/>
            <a:ext cx="5486400" cy="292608"/>
          </a:xfrm>
          <a:prstGeom prst="rect">
            <a:avLst/>
          </a:prstGeom>
          <a:noFill/>
          <a:ln/>
        </p:spPr>
        <p:txBody>
          <a:bodyPr wrap="square" rtlCol="0" anchor="ctr"/>
          <a:lstStyle/>
          <a:p>
            <a:pPr marL="0" indent="0">
              <a:buNone/>
            </a:pPr>
            <a:r>
              <a:rPr lang="en-US" sz="1600" b="1" kern="0" spc="200" dirty="0">
                <a:solidFill>
                  <a:schemeClr val="bg1"/>
                </a:solidFill>
                <a:latin typeface="Calibri" pitchFamily="34" charset="0"/>
                <a:ea typeface="Calibri" pitchFamily="34" charset="-122"/>
                <a:cs typeface="Calibri" pitchFamily="34" charset="-120"/>
              </a:rPr>
              <a:t>DASHBOARD PAGE 4</a:t>
            </a:r>
            <a:endParaRPr lang="en-US" sz="1600" dirty="0">
              <a:solidFill>
                <a:schemeClr val="bg1"/>
              </a:solidFill>
            </a:endParaRPr>
          </a:p>
        </p:txBody>
      </p:sp>
      <p:sp>
        <p:nvSpPr>
          <p:cNvPr id="4" name="Text 2"/>
          <p:cNvSpPr/>
          <p:nvPr/>
        </p:nvSpPr>
        <p:spPr>
          <a:xfrm>
            <a:off x="457200" y="420624"/>
            <a:ext cx="7772400" cy="548640"/>
          </a:xfrm>
          <a:prstGeom prst="rect">
            <a:avLst/>
          </a:prstGeom>
          <a:noFill/>
          <a:ln/>
        </p:spPr>
        <p:txBody>
          <a:bodyPr wrap="square" rtlCol="0" anchor="ctr"/>
          <a:lstStyle/>
          <a:p>
            <a:pPr marL="0" indent="0">
              <a:buNone/>
            </a:pPr>
            <a:r>
              <a:rPr lang="en-US" sz="2800" b="1" dirty="0">
                <a:solidFill>
                  <a:srgbClr val="FFFFFF"/>
                </a:solidFill>
                <a:latin typeface="Bookman Old Style" pitchFamily="34" charset="0"/>
                <a:ea typeface="Bookman Old Style" pitchFamily="34" charset="-122"/>
                <a:cs typeface="Bookman Old Style" pitchFamily="34" charset="-120"/>
              </a:rPr>
              <a:t>Sport &amp; Event Analysis</a:t>
            </a:r>
            <a:endParaRPr lang="en-US" sz="2800" dirty="0"/>
          </a:p>
        </p:txBody>
      </p:sp>
      <p:sp>
        <p:nvSpPr>
          <p:cNvPr id="5" name="Shape 3"/>
          <p:cNvSpPr/>
          <p:nvPr/>
        </p:nvSpPr>
        <p:spPr>
          <a:xfrm>
            <a:off x="10607040" y="384048"/>
            <a:ext cx="256032" cy="256032"/>
          </a:xfrm>
          <a:prstGeom prst="ellipse">
            <a:avLst/>
          </a:prstGeom>
          <a:ln w="27940">
            <a:solidFill>
              <a:srgbClr val="0081C8"/>
            </a:solidFill>
            <a:prstDash val="solid"/>
          </a:ln>
        </p:spPr>
      </p:sp>
      <p:sp>
        <p:nvSpPr>
          <p:cNvPr id="6" name="Shape 4"/>
          <p:cNvSpPr/>
          <p:nvPr/>
        </p:nvSpPr>
        <p:spPr>
          <a:xfrm>
            <a:off x="10747858" y="384048"/>
            <a:ext cx="256032" cy="256032"/>
          </a:xfrm>
          <a:prstGeom prst="ellipse">
            <a:avLst/>
          </a:prstGeom>
          <a:ln w="27940">
            <a:solidFill>
              <a:srgbClr val="FCB131"/>
            </a:solidFill>
            <a:prstDash val="solid"/>
          </a:ln>
        </p:spPr>
      </p:sp>
      <p:sp>
        <p:nvSpPr>
          <p:cNvPr id="7" name="Shape 5"/>
          <p:cNvSpPr/>
          <p:nvPr/>
        </p:nvSpPr>
        <p:spPr>
          <a:xfrm>
            <a:off x="10888675" y="384048"/>
            <a:ext cx="256032" cy="256032"/>
          </a:xfrm>
          <a:prstGeom prst="ellipse">
            <a:avLst/>
          </a:prstGeom>
          <a:ln w="27940">
            <a:solidFill>
              <a:srgbClr val="1A1A1A"/>
            </a:solidFill>
            <a:prstDash val="solid"/>
          </a:ln>
        </p:spPr>
      </p:sp>
      <p:sp>
        <p:nvSpPr>
          <p:cNvPr id="8" name="Shape 6"/>
          <p:cNvSpPr/>
          <p:nvPr/>
        </p:nvSpPr>
        <p:spPr>
          <a:xfrm>
            <a:off x="11029493" y="384048"/>
            <a:ext cx="256032" cy="256032"/>
          </a:xfrm>
          <a:prstGeom prst="ellipse">
            <a:avLst/>
          </a:prstGeom>
          <a:ln w="27940">
            <a:solidFill>
              <a:srgbClr val="00A651"/>
            </a:solidFill>
            <a:prstDash val="solid"/>
          </a:ln>
        </p:spPr>
      </p:sp>
      <p:sp>
        <p:nvSpPr>
          <p:cNvPr id="9" name="Shape 7"/>
          <p:cNvSpPr/>
          <p:nvPr/>
        </p:nvSpPr>
        <p:spPr>
          <a:xfrm>
            <a:off x="11170310" y="384048"/>
            <a:ext cx="256032" cy="256032"/>
          </a:xfrm>
          <a:prstGeom prst="ellipse">
            <a:avLst/>
          </a:prstGeom>
          <a:ln w="27940">
            <a:solidFill>
              <a:srgbClr val="EE334E"/>
            </a:solidFill>
            <a:prstDash val="solid"/>
          </a:ln>
        </p:spPr>
      </p:sp>
      <p:sp>
        <p:nvSpPr>
          <p:cNvPr id="10" name="Shape 8"/>
          <p:cNvSpPr/>
          <p:nvPr/>
        </p:nvSpPr>
        <p:spPr>
          <a:xfrm>
            <a:off x="197741" y="1188720"/>
            <a:ext cx="7234501" cy="4528146"/>
          </a:xfrm>
          <a:prstGeom prst="roundRect">
            <a:avLst>
              <a:gd name="adj" fmla="val 1075"/>
            </a:avLst>
          </a:prstGeom>
          <a:solidFill>
            <a:srgbClr val="F4F6F9"/>
          </a:solidFill>
          <a:ln w="25400">
            <a:solidFill>
              <a:srgbClr val="EE334E"/>
            </a:solidFill>
            <a:prstDash val="solid"/>
          </a:ln>
        </p:spPr>
      </p:sp>
      <p:pic>
        <p:nvPicPr>
          <p:cNvPr id="11" name="Image 0" descr="/home/claude/ppt/screens/page4_sport.png"/>
          <p:cNvPicPr>
            <a:picLocks noChangeAspect="1"/>
          </p:cNvPicPr>
          <p:nvPr/>
        </p:nvPicPr>
        <p:blipFill>
          <a:blip r:embed="rId3"/>
          <a:srcRect/>
          <a:stretch/>
        </p:blipFill>
        <p:spPr>
          <a:xfrm>
            <a:off x="146788" y="1188720"/>
            <a:ext cx="7444152" cy="4610480"/>
          </a:xfrm>
          <a:prstGeom prst="rect">
            <a:avLst/>
          </a:prstGeom>
        </p:spPr>
      </p:pic>
      <p:sp>
        <p:nvSpPr>
          <p:cNvPr id="12" name="Shape 9"/>
          <p:cNvSpPr/>
          <p:nvPr/>
        </p:nvSpPr>
        <p:spPr>
          <a:xfrm>
            <a:off x="197740" y="5890042"/>
            <a:ext cx="7234501" cy="658368"/>
          </a:xfrm>
          <a:prstGeom prst="roundRect">
            <a:avLst>
              <a:gd name="adj" fmla="val 8333"/>
            </a:avLst>
          </a:prstGeom>
          <a:solidFill>
            <a:schemeClr val="accent2">
              <a:lumMod val="75000"/>
            </a:schemeClr>
          </a:solidFill>
          <a:ln/>
        </p:spPr>
      </p:sp>
      <p:sp>
        <p:nvSpPr>
          <p:cNvPr id="13" name="Text 10"/>
          <p:cNvSpPr/>
          <p:nvPr/>
        </p:nvSpPr>
        <p:spPr>
          <a:xfrm>
            <a:off x="269048" y="5820828"/>
            <a:ext cx="2103120" cy="658368"/>
          </a:xfrm>
          <a:prstGeom prst="rect">
            <a:avLst/>
          </a:prstGeom>
          <a:noFill/>
          <a:ln/>
        </p:spPr>
        <p:txBody>
          <a:bodyPr wrap="square" rtlCol="0" anchor="ctr"/>
          <a:lstStyle/>
          <a:p>
            <a:pPr marL="0" indent="0">
              <a:buNone/>
            </a:pPr>
            <a:r>
              <a:rPr lang="en-US" sz="2200" b="1" dirty="0">
                <a:solidFill>
                  <a:srgbClr val="FFFFFF"/>
                </a:solidFill>
                <a:latin typeface="Bookman Old Style" pitchFamily="34" charset="0"/>
                <a:ea typeface="Bookman Old Style" pitchFamily="34" charset="-122"/>
                <a:cs typeface="Bookman Old Style" pitchFamily="34" charset="-120"/>
              </a:rPr>
              <a:t>112</a:t>
            </a:r>
            <a:endParaRPr lang="en-US" sz="2200" dirty="0"/>
          </a:p>
        </p:txBody>
      </p:sp>
      <p:sp>
        <p:nvSpPr>
          <p:cNvPr id="14" name="Text 11"/>
          <p:cNvSpPr/>
          <p:nvPr/>
        </p:nvSpPr>
        <p:spPr>
          <a:xfrm>
            <a:off x="1080005" y="5863170"/>
            <a:ext cx="5849729" cy="658368"/>
          </a:xfrm>
          <a:prstGeom prst="rect">
            <a:avLst/>
          </a:prstGeom>
          <a:noFill/>
          <a:ln/>
        </p:spPr>
        <p:txBody>
          <a:bodyPr wrap="square" rtlCol="0" anchor="ctr"/>
          <a:lstStyle/>
          <a:p>
            <a:pPr marL="0" indent="0">
              <a:lnSpc>
                <a:spcPct val="105000"/>
              </a:lnSpc>
              <a:buNone/>
            </a:pPr>
            <a:r>
              <a:rPr lang="en-US" sz="1600" dirty="0">
                <a:solidFill>
                  <a:srgbClr val="FFFFFF"/>
                </a:solidFill>
                <a:latin typeface="Calibri" pitchFamily="34" charset="0"/>
                <a:ea typeface="Calibri" pitchFamily="34" charset="-122"/>
                <a:cs typeface="Calibri" pitchFamily="34" charset="-120"/>
              </a:rPr>
              <a:t>distinct sports have appeared on the Olympic program since  1896</a:t>
            </a:r>
            <a:endParaRPr lang="en-US" sz="1600" dirty="0"/>
          </a:p>
        </p:txBody>
      </p:sp>
      <p:sp>
        <p:nvSpPr>
          <p:cNvPr id="15" name="Shape 12"/>
          <p:cNvSpPr/>
          <p:nvPr/>
        </p:nvSpPr>
        <p:spPr>
          <a:xfrm>
            <a:off x="7637983" y="1316736"/>
            <a:ext cx="4420284" cy="1170432"/>
          </a:xfrm>
          <a:prstGeom prst="roundRect">
            <a:avLst>
              <a:gd name="adj" fmla="val 5469"/>
            </a:avLst>
          </a:prstGeom>
          <a:solidFill>
            <a:srgbClr val="F4F6F9"/>
          </a:solidFill>
          <a:ln/>
        </p:spPr>
        <p:txBody>
          <a:bodyPr/>
          <a:lstStyle/>
          <a:p>
            <a:endParaRPr lang="en-IN" dirty="0"/>
          </a:p>
        </p:txBody>
      </p:sp>
      <p:sp>
        <p:nvSpPr>
          <p:cNvPr id="16" name="Shape 13"/>
          <p:cNvSpPr/>
          <p:nvPr/>
        </p:nvSpPr>
        <p:spPr>
          <a:xfrm flipH="1">
            <a:off x="7673542" y="1344168"/>
            <a:ext cx="45719" cy="1170432"/>
          </a:xfrm>
          <a:prstGeom prst="roundRect">
            <a:avLst/>
          </a:prstGeom>
          <a:solidFill>
            <a:srgbClr val="EE334E"/>
          </a:solidFill>
          <a:ln/>
        </p:spPr>
      </p:sp>
      <p:sp>
        <p:nvSpPr>
          <p:cNvPr id="17" name="Shape 14"/>
          <p:cNvSpPr/>
          <p:nvPr/>
        </p:nvSpPr>
        <p:spPr>
          <a:xfrm>
            <a:off x="7794468" y="1712858"/>
            <a:ext cx="475488" cy="475488"/>
          </a:xfrm>
          <a:prstGeom prst="ellipse">
            <a:avLst/>
          </a:prstGeom>
          <a:solidFill>
            <a:srgbClr val="EE334E"/>
          </a:solidFill>
          <a:ln/>
        </p:spPr>
      </p:sp>
      <p:pic>
        <p:nvPicPr>
          <p:cNvPr id="18" name="Image 1" descr="/home/claude/ppt/icons/calendar_FFFFFF.png"/>
          <p:cNvPicPr>
            <a:picLocks noChangeAspect="1"/>
          </p:cNvPicPr>
          <p:nvPr/>
        </p:nvPicPr>
        <p:blipFill>
          <a:blip r:embed="rId4"/>
          <a:stretch>
            <a:fillRect/>
          </a:stretch>
        </p:blipFill>
        <p:spPr>
          <a:xfrm>
            <a:off x="7901453" y="1809785"/>
            <a:ext cx="261518" cy="261518"/>
          </a:xfrm>
          <a:prstGeom prst="rect">
            <a:avLst/>
          </a:prstGeom>
        </p:spPr>
      </p:pic>
      <p:sp>
        <p:nvSpPr>
          <p:cNvPr id="19" name="Text 15"/>
          <p:cNvSpPr/>
          <p:nvPr/>
        </p:nvSpPr>
        <p:spPr>
          <a:xfrm>
            <a:off x="8395386" y="1276334"/>
            <a:ext cx="3730752" cy="384048"/>
          </a:xfrm>
          <a:prstGeom prst="rect">
            <a:avLst/>
          </a:prstGeom>
          <a:noFill/>
          <a:ln/>
        </p:spPr>
        <p:txBody>
          <a:bodyPr wrap="square" rtlCol="0" anchor="ctr"/>
          <a:lstStyle/>
          <a:p>
            <a:pPr marL="0" indent="0">
              <a:buNone/>
            </a:pPr>
            <a:r>
              <a:rPr lang="en-US" sz="2000" b="1" dirty="0">
                <a:solidFill>
                  <a:srgbClr val="EE334E"/>
                </a:solidFill>
                <a:latin typeface="Bookman Old Style" pitchFamily="34" charset="0"/>
                <a:ea typeface="Bookman Old Style" pitchFamily="34" charset="-122"/>
                <a:cs typeface="Bookman Old Style" pitchFamily="34" charset="-120"/>
              </a:rPr>
              <a:t>Archery's gap</a:t>
            </a:r>
            <a:endParaRPr lang="en-US" sz="2000" dirty="0"/>
          </a:p>
        </p:txBody>
      </p:sp>
      <p:sp>
        <p:nvSpPr>
          <p:cNvPr id="20" name="Text 16"/>
          <p:cNvSpPr/>
          <p:nvPr/>
        </p:nvSpPr>
        <p:spPr>
          <a:xfrm>
            <a:off x="8395386" y="1719072"/>
            <a:ext cx="3730752" cy="667512"/>
          </a:xfrm>
          <a:prstGeom prst="rect">
            <a:avLst/>
          </a:prstGeom>
          <a:noFill/>
          <a:ln/>
        </p:spPr>
        <p:txBody>
          <a:bodyPr wrap="square" rtlCol="0" anchor="ctr"/>
          <a:lstStyle/>
          <a:p>
            <a:pPr marL="0" indent="0">
              <a:lnSpc>
                <a:spcPct val="110000"/>
              </a:lnSpc>
              <a:buNone/>
            </a:pPr>
            <a:r>
              <a:rPr lang="en-US" sz="1600" dirty="0">
                <a:latin typeface="Calibri" pitchFamily="34" charset="0"/>
                <a:ea typeface="Calibri" pitchFamily="34" charset="-122"/>
                <a:cs typeface="Calibri" pitchFamily="34" charset="-120"/>
              </a:rPr>
              <a:t>Peaked at 80 medals (1920), vanished for decades, returned strong from 1972 — matches its real removal &amp; reinstatement.</a:t>
            </a:r>
            <a:endParaRPr lang="en-US" sz="1600" dirty="0"/>
          </a:p>
        </p:txBody>
      </p:sp>
      <p:sp>
        <p:nvSpPr>
          <p:cNvPr id="21" name="Shape 17"/>
          <p:cNvSpPr/>
          <p:nvPr/>
        </p:nvSpPr>
        <p:spPr>
          <a:xfrm>
            <a:off x="7637983" y="2662081"/>
            <a:ext cx="4420284" cy="1170432"/>
          </a:xfrm>
          <a:prstGeom prst="roundRect">
            <a:avLst>
              <a:gd name="adj" fmla="val 5469"/>
            </a:avLst>
          </a:prstGeom>
          <a:solidFill>
            <a:srgbClr val="F4F6F9"/>
          </a:solidFill>
          <a:ln/>
        </p:spPr>
      </p:sp>
      <p:sp>
        <p:nvSpPr>
          <p:cNvPr id="22" name="Shape 18"/>
          <p:cNvSpPr/>
          <p:nvPr/>
        </p:nvSpPr>
        <p:spPr>
          <a:xfrm>
            <a:off x="7674877" y="2683764"/>
            <a:ext cx="64008" cy="1170432"/>
          </a:xfrm>
          <a:prstGeom prst="roundRect">
            <a:avLst/>
          </a:prstGeom>
          <a:solidFill>
            <a:srgbClr val="0081C8"/>
          </a:solidFill>
          <a:ln/>
        </p:spPr>
      </p:sp>
      <p:sp>
        <p:nvSpPr>
          <p:cNvPr id="23" name="Shape 19"/>
          <p:cNvSpPr/>
          <p:nvPr/>
        </p:nvSpPr>
        <p:spPr>
          <a:xfrm>
            <a:off x="7814837" y="2990145"/>
            <a:ext cx="475488" cy="475488"/>
          </a:xfrm>
          <a:prstGeom prst="ellipse">
            <a:avLst/>
          </a:prstGeom>
          <a:solidFill>
            <a:srgbClr val="0081C8"/>
          </a:solidFill>
          <a:ln/>
        </p:spPr>
      </p:sp>
      <p:pic>
        <p:nvPicPr>
          <p:cNvPr id="24" name="Image 2" descr="/home/claude/ppt/icons/trophy_FFFFFF.png"/>
          <p:cNvPicPr>
            <a:picLocks noChangeAspect="1"/>
          </p:cNvPicPr>
          <p:nvPr/>
        </p:nvPicPr>
        <p:blipFill>
          <a:blip r:embed="rId5"/>
          <a:stretch>
            <a:fillRect/>
          </a:stretch>
        </p:blipFill>
        <p:spPr>
          <a:xfrm>
            <a:off x="7886178" y="3110846"/>
            <a:ext cx="261518" cy="261518"/>
          </a:xfrm>
          <a:prstGeom prst="rect">
            <a:avLst/>
          </a:prstGeom>
        </p:spPr>
      </p:pic>
      <p:sp>
        <p:nvSpPr>
          <p:cNvPr id="25" name="Text 20"/>
          <p:cNvSpPr/>
          <p:nvPr/>
        </p:nvSpPr>
        <p:spPr>
          <a:xfrm>
            <a:off x="8458200" y="2670048"/>
            <a:ext cx="3730752" cy="384048"/>
          </a:xfrm>
          <a:prstGeom prst="rect">
            <a:avLst/>
          </a:prstGeom>
          <a:noFill/>
          <a:ln/>
        </p:spPr>
        <p:txBody>
          <a:bodyPr wrap="square" rtlCol="0" anchor="ctr"/>
          <a:lstStyle/>
          <a:p>
            <a:pPr marL="0" indent="0">
              <a:buNone/>
            </a:pPr>
            <a:r>
              <a:rPr lang="en-US" sz="1900" b="1" dirty="0">
                <a:solidFill>
                  <a:srgbClr val="0081C8"/>
                </a:solidFill>
                <a:latin typeface="Bookman Old Style" pitchFamily="34" charset="0"/>
                <a:ea typeface="Bookman Old Style" pitchFamily="34" charset="-122"/>
                <a:cs typeface="Bookman Old Style" pitchFamily="34" charset="-120"/>
              </a:rPr>
              <a:t>USA: 44 medals</a:t>
            </a:r>
            <a:endParaRPr lang="en-US" sz="1900" dirty="0"/>
          </a:p>
        </p:txBody>
      </p:sp>
      <p:sp>
        <p:nvSpPr>
          <p:cNvPr id="26" name="Text 21"/>
          <p:cNvSpPr/>
          <p:nvPr/>
        </p:nvSpPr>
        <p:spPr>
          <a:xfrm>
            <a:off x="8419646" y="3062494"/>
            <a:ext cx="3730752" cy="667512"/>
          </a:xfrm>
          <a:prstGeom prst="rect">
            <a:avLst/>
          </a:prstGeom>
          <a:noFill/>
          <a:ln/>
        </p:spPr>
        <p:txBody>
          <a:bodyPr wrap="square" rtlCol="0" anchor="ctr"/>
          <a:lstStyle/>
          <a:p>
            <a:pPr marL="0" indent="0">
              <a:lnSpc>
                <a:spcPct val="110000"/>
              </a:lnSpc>
              <a:buNone/>
            </a:pPr>
            <a:r>
              <a:rPr lang="en-US" sz="1600" dirty="0">
                <a:latin typeface="Calibri" pitchFamily="34" charset="0"/>
                <a:ea typeface="Calibri" pitchFamily="34" charset="-122"/>
                <a:cs typeface="Calibri" pitchFamily="34" charset="-120"/>
              </a:rPr>
              <a:t>The United States leads all-time Archery medals, ahead of Great Britain (31) and Belgium (30).</a:t>
            </a:r>
            <a:endParaRPr lang="en-US" sz="1600" dirty="0"/>
          </a:p>
        </p:txBody>
      </p:sp>
      <p:sp>
        <p:nvSpPr>
          <p:cNvPr id="27" name="Shape 22"/>
          <p:cNvSpPr/>
          <p:nvPr/>
        </p:nvSpPr>
        <p:spPr>
          <a:xfrm>
            <a:off x="7674877" y="3986784"/>
            <a:ext cx="4383390" cy="1170432"/>
          </a:xfrm>
          <a:prstGeom prst="roundRect">
            <a:avLst>
              <a:gd name="adj" fmla="val 5469"/>
            </a:avLst>
          </a:prstGeom>
          <a:solidFill>
            <a:srgbClr val="F4F6F9"/>
          </a:solidFill>
          <a:ln/>
        </p:spPr>
      </p:sp>
      <p:sp>
        <p:nvSpPr>
          <p:cNvPr id="28" name="Shape 23"/>
          <p:cNvSpPr/>
          <p:nvPr/>
        </p:nvSpPr>
        <p:spPr>
          <a:xfrm>
            <a:off x="7674410" y="4005072"/>
            <a:ext cx="64008" cy="1170432"/>
          </a:xfrm>
          <a:prstGeom prst="roundRect">
            <a:avLst/>
          </a:prstGeom>
          <a:solidFill>
            <a:srgbClr val="FCB131"/>
          </a:solidFill>
          <a:ln/>
        </p:spPr>
      </p:sp>
      <p:sp>
        <p:nvSpPr>
          <p:cNvPr id="29" name="Shape 24"/>
          <p:cNvSpPr/>
          <p:nvPr/>
        </p:nvSpPr>
        <p:spPr>
          <a:xfrm>
            <a:off x="7944158" y="4251960"/>
            <a:ext cx="475488" cy="475488"/>
          </a:xfrm>
          <a:prstGeom prst="ellipse">
            <a:avLst/>
          </a:prstGeom>
          <a:solidFill>
            <a:srgbClr val="FCB131"/>
          </a:solidFill>
          <a:ln/>
        </p:spPr>
      </p:sp>
      <p:pic>
        <p:nvPicPr>
          <p:cNvPr id="30" name="Image 3" descr="/home/claude/ppt/icons/chartline_FFFFFF.png"/>
          <p:cNvPicPr>
            <a:picLocks noChangeAspect="1"/>
          </p:cNvPicPr>
          <p:nvPr/>
        </p:nvPicPr>
        <p:blipFill>
          <a:blip r:embed="rId6"/>
          <a:stretch>
            <a:fillRect/>
          </a:stretch>
        </p:blipFill>
        <p:spPr>
          <a:xfrm>
            <a:off x="8028807" y="4363368"/>
            <a:ext cx="261518" cy="261518"/>
          </a:xfrm>
          <a:prstGeom prst="rect">
            <a:avLst/>
          </a:prstGeom>
        </p:spPr>
      </p:pic>
      <p:sp>
        <p:nvSpPr>
          <p:cNvPr id="31" name="Text 25"/>
          <p:cNvSpPr/>
          <p:nvPr/>
        </p:nvSpPr>
        <p:spPr>
          <a:xfrm>
            <a:off x="8419646" y="3943303"/>
            <a:ext cx="3730752" cy="384048"/>
          </a:xfrm>
          <a:prstGeom prst="rect">
            <a:avLst/>
          </a:prstGeom>
          <a:noFill/>
          <a:ln/>
        </p:spPr>
        <p:txBody>
          <a:bodyPr wrap="square" rtlCol="0" anchor="ctr"/>
          <a:lstStyle/>
          <a:p>
            <a:pPr marL="0" indent="0">
              <a:buNone/>
            </a:pPr>
            <a:r>
              <a:rPr lang="en-US" sz="2000" b="1" dirty="0">
                <a:solidFill>
                  <a:srgbClr val="FCB131"/>
                </a:solidFill>
                <a:latin typeface="Bookman Old Style" pitchFamily="34" charset="0"/>
                <a:ea typeface="Bookman Old Style" pitchFamily="34" charset="-122"/>
                <a:cs typeface="Bookman Old Style" pitchFamily="34" charset="-120"/>
              </a:rPr>
              <a:t>8x growth</a:t>
            </a:r>
            <a:endParaRPr lang="en-US" sz="2000" dirty="0"/>
          </a:p>
        </p:txBody>
      </p:sp>
      <p:sp>
        <p:nvSpPr>
          <p:cNvPr id="32" name="Text 26"/>
          <p:cNvSpPr/>
          <p:nvPr/>
        </p:nvSpPr>
        <p:spPr>
          <a:xfrm>
            <a:off x="8379338" y="4361688"/>
            <a:ext cx="3678928" cy="667512"/>
          </a:xfrm>
          <a:prstGeom prst="rect">
            <a:avLst/>
          </a:prstGeom>
          <a:noFill/>
          <a:ln/>
        </p:spPr>
        <p:txBody>
          <a:bodyPr wrap="square" rtlCol="0" anchor="ctr"/>
          <a:lstStyle/>
          <a:p>
            <a:pPr marL="0" indent="0">
              <a:lnSpc>
                <a:spcPct val="110000"/>
              </a:lnSpc>
              <a:buNone/>
            </a:pPr>
            <a:r>
              <a:rPr lang="en-US" sz="1600" dirty="0">
                <a:latin typeface="Calibri" pitchFamily="34" charset="0"/>
                <a:ea typeface="Calibri" pitchFamily="34" charset="-122"/>
                <a:cs typeface="Calibri" pitchFamily="34" charset="-120"/>
              </a:rPr>
              <a:t>Total events grown from 43 (1900) to 369 by 2020 — steady long-term program expansion.</a:t>
            </a:r>
            <a:endParaRPr lang="en-US" sz="1600" dirty="0"/>
          </a:p>
        </p:txBody>
      </p:sp>
      <p:sp>
        <p:nvSpPr>
          <p:cNvPr id="33" name="Shape 27"/>
          <p:cNvSpPr/>
          <p:nvPr/>
        </p:nvSpPr>
        <p:spPr>
          <a:xfrm>
            <a:off x="7704378" y="5387309"/>
            <a:ext cx="4383391" cy="1170432"/>
          </a:xfrm>
          <a:prstGeom prst="roundRect">
            <a:avLst>
              <a:gd name="adj" fmla="val 5469"/>
            </a:avLst>
          </a:prstGeom>
          <a:solidFill>
            <a:srgbClr val="F4F6F9"/>
          </a:solidFill>
          <a:ln/>
        </p:spPr>
      </p:sp>
      <p:sp>
        <p:nvSpPr>
          <p:cNvPr id="34" name="Shape 28"/>
          <p:cNvSpPr/>
          <p:nvPr/>
        </p:nvSpPr>
        <p:spPr>
          <a:xfrm>
            <a:off x="7674410" y="5360213"/>
            <a:ext cx="64008" cy="1170432"/>
          </a:xfrm>
          <a:prstGeom prst="roundRect">
            <a:avLst/>
          </a:prstGeom>
          <a:solidFill>
            <a:srgbClr val="00A651"/>
          </a:solidFill>
          <a:ln/>
        </p:spPr>
      </p:sp>
      <p:sp>
        <p:nvSpPr>
          <p:cNvPr id="35" name="Shape 29"/>
          <p:cNvSpPr/>
          <p:nvPr/>
        </p:nvSpPr>
        <p:spPr>
          <a:xfrm>
            <a:off x="7927884" y="5716866"/>
            <a:ext cx="475488" cy="475488"/>
          </a:xfrm>
          <a:prstGeom prst="ellipse">
            <a:avLst/>
          </a:prstGeom>
          <a:solidFill>
            <a:srgbClr val="00A651"/>
          </a:solidFill>
          <a:ln/>
        </p:spPr>
      </p:sp>
      <p:pic>
        <p:nvPicPr>
          <p:cNvPr id="36" name="Image 4" descr="/home/claude/ppt/icons/users_FFFFFF.png"/>
          <p:cNvPicPr>
            <a:picLocks noChangeAspect="1"/>
          </p:cNvPicPr>
          <p:nvPr/>
        </p:nvPicPr>
        <p:blipFill>
          <a:blip r:embed="rId7"/>
          <a:stretch>
            <a:fillRect/>
          </a:stretch>
        </p:blipFill>
        <p:spPr>
          <a:xfrm>
            <a:off x="8030001" y="5814670"/>
            <a:ext cx="261518" cy="261518"/>
          </a:xfrm>
          <a:prstGeom prst="rect">
            <a:avLst/>
          </a:prstGeom>
        </p:spPr>
      </p:pic>
      <p:sp>
        <p:nvSpPr>
          <p:cNvPr id="37" name="Text 30"/>
          <p:cNvSpPr/>
          <p:nvPr/>
        </p:nvSpPr>
        <p:spPr>
          <a:xfrm>
            <a:off x="8483094" y="5349240"/>
            <a:ext cx="3730752" cy="384048"/>
          </a:xfrm>
          <a:prstGeom prst="rect">
            <a:avLst/>
          </a:prstGeom>
          <a:noFill/>
          <a:ln/>
        </p:spPr>
        <p:txBody>
          <a:bodyPr wrap="square" rtlCol="0" anchor="ctr"/>
          <a:lstStyle/>
          <a:p>
            <a:pPr marL="0" indent="0">
              <a:buNone/>
            </a:pPr>
            <a:r>
              <a:rPr lang="en-US" sz="2000" b="1" dirty="0">
                <a:solidFill>
                  <a:srgbClr val="00A651"/>
                </a:solidFill>
                <a:latin typeface="Bookman Old Style" pitchFamily="34" charset="0"/>
                <a:ea typeface="Bookman Old Style" pitchFamily="34" charset="-122"/>
                <a:cs typeface="Bookman Old Style" pitchFamily="34" charset="-120"/>
              </a:rPr>
              <a:t>25,208 appearances</a:t>
            </a:r>
            <a:endParaRPr lang="en-US" sz="2000" dirty="0"/>
          </a:p>
        </p:txBody>
      </p:sp>
      <p:sp>
        <p:nvSpPr>
          <p:cNvPr id="38" name="Text 31"/>
          <p:cNvSpPr/>
          <p:nvPr/>
        </p:nvSpPr>
        <p:spPr>
          <a:xfrm>
            <a:off x="8480482" y="5742432"/>
            <a:ext cx="3730752" cy="667512"/>
          </a:xfrm>
          <a:prstGeom prst="rect">
            <a:avLst/>
          </a:prstGeom>
          <a:noFill/>
          <a:ln/>
        </p:spPr>
        <p:txBody>
          <a:bodyPr wrap="square" rtlCol="0" anchor="ctr"/>
          <a:lstStyle/>
          <a:p>
            <a:pPr marL="0" indent="0">
              <a:lnSpc>
                <a:spcPct val="110000"/>
              </a:lnSpc>
              <a:buNone/>
            </a:pPr>
            <a:r>
              <a:rPr lang="en-US" sz="1400" dirty="0">
                <a:latin typeface="Calibri" pitchFamily="34" charset="0"/>
                <a:ea typeface="Calibri" pitchFamily="34" charset="-122"/>
                <a:cs typeface="Calibri" pitchFamily="34" charset="-120"/>
              </a:rPr>
              <a:t>Athletics dominates athlete participation — nearly 3x the next-highest sport, Swimming.</a:t>
            </a:r>
            <a:endParaRPr lang="en-US" sz="1400" dirty="0"/>
          </a:p>
        </p:txBody>
      </p:sp>
      <p:sp>
        <p:nvSpPr>
          <p:cNvPr id="39" name="Text 32"/>
          <p:cNvSpPr/>
          <p:nvPr/>
        </p:nvSpPr>
        <p:spPr>
          <a:xfrm>
            <a:off x="457200" y="6537960"/>
            <a:ext cx="7315200" cy="274320"/>
          </a:xfrm>
          <a:prstGeom prst="rect">
            <a:avLst/>
          </a:prstGeom>
          <a:noFill/>
          <a:ln/>
        </p:spPr>
        <p:txBody>
          <a:bodyPr wrap="square" rtlCol="0" anchor="ctr"/>
          <a:lstStyle/>
          <a:p>
            <a:pPr marL="0" indent="0">
              <a:buNone/>
            </a:pPr>
            <a:r>
              <a:rPr lang="en-US" sz="900" kern="0" spc="100" dirty="0">
                <a:solidFill>
                  <a:srgbClr val="9AA6B8"/>
                </a:solidFill>
                <a:latin typeface="Calibri" pitchFamily="34" charset="0"/>
                <a:ea typeface="Calibri" pitchFamily="34" charset="-122"/>
                <a:cs typeface="Calibri" pitchFamily="34" charset="-120"/>
              </a:rPr>
              <a:t>OLYMPIC INSIGHTS  |  POWER BI ANALYTICS PROJECT</a:t>
            </a:r>
            <a:endParaRPr lang="en-US" sz="900" dirty="0"/>
          </a:p>
        </p:txBody>
      </p:sp>
      <p:sp>
        <p:nvSpPr>
          <p:cNvPr id="40" name="Text 33"/>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oundRect">
            <a:avLst/>
          </a:prstGeom>
          <a:solidFill>
            <a:schemeClr val="bg1">
              <a:lumMod val="50000"/>
            </a:schemeClr>
          </a:solidFill>
          <a:ln/>
        </p:spPr>
      </p:sp>
      <p:sp>
        <p:nvSpPr>
          <p:cNvPr id="3" name="Text 1"/>
          <p:cNvSpPr/>
          <p:nvPr/>
        </p:nvSpPr>
        <p:spPr>
          <a:xfrm>
            <a:off x="457200" y="146304"/>
            <a:ext cx="5486400" cy="292608"/>
          </a:xfrm>
          <a:prstGeom prst="rect">
            <a:avLst/>
          </a:prstGeom>
          <a:noFill/>
          <a:ln/>
        </p:spPr>
        <p:txBody>
          <a:bodyPr wrap="square" rtlCol="0" anchor="ctr"/>
          <a:lstStyle/>
          <a:p>
            <a:pPr marL="0" indent="0">
              <a:buNone/>
            </a:pPr>
            <a:r>
              <a:rPr lang="en-US" b="1" kern="0" spc="200" dirty="0">
                <a:solidFill>
                  <a:schemeClr val="bg1"/>
                </a:solidFill>
                <a:latin typeface="Calibri" pitchFamily="34" charset="0"/>
                <a:ea typeface="Calibri" pitchFamily="34" charset="-122"/>
                <a:cs typeface="Calibri" pitchFamily="34" charset="-120"/>
              </a:rPr>
              <a:t>DASHBOARD PAGE 5</a:t>
            </a:r>
            <a:endParaRPr lang="en-US" dirty="0">
              <a:solidFill>
                <a:schemeClr val="bg1"/>
              </a:solidFill>
            </a:endParaRPr>
          </a:p>
        </p:txBody>
      </p:sp>
      <p:sp>
        <p:nvSpPr>
          <p:cNvPr id="4" name="Text 2"/>
          <p:cNvSpPr/>
          <p:nvPr/>
        </p:nvSpPr>
        <p:spPr>
          <a:xfrm>
            <a:off x="457200" y="420624"/>
            <a:ext cx="7772400" cy="548640"/>
          </a:xfrm>
          <a:prstGeom prst="rect">
            <a:avLst/>
          </a:prstGeom>
          <a:noFill/>
          <a:ln/>
        </p:spPr>
        <p:txBody>
          <a:bodyPr wrap="square" rtlCol="0" anchor="ctr"/>
          <a:lstStyle/>
          <a:p>
            <a:pPr marL="0" indent="0">
              <a:buNone/>
            </a:pPr>
            <a:r>
              <a:rPr lang="en-US" sz="2800" b="1" dirty="0">
                <a:solidFill>
                  <a:srgbClr val="FFFFFF"/>
                </a:solidFill>
                <a:latin typeface="Bookman Old Style" pitchFamily="34" charset="0"/>
                <a:ea typeface="Bookman Old Style" pitchFamily="34" charset="-122"/>
                <a:cs typeface="Bookman Old Style" pitchFamily="34" charset="-120"/>
              </a:rPr>
              <a:t>Host Country Analysis</a:t>
            </a:r>
            <a:endParaRPr lang="en-US" sz="2800" dirty="0"/>
          </a:p>
        </p:txBody>
      </p:sp>
      <p:sp>
        <p:nvSpPr>
          <p:cNvPr id="5" name="Shape 3"/>
          <p:cNvSpPr/>
          <p:nvPr/>
        </p:nvSpPr>
        <p:spPr>
          <a:xfrm>
            <a:off x="10607040" y="384048"/>
            <a:ext cx="256032" cy="256032"/>
          </a:xfrm>
          <a:prstGeom prst="ellipse">
            <a:avLst/>
          </a:prstGeom>
          <a:ln w="27940">
            <a:solidFill>
              <a:srgbClr val="0081C8"/>
            </a:solidFill>
            <a:prstDash val="solid"/>
          </a:ln>
        </p:spPr>
      </p:sp>
      <p:sp>
        <p:nvSpPr>
          <p:cNvPr id="6" name="Shape 4"/>
          <p:cNvSpPr/>
          <p:nvPr/>
        </p:nvSpPr>
        <p:spPr>
          <a:xfrm>
            <a:off x="10747858" y="384048"/>
            <a:ext cx="256032" cy="256032"/>
          </a:xfrm>
          <a:prstGeom prst="ellipse">
            <a:avLst/>
          </a:prstGeom>
          <a:ln w="27940">
            <a:solidFill>
              <a:srgbClr val="FCB131"/>
            </a:solidFill>
            <a:prstDash val="solid"/>
          </a:ln>
        </p:spPr>
      </p:sp>
      <p:sp>
        <p:nvSpPr>
          <p:cNvPr id="7" name="Shape 5"/>
          <p:cNvSpPr/>
          <p:nvPr/>
        </p:nvSpPr>
        <p:spPr>
          <a:xfrm>
            <a:off x="10888675" y="384048"/>
            <a:ext cx="256032" cy="256032"/>
          </a:xfrm>
          <a:prstGeom prst="ellipse">
            <a:avLst/>
          </a:prstGeom>
          <a:ln w="27940">
            <a:solidFill>
              <a:srgbClr val="1A1A1A"/>
            </a:solidFill>
            <a:prstDash val="solid"/>
          </a:ln>
        </p:spPr>
      </p:sp>
      <p:sp>
        <p:nvSpPr>
          <p:cNvPr id="8" name="Shape 6"/>
          <p:cNvSpPr/>
          <p:nvPr/>
        </p:nvSpPr>
        <p:spPr>
          <a:xfrm>
            <a:off x="11029493" y="384048"/>
            <a:ext cx="256032" cy="256032"/>
          </a:xfrm>
          <a:prstGeom prst="ellipse">
            <a:avLst/>
          </a:prstGeom>
          <a:ln w="27940">
            <a:solidFill>
              <a:srgbClr val="00A651"/>
            </a:solidFill>
            <a:prstDash val="solid"/>
          </a:ln>
        </p:spPr>
      </p:sp>
      <p:sp>
        <p:nvSpPr>
          <p:cNvPr id="9" name="Shape 7"/>
          <p:cNvSpPr/>
          <p:nvPr/>
        </p:nvSpPr>
        <p:spPr>
          <a:xfrm>
            <a:off x="11170310" y="384048"/>
            <a:ext cx="256032" cy="256032"/>
          </a:xfrm>
          <a:prstGeom prst="ellipse">
            <a:avLst/>
          </a:prstGeom>
          <a:ln w="27940">
            <a:solidFill>
              <a:srgbClr val="EE334E"/>
            </a:solidFill>
            <a:prstDash val="solid"/>
          </a:ln>
        </p:spPr>
      </p:sp>
      <p:sp>
        <p:nvSpPr>
          <p:cNvPr id="10" name="Shape 8"/>
          <p:cNvSpPr/>
          <p:nvPr/>
        </p:nvSpPr>
        <p:spPr>
          <a:xfrm>
            <a:off x="365760" y="1188720"/>
            <a:ext cx="7227501" cy="4526280"/>
          </a:xfrm>
          <a:prstGeom prst="roundRect">
            <a:avLst>
              <a:gd name="adj" fmla="val 1075"/>
            </a:avLst>
          </a:prstGeom>
          <a:solidFill>
            <a:srgbClr val="F4F6F9"/>
          </a:solidFill>
          <a:ln w="25400">
            <a:solidFill>
              <a:srgbClr val="0081C8"/>
            </a:solidFill>
            <a:prstDash val="solid"/>
          </a:ln>
        </p:spPr>
      </p:sp>
      <p:pic>
        <p:nvPicPr>
          <p:cNvPr id="11" name="Image 0" descr="/home/claude/ppt/screens/page5_host.png"/>
          <p:cNvPicPr>
            <a:picLocks noChangeAspect="1"/>
          </p:cNvPicPr>
          <p:nvPr/>
        </p:nvPicPr>
        <p:blipFill>
          <a:blip r:embed="rId3"/>
          <a:srcRect/>
          <a:stretch/>
        </p:blipFill>
        <p:spPr>
          <a:xfrm>
            <a:off x="365761" y="1143000"/>
            <a:ext cx="7274158" cy="4572000"/>
          </a:xfrm>
          <a:prstGeom prst="rect">
            <a:avLst/>
          </a:prstGeom>
        </p:spPr>
      </p:pic>
      <p:sp>
        <p:nvSpPr>
          <p:cNvPr id="12" name="Shape 9"/>
          <p:cNvSpPr/>
          <p:nvPr/>
        </p:nvSpPr>
        <p:spPr>
          <a:xfrm>
            <a:off x="324718" y="5870448"/>
            <a:ext cx="7315200" cy="658368"/>
          </a:xfrm>
          <a:prstGeom prst="roundRect">
            <a:avLst>
              <a:gd name="adj" fmla="val 8333"/>
            </a:avLst>
          </a:prstGeom>
          <a:solidFill>
            <a:schemeClr val="accent1">
              <a:lumMod val="75000"/>
            </a:schemeClr>
          </a:solidFill>
          <a:ln/>
        </p:spPr>
      </p:sp>
      <p:sp>
        <p:nvSpPr>
          <p:cNvPr id="13" name="Text 10"/>
          <p:cNvSpPr/>
          <p:nvPr/>
        </p:nvSpPr>
        <p:spPr>
          <a:xfrm>
            <a:off x="498722" y="5879592"/>
            <a:ext cx="2103120" cy="658368"/>
          </a:xfrm>
          <a:prstGeom prst="rect">
            <a:avLst/>
          </a:prstGeom>
          <a:noFill/>
          <a:ln/>
        </p:spPr>
        <p:txBody>
          <a:bodyPr wrap="square" rtlCol="0" anchor="ctr"/>
          <a:lstStyle/>
          <a:p>
            <a:pPr marL="0" indent="0">
              <a:buNone/>
            </a:pPr>
            <a:r>
              <a:rPr lang="en-US" sz="2200" b="1" dirty="0">
                <a:solidFill>
                  <a:srgbClr val="FFFFFF"/>
                </a:solidFill>
                <a:latin typeface="Bookman Old Style" pitchFamily="34" charset="0"/>
                <a:ea typeface="Bookman Old Style" pitchFamily="34" charset="-122"/>
                <a:cs typeface="Bookman Old Style" pitchFamily="34" charset="-120"/>
              </a:rPr>
              <a:t>36 vs 11</a:t>
            </a:r>
            <a:endParaRPr lang="en-US" sz="2200" dirty="0"/>
          </a:p>
        </p:txBody>
      </p:sp>
      <p:sp>
        <p:nvSpPr>
          <p:cNvPr id="14" name="Text 11"/>
          <p:cNvSpPr/>
          <p:nvPr/>
        </p:nvSpPr>
        <p:spPr>
          <a:xfrm>
            <a:off x="2057399" y="5888736"/>
            <a:ext cx="6011267" cy="658368"/>
          </a:xfrm>
          <a:prstGeom prst="rect">
            <a:avLst/>
          </a:prstGeom>
          <a:noFill/>
          <a:ln/>
        </p:spPr>
        <p:txBody>
          <a:bodyPr wrap="square" rtlCol="0" anchor="ctr"/>
          <a:lstStyle/>
          <a:p>
            <a:pPr marL="0" indent="0">
              <a:lnSpc>
                <a:spcPct val="105000"/>
              </a:lnSpc>
              <a:buNone/>
            </a:pPr>
            <a:r>
              <a:rPr lang="en-US" sz="1600" dirty="0">
                <a:solidFill>
                  <a:srgbClr val="FFFFFF"/>
                </a:solidFill>
                <a:latin typeface="Calibri" pitchFamily="34" charset="0"/>
                <a:ea typeface="Calibri" pitchFamily="34" charset="-122"/>
                <a:cs typeface="Calibri" pitchFamily="34" charset="-120"/>
              </a:rPr>
              <a:t>Italy's medal count the year it hosted (1960) vs. by the mid-2000s</a:t>
            </a:r>
            <a:endParaRPr lang="en-US" sz="1600" dirty="0"/>
          </a:p>
        </p:txBody>
      </p:sp>
      <p:sp>
        <p:nvSpPr>
          <p:cNvPr id="15" name="Shape 12"/>
          <p:cNvSpPr/>
          <p:nvPr/>
        </p:nvSpPr>
        <p:spPr>
          <a:xfrm>
            <a:off x="7744967" y="1243584"/>
            <a:ext cx="4368089" cy="1170432"/>
          </a:xfrm>
          <a:prstGeom prst="roundRect">
            <a:avLst>
              <a:gd name="adj" fmla="val 5469"/>
            </a:avLst>
          </a:prstGeom>
          <a:solidFill>
            <a:srgbClr val="F4F6F9"/>
          </a:solidFill>
          <a:ln/>
        </p:spPr>
      </p:sp>
      <p:sp>
        <p:nvSpPr>
          <p:cNvPr id="16" name="Shape 13"/>
          <p:cNvSpPr/>
          <p:nvPr/>
        </p:nvSpPr>
        <p:spPr>
          <a:xfrm>
            <a:off x="7770572" y="1243584"/>
            <a:ext cx="64008" cy="1170432"/>
          </a:xfrm>
          <a:prstGeom prst="roundRect">
            <a:avLst/>
          </a:prstGeom>
          <a:solidFill>
            <a:srgbClr val="FCB131"/>
          </a:solidFill>
          <a:ln/>
        </p:spPr>
      </p:sp>
      <p:sp>
        <p:nvSpPr>
          <p:cNvPr id="17" name="Shape 14"/>
          <p:cNvSpPr/>
          <p:nvPr/>
        </p:nvSpPr>
        <p:spPr>
          <a:xfrm>
            <a:off x="7849657" y="1559052"/>
            <a:ext cx="475488" cy="475488"/>
          </a:xfrm>
          <a:prstGeom prst="ellipse">
            <a:avLst/>
          </a:prstGeom>
          <a:solidFill>
            <a:srgbClr val="FCB131"/>
          </a:solidFill>
          <a:ln/>
        </p:spPr>
      </p:sp>
      <p:pic>
        <p:nvPicPr>
          <p:cNvPr id="18" name="Image 1" descr="/home/claude/ppt/icons/medal_FFFFFF.png"/>
          <p:cNvPicPr>
            <a:picLocks noChangeAspect="1"/>
          </p:cNvPicPr>
          <p:nvPr/>
        </p:nvPicPr>
        <p:blipFill>
          <a:blip r:embed="rId4"/>
          <a:stretch>
            <a:fillRect/>
          </a:stretch>
        </p:blipFill>
        <p:spPr>
          <a:xfrm>
            <a:off x="7956642" y="1688897"/>
            <a:ext cx="261518" cy="261518"/>
          </a:xfrm>
          <a:prstGeom prst="rect">
            <a:avLst/>
          </a:prstGeom>
        </p:spPr>
      </p:pic>
      <p:sp>
        <p:nvSpPr>
          <p:cNvPr id="19" name="Text 15"/>
          <p:cNvSpPr/>
          <p:nvPr/>
        </p:nvSpPr>
        <p:spPr>
          <a:xfrm>
            <a:off x="8278063" y="1307592"/>
            <a:ext cx="3730752" cy="384048"/>
          </a:xfrm>
          <a:prstGeom prst="rect">
            <a:avLst/>
          </a:prstGeom>
          <a:noFill/>
          <a:ln/>
        </p:spPr>
        <p:txBody>
          <a:bodyPr wrap="square" rtlCol="0" anchor="ctr"/>
          <a:lstStyle/>
          <a:p>
            <a:pPr marL="0" indent="0">
              <a:buNone/>
            </a:pPr>
            <a:r>
              <a:rPr lang="en-US" sz="2400" b="1" dirty="0">
                <a:solidFill>
                  <a:srgbClr val="FCB131"/>
                </a:solidFill>
                <a:latin typeface="Bookman Old Style" pitchFamily="34" charset="0"/>
                <a:ea typeface="Bookman Old Style" pitchFamily="34" charset="-122"/>
                <a:cs typeface="Bookman Old Style" pitchFamily="34" charset="-120"/>
              </a:rPr>
              <a:t>Home advantage</a:t>
            </a:r>
            <a:endParaRPr lang="en-US" sz="2400" dirty="0"/>
          </a:p>
        </p:txBody>
      </p:sp>
      <p:sp>
        <p:nvSpPr>
          <p:cNvPr id="20" name="Text 16"/>
          <p:cNvSpPr/>
          <p:nvPr/>
        </p:nvSpPr>
        <p:spPr>
          <a:xfrm>
            <a:off x="8278063" y="1691640"/>
            <a:ext cx="3730752" cy="667512"/>
          </a:xfrm>
          <a:prstGeom prst="rect">
            <a:avLst/>
          </a:prstGeom>
          <a:noFill/>
          <a:ln/>
        </p:spPr>
        <p:txBody>
          <a:bodyPr wrap="square" rtlCol="0" anchor="ctr"/>
          <a:lstStyle/>
          <a:p>
            <a:pPr marL="0" indent="0">
              <a:lnSpc>
                <a:spcPct val="110000"/>
              </a:lnSpc>
              <a:buNone/>
            </a:pPr>
            <a:r>
              <a:rPr lang="en-US" sz="1400" dirty="0">
                <a:latin typeface="Calibri" pitchFamily="34" charset="0"/>
                <a:ea typeface="Calibri" pitchFamily="34" charset="-122"/>
                <a:cs typeface="Calibri" pitchFamily="34" charset="-120"/>
              </a:rPr>
              <a:t>Italy's medals peaked exactly in 1960, the year it hosted Rome</a:t>
            </a:r>
            <a:r>
              <a:rPr lang="en-US" sz="1400" dirty="0">
                <a:solidFill>
                  <a:srgbClr val="5B6B85"/>
                </a:solidFill>
                <a:latin typeface="Calibri" pitchFamily="34" charset="0"/>
                <a:ea typeface="Calibri" pitchFamily="34" charset="-122"/>
                <a:cs typeface="Calibri" pitchFamily="34" charset="-120"/>
              </a:rPr>
              <a:t>.</a:t>
            </a:r>
            <a:endParaRPr lang="en-US" sz="1400" dirty="0"/>
          </a:p>
        </p:txBody>
      </p:sp>
      <p:sp>
        <p:nvSpPr>
          <p:cNvPr id="21" name="Shape 17"/>
          <p:cNvSpPr/>
          <p:nvPr/>
        </p:nvSpPr>
        <p:spPr>
          <a:xfrm>
            <a:off x="7772400" y="2871216"/>
            <a:ext cx="4340657" cy="1170432"/>
          </a:xfrm>
          <a:prstGeom prst="roundRect">
            <a:avLst>
              <a:gd name="adj" fmla="val 5469"/>
            </a:avLst>
          </a:prstGeom>
          <a:solidFill>
            <a:srgbClr val="F4F6F9"/>
          </a:solidFill>
          <a:ln/>
        </p:spPr>
        <p:txBody>
          <a:bodyPr/>
          <a:lstStyle/>
          <a:p>
            <a:endParaRPr lang="en-IN" dirty="0"/>
          </a:p>
        </p:txBody>
      </p:sp>
      <p:sp>
        <p:nvSpPr>
          <p:cNvPr id="22" name="Shape 18"/>
          <p:cNvSpPr/>
          <p:nvPr/>
        </p:nvSpPr>
        <p:spPr>
          <a:xfrm>
            <a:off x="7768796" y="2862072"/>
            <a:ext cx="64008" cy="1170432"/>
          </a:xfrm>
          <a:prstGeom prst="roundRect">
            <a:avLst/>
          </a:prstGeom>
          <a:solidFill>
            <a:srgbClr val="0081C8"/>
          </a:solidFill>
          <a:ln/>
        </p:spPr>
      </p:sp>
      <p:sp>
        <p:nvSpPr>
          <p:cNvPr id="23" name="Shape 19"/>
          <p:cNvSpPr/>
          <p:nvPr/>
        </p:nvSpPr>
        <p:spPr>
          <a:xfrm>
            <a:off x="7961682" y="3155370"/>
            <a:ext cx="475488" cy="475488"/>
          </a:xfrm>
          <a:prstGeom prst="ellipse">
            <a:avLst/>
          </a:prstGeom>
          <a:solidFill>
            <a:srgbClr val="0081C8"/>
          </a:solidFill>
          <a:ln/>
        </p:spPr>
      </p:sp>
      <p:pic>
        <p:nvPicPr>
          <p:cNvPr id="24" name="Image 2" descr="/home/claude/ppt/icons/chartline_FFFFFF.png"/>
          <p:cNvPicPr>
            <a:picLocks noChangeAspect="1"/>
          </p:cNvPicPr>
          <p:nvPr/>
        </p:nvPicPr>
        <p:blipFill>
          <a:blip r:embed="rId5"/>
          <a:stretch>
            <a:fillRect/>
          </a:stretch>
        </p:blipFill>
        <p:spPr>
          <a:xfrm>
            <a:off x="8068667" y="3275735"/>
            <a:ext cx="261518" cy="261518"/>
          </a:xfrm>
          <a:prstGeom prst="rect">
            <a:avLst/>
          </a:prstGeom>
        </p:spPr>
      </p:pic>
      <p:sp>
        <p:nvSpPr>
          <p:cNvPr id="25" name="Text 20"/>
          <p:cNvSpPr/>
          <p:nvPr/>
        </p:nvSpPr>
        <p:spPr>
          <a:xfrm>
            <a:off x="8412480" y="2962656"/>
            <a:ext cx="3730752" cy="384048"/>
          </a:xfrm>
          <a:prstGeom prst="rect">
            <a:avLst/>
          </a:prstGeom>
          <a:noFill/>
          <a:ln/>
        </p:spPr>
        <p:txBody>
          <a:bodyPr wrap="square" rtlCol="0" anchor="ctr"/>
          <a:lstStyle/>
          <a:p>
            <a:pPr marL="0" indent="0">
              <a:buNone/>
            </a:pPr>
            <a:r>
              <a:rPr lang="en-US" sz="2000" b="1" dirty="0">
                <a:solidFill>
                  <a:srgbClr val="0081C8"/>
                </a:solidFill>
                <a:latin typeface="Bookman Old Style" pitchFamily="34" charset="0"/>
                <a:ea typeface="Bookman Old Style" pitchFamily="34" charset="-122"/>
                <a:cs typeface="Bookman Old Style" pitchFamily="34" charset="-120"/>
              </a:rPr>
              <a:t>One-time boost</a:t>
            </a:r>
            <a:endParaRPr lang="en-US" sz="2000" dirty="0"/>
          </a:p>
        </p:txBody>
      </p:sp>
      <p:sp>
        <p:nvSpPr>
          <p:cNvPr id="26" name="Text 21"/>
          <p:cNvSpPr/>
          <p:nvPr/>
        </p:nvSpPr>
        <p:spPr>
          <a:xfrm>
            <a:off x="8397393" y="3278124"/>
            <a:ext cx="3730752" cy="667512"/>
          </a:xfrm>
          <a:prstGeom prst="rect">
            <a:avLst/>
          </a:prstGeom>
          <a:noFill/>
          <a:ln/>
        </p:spPr>
        <p:txBody>
          <a:bodyPr wrap="square" rtlCol="0" anchor="ctr"/>
          <a:lstStyle/>
          <a:p>
            <a:pPr marL="0" indent="0">
              <a:lnSpc>
                <a:spcPct val="110000"/>
              </a:lnSpc>
              <a:buNone/>
            </a:pPr>
            <a:r>
              <a:rPr lang="en-US" sz="1400" dirty="0">
                <a:latin typeface="Calibri" pitchFamily="34" charset="0"/>
                <a:ea typeface="Calibri" pitchFamily="34" charset="-122"/>
                <a:cs typeface="Calibri" pitchFamily="34" charset="-120"/>
              </a:rPr>
              <a:t>The advantage faded steadily afterward — hosting lifts performance once, not permanently.</a:t>
            </a:r>
            <a:endParaRPr lang="en-US" sz="1400" dirty="0"/>
          </a:p>
        </p:txBody>
      </p:sp>
      <p:sp>
        <p:nvSpPr>
          <p:cNvPr id="27" name="Shape 22"/>
          <p:cNvSpPr/>
          <p:nvPr/>
        </p:nvSpPr>
        <p:spPr>
          <a:xfrm>
            <a:off x="7822318" y="4526280"/>
            <a:ext cx="4333800" cy="1170432"/>
          </a:xfrm>
          <a:prstGeom prst="roundRect">
            <a:avLst>
              <a:gd name="adj" fmla="val 5469"/>
            </a:avLst>
          </a:prstGeom>
          <a:solidFill>
            <a:srgbClr val="F4F6F9"/>
          </a:solidFill>
          <a:ln/>
        </p:spPr>
        <p:txBody>
          <a:bodyPr/>
          <a:lstStyle/>
          <a:p>
            <a:endParaRPr lang="en-IN" dirty="0"/>
          </a:p>
        </p:txBody>
      </p:sp>
      <p:sp>
        <p:nvSpPr>
          <p:cNvPr id="28" name="Shape 23"/>
          <p:cNvSpPr/>
          <p:nvPr/>
        </p:nvSpPr>
        <p:spPr>
          <a:xfrm>
            <a:off x="7822318" y="4528706"/>
            <a:ext cx="64008" cy="1170432"/>
          </a:xfrm>
          <a:prstGeom prst="roundRect">
            <a:avLst/>
          </a:prstGeom>
          <a:solidFill>
            <a:srgbClr val="00A651"/>
          </a:solidFill>
          <a:ln/>
        </p:spPr>
      </p:sp>
      <p:sp>
        <p:nvSpPr>
          <p:cNvPr id="29" name="Shape 24"/>
          <p:cNvSpPr/>
          <p:nvPr/>
        </p:nvSpPr>
        <p:spPr>
          <a:xfrm>
            <a:off x="8038032" y="4690872"/>
            <a:ext cx="475488" cy="475488"/>
          </a:xfrm>
          <a:prstGeom prst="ellipse">
            <a:avLst/>
          </a:prstGeom>
          <a:solidFill>
            <a:srgbClr val="00A651"/>
          </a:solidFill>
          <a:ln/>
        </p:spPr>
      </p:sp>
      <p:pic>
        <p:nvPicPr>
          <p:cNvPr id="30" name="Image 3" descr="/home/claude/ppt/icons/flag_FFFFFF.png"/>
          <p:cNvPicPr>
            <a:picLocks noChangeAspect="1"/>
          </p:cNvPicPr>
          <p:nvPr/>
        </p:nvPicPr>
        <p:blipFill>
          <a:blip r:embed="rId6"/>
          <a:stretch>
            <a:fillRect/>
          </a:stretch>
        </p:blipFill>
        <p:spPr>
          <a:xfrm>
            <a:off x="8167819" y="4813402"/>
            <a:ext cx="261518" cy="261518"/>
          </a:xfrm>
          <a:prstGeom prst="rect">
            <a:avLst/>
          </a:prstGeom>
        </p:spPr>
      </p:pic>
      <p:sp>
        <p:nvSpPr>
          <p:cNvPr id="31" name="Text 25"/>
          <p:cNvSpPr/>
          <p:nvPr/>
        </p:nvSpPr>
        <p:spPr>
          <a:xfrm>
            <a:off x="8461248" y="4526578"/>
            <a:ext cx="3730752" cy="384048"/>
          </a:xfrm>
          <a:prstGeom prst="rect">
            <a:avLst/>
          </a:prstGeom>
          <a:noFill/>
          <a:ln/>
        </p:spPr>
        <p:txBody>
          <a:bodyPr wrap="square" rtlCol="0" anchor="ctr"/>
          <a:lstStyle/>
          <a:p>
            <a:pPr marL="0" indent="0">
              <a:buNone/>
            </a:pPr>
            <a:r>
              <a:rPr lang="en-US" sz="2000" b="1" dirty="0">
                <a:solidFill>
                  <a:srgbClr val="00A651"/>
                </a:solidFill>
                <a:latin typeface="Bookman Old Style" pitchFamily="34" charset="0"/>
                <a:ea typeface="Bookman Old Style" pitchFamily="34" charset="-122"/>
                <a:cs typeface="Bookman Old Style" pitchFamily="34" charset="-120"/>
              </a:rPr>
              <a:t>USA: 8 hostings</a:t>
            </a:r>
            <a:endParaRPr lang="en-US" sz="2000" dirty="0"/>
          </a:p>
        </p:txBody>
      </p:sp>
      <p:sp>
        <p:nvSpPr>
          <p:cNvPr id="32" name="Text 26"/>
          <p:cNvSpPr/>
          <p:nvPr/>
        </p:nvSpPr>
        <p:spPr>
          <a:xfrm>
            <a:off x="8397393" y="4892040"/>
            <a:ext cx="3730752" cy="667512"/>
          </a:xfrm>
          <a:prstGeom prst="rect">
            <a:avLst/>
          </a:prstGeom>
          <a:noFill/>
          <a:ln/>
        </p:spPr>
        <p:txBody>
          <a:bodyPr wrap="square" rtlCol="0" anchor="ctr"/>
          <a:lstStyle/>
          <a:p>
            <a:pPr marL="0" indent="0">
              <a:lnSpc>
                <a:spcPct val="110000"/>
              </a:lnSpc>
              <a:buNone/>
            </a:pPr>
            <a:r>
              <a:rPr lang="en-US" sz="1400" dirty="0">
                <a:latin typeface="Calibri" pitchFamily="34" charset="0"/>
                <a:ea typeface="Calibri" pitchFamily="34" charset="-122"/>
                <a:cs typeface="Calibri" pitchFamily="34" charset="-120"/>
              </a:rPr>
              <a:t>The United States has hosted the most Olympics all-time, ahead of France (5) and Japan (4).</a:t>
            </a:r>
            <a:endParaRPr lang="en-US" sz="1400" dirty="0"/>
          </a:p>
        </p:txBody>
      </p:sp>
      <p:sp>
        <p:nvSpPr>
          <p:cNvPr id="37" name="Text 30"/>
          <p:cNvSpPr/>
          <p:nvPr/>
        </p:nvSpPr>
        <p:spPr>
          <a:xfrm>
            <a:off x="7909560" y="5330952"/>
            <a:ext cx="3730752" cy="384048"/>
          </a:xfrm>
          <a:prstGeom prst="rect">
            <a:avLst/>
          </a:prstGeom>
          <a:noFill/>
          <a:ln/>
        </p:spPr>
        <p:txBody>
          <a:bodyPr wrap="square" rtlCol="0" anchor="ctr"/>
          <a:lstStyle/>
          <a:p>
            <a:pPr marL="0" indent="0">
              <a:buNone/>
            </a:pPr>
            <a:r>
              <a:rPr lang="en-US" sz="1900" b="1" dirty="0">
                <a:solidFill>
                  <a:srgbClr val="EE334E"/>
                </a:solidFill>
                <a:latin typeface="Bookman Old Style" pitchFamily="34" charset="0"/>
                <a:ea typeface="Bookman Old Style" pitchFamily="34" charset="-122"/>
                <a:cs typeface="Bookman Old Style" pitchFamily="34" charset="-120"/>
              </a:rPr>
              <a:t> </a:t>
            </a:r>
            <a:endParaRPr lang="en-US" sz="1900" dirty="0"/>
          </a:p>
        </p:txBody>
      </p:sp>
      <p:sp>
        <p:nvSpPr>
          <p:cNvPr id="38" name="Text 31"/>
          <p:cNvSpPr/>
          <p:nvPr/>
        </p:nvSpPr>
        <p:spPr>
          <a:xfrm>
            <a:off x="7909560" y="5696712"/>
            <a:ext cx="3730752" cy="667512"/>
          </a:xfrm>
          <a:prstGeom prst="rect">
            <a:avLst/>
          </a:prstGeom>
          <a:noFill/>
          <a:ln/>
        </p:spPr>
        <p:txBody>
          <a:bodyPr wrap="square" rtlCol="0" anchor="ctr"/>
          <a:lstStyle/>
          <a:p>
            <a:pPr marL="0" indent="0">
              <a:lnSpc>
                <a:spcPct val="110000"/>
              </a:lnSpc>
              <a:buNone/>
            </a:pPr>
            <a:endParaRPr lang="en-US" sz="950" dirty="0"/>
          </a:p>
        </p:txBody>
      </p:sp>
      <p:sp>
        <p:nvSpPr>
          <p:cNvPr id="39" name="Text 32"/>
          <p:cNvSpPr/>
          <p:nvPr/>
        </p:nvSpPr>
        <p:spPr>
          <a:xfrm>
            <a:off x="457200" y="6537960"/>
            <a:ext cx="7315200" cy="274320"/>
          </a:xfrm>
          <a:prstGeom prst="rect">
            <a:avLst/>
          </a:prstGeom>
          <a:noFill/>
          <a:ln/>
        </p:spPr>
        <p:txBody>
          <a:bodyPr wrap="square" rtlCol="0" anchor="ctr"/>
          <a:lstStyle/>
          <a:p>
            <a:pPr marL="0" indent="0">
              <a:buNone/>
            </a:pPr>
            <a:r>
              <a:rPr lang="en-US" sz="900" kern="0" spc="100" dirty="0">
                <a:solidFill>
                  <a:srgbClr val="9AA6B8"/>
                </a:solidFill>
                <a:latin typeface="Calibri" pitchFamily="34" charset="0"/>
                <a:ea typeface="Calibri" pitchFamily="34" charset="-122"/>
                <a:cs typeface="Calibri" pitchFamily="34" charset="-120"/>
              </a:rPr>
              <a:t>OLYMPIC INSIGHTS  |  POWER BI ANALYTICS PROJECT</a:t>
            </a:r>
            <a:endParaRPr lang="en-US" sz="900" dirty="0"/>
          </a:p>
        </p:txBody>
      </p:sp>
      <p:sp>
        <p:nvSpPr>
          <p:cNvPr id="40" name="Text 33"/>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oundRect">
            <a:avLst/>
          </a:prstGeom>
          <a:solidFill>
            <a:schemeClr val="bg1">
              <a:lumMod val="50000"/>
            </a:schemeClr>
          </a:solidFill>
          <a:ln/>
        </p:spPr>
      </p:sp>
      <p:sp>
        <p:nvSpPr>
          <p:cNvPr id="3" name="Text 1"/>
          <p:cNvSpPr/>
          <p:nvPr/>
        </p:nvSpPr>
        <p:spPr>
          <a:xfrm>
            <a:off x="457200" y="146304"/>
            <a:ext cx="5486400" cy="292608"/>
          </a:xfrm>
          <a:prstGeom prst="rect">
            <a:avLst/>
          </a:prstGeom>
          <a:noFill/>
          <a:ln/>
        </p:spPr>
        <p:txBody>
          <a:bodyPr wrap="square" rtlCol="0" anchor="ctr"/>
          <a:lstStyle/>
          <a:p>
            <a:pPr marL="0" indent="0">
              <a:buNone/>
            </a:pPr>
            <a:r>
              <a:rPr lang="en-US" b="1" kern="0" spc="200" dirty="0">
                <a:solidFill>
                  <a:schemeClr val="bg1"/>
                </a:solidFill>
                <a:latin typeface="Calibri" pitchFamily="34" charset="0"/>
                <a:ea typeface="Calibri" pitchFamily="34" charset="-122"/>
                <a:cs typeface="Calibri" pitchFamily="34" charset="-120"/>
              </a:rPr>
              <a:t>DASHBOARD PAGE 6</a:t>
            </a:r>
            <a:endParaRPr lang="en-US" dirty="0">
              <a:solidFill>
                <a:schemeClr val="bg1"/>
              </a:solidFill>
            </a:endParaRPr>
          </a:p>
        </p:txBody>
      </p:sp>
      <p:sp>
        <p:nvSpPr>
          <p:cNvPr id="4" name="Text 2"/>
          <p:cNvSpPr/>
          <p:nvPr/>
        </p:nvSpPr>
        <p:spPr>
          <a:xfrm>
            <a:off x="457200" y="420624"/>
            <a:ext cx="7772400" cy="548640"/>
          </a:xfrm>
          <a:prstGeom prst="rect">
            <a:avLst/>
          </a:prstGeom>
          <a:noFill/>
          <a:ln/>
        </p:spPr>
        <p:txBody>
          <a:bodyPr wrap="square" rtlCol="0" anchor="ctr"/>
          <a:lstStyle/>
          <a:p>
            <a:pPr marL="0" indent="0">
              <a:buNone/>
            </a:pPr>
            <a:r>
              <a:rPr lang="en-US" sz="2800" b="1" dirty="0">
                <a:solidFill>
                  <a:srgbClr val="FFFFFF"/>
                </a:solidFill>
                <a:latin typeface="Bookman Old Style" pitchFamily="34" charset="0"/>
                <a:ea typeface="Bookman Old Style" pitchFamily="34" charset="-122"/>
                <a:cs typeface="Bookman Old Style" pitchFamily="34" charset="-120"/>
              </a:rPr>
              <a:t>Gender &amp; Demographics</a:t>
            </a:r>
            <a:endParaRPr lang="en-US" sz="2800" dirty="0"/>
          </a:p>
        </p:txBody>
      </p:sp>
      <p:sp>
        <p:nvSpPr>
          <p:cNvPr id="5" name="Shape 3"/>
          <p:cNvSpPr/>
          <p:nvPr/>
        </p:nvSpPr>
        <p:spPr>
          <a:xfrm>
            <a:off x="10607040" y="384048"/>
            <a:ext cx="256032" cy="256032"/>
          </a:xfrm>
          <a:prstGeom prst="ellipse">
            <a:avLst/>
          </a:prstGeom>
          <a:ln w="27940">
            <a:solidFill>
              <a:srgbClr val="0081C8"/>
            </a:solidFill>
            <a:prstDash val="solid"/>
          </a:ln>
        </p:spPr>
      </p:sp>
      <p:sp>
        <p:nvSpPr>
          <p:cNvPr id="6" name="Shape 4"/>
          <p:cNvSpPr/>
          <p:nvPr/>
        </p:nvSpPr>
        <p:spPr>
          <a:xfrm>
            <a:off x="10747858" y="384048"/>
            <a:ext cx="256032" cy="256032"/>
          </a:xfrm>
          <a:prstGeom prst="ellipse">
            <a:avLst/>
          </a:prstGeom>
          <a:ln w="27940">
            <a:solidFill>
              <a:srgbClr val="FCB131"/>
            </a:solidFill>
            <a:prstDash val="solid"/>
          </a:ln>
        </p:spPr>
      </p:sp>
      <p:sp>
        <p:nvSpPr>
          <p:cNvPr id="7" name="Shape 5"/>
          <p:cNvSpPr/>
          <p:nvPr/>
        </p:nvSpPr>
        <p:spPr>
          <a:xfrm>
            <a:off x="10888675" y="384048"/>
            <a:ext cx="256032" cy="256032"/>
          </a:xfrm>
          <a:prstGeom prst="ellipse">
            <a:avLst/>
          </a:prstGeom>
          <a:ln w="27940">
            <a:solidFill>
              <a:srgbClr val="1A1A1A"/>
            </a:solidFill>
            <a:prstDash val="solid"/>
          </a:ln>
        </p:spPr>
      </p:sp>
      <p:sp>
        <p:nvSpPr>
          <p:cNvPr id="8" name="Shape 6"/>
          <p:cNvSpPr/>
          <p:nvPr/>
        </p:nvSpPr>
        <p:spPr>
          <a:xfrm>
            <a:off x="11029493" y="384048"/>
            <a:ext cx="256032" cy="256032"/>
          </a:xfrm>
          <a:prstGeom prst="ellipse">
            <a:avLst/>
          </a:prstGeom>
          <a:ln w="27940">
            <a:solidFill>
              <a:srgbClr val="00A651"/>
            </a:solidFill>
            <a:prstDash val="solid"/>
          </a:ln>
        </p:spPr>
      </p:sp>
      <p:sp>
        <p:nvSpPr>
          <p:cNvPr id="9" name="Shape 7"/>
          <p:cNvSpPr/>
          <p:nvPr/>
        </p:nvSpPr>
        <p:spPr>
          <a:xfrm>
            <a:off x="11170310" y="384048"/>
            <a:ext cx="256032" cy="256032"/>
          </a:xfrm>
          <a:prstGeom prst="ellipse">
            <a:avLst/>
          </a:prstGeom>
          <a:ln w="27940">
            <a:solidFill>
              <a:srgbClr val="EE334E"/>
            </a:solidFill>
            <a:prstDash val="solid"/>
          </a:ln>
        </p:spPr>
      </p:sp>
      <p:sp>
        <p:nvSpPr>
          <p:cNvPr id="10" name="Shape 8"/>
          <p:cNvSpPr/>
          <p:nvPr/>
        </p:nvSpPr>
        <p:spPr>
          <a:xfrm>
            <a:off x="365760" y="1188720"/>
            <a:ext cx="6492240" cy="4251960"/>
          </a:xfrm>
          <a:prstGeom prst="roundRect">
            <a:avLst>
              <a:gd name="adj" fmla="val 1075"/>
            </a:avLst>
          </a:prstGeom>
          <a:solidFill>
            <a:srgbClr val="F4F6F9"/>
          </a:solidFill>
          <a:ln w="25400">
            <a:solidFill>
              <a:srgbClr val="00A651"/>
            </a:solidFill>
            <a:prstDash val="solid"/>
          </a:ln>
        </p:spPr>
      </p:sp>
      <p:sp>
        <p:nvSpPr>
          <p:cNvPr id="12" name="Shape 9"/>
          <p:cNvSpPr/>
          <p:nvPr/>
        </p:nvSpPr>
        <p:spPr>
          <a:xfrm>
            <a:off x="405571" y="5888736"/>
            <a:ext cx="6400800" cy="658368"/>
          </a:xfrm>
          <a:prstGeom prst="roundRect">
            <a:avLst>
              <a:gd name="adj" fmla="val 8333"/>
            </a:avLst>
          </a:prstGeom>
          <a:solidFill>
            <a:schemeClr val="accent6">
              <a:lumMod val="75000"/>
            </a:schemeClr>
          </a:solidFill>
          <a:ln/>
        </p:spPr>
      </p:sp>
      <p:sp>
        <p:nvSpPr>
          <p:cNvPr id="13" name="Text 10"/>
          <p:cNvSpPr/>
          <p:nvPr/>
        </p:nvSpPr>
        <p:spPr>
          <a:xfrm>
            <a:off x="548640" y="5901052"/>
            <a:ext cx="2103120" cy="658368"/>
          </a:xfrm>
          <a:prstGeom prst="rect">
            <a:avLst/>
          </a:prstGeom>
          <a:noFill/>
          <a:ln/>
        </p:spPr>
        <p:txBody>
          <a:bodyPr wrap="square" rtlCol="0" anchor="ctr"/>
          <a:lstStyle/>
          <a:p>
            <a:pPr marL="0" indent="0">
              <a:buNone/>
            </a:pPr>
            <a:r>
              <a:rPr lang="en-US" sz="2200" b="1" dirty="0">
                <a:solidFill>
                  <a:srgbClr val="FFFFFF"/>
                </a:solidFill>
                <a:latin typeface="Bookman Old Style" pitchFamily="34" charset="0"/>
                <a:ea typeface="Bookman Old Style" pitchFamily="34" charset="-122"/>
                <a:cs typeface="Bookman Old Style" pitchFamily="34" charset="-120"/>
              </a:rPr>
              <a:t>69/30/1</a:t>
            </a:r>
            <a:endParaRPr lang="en-US" sz="2200" dirty="0"/>
          </a:p>
        </p:txBody>
      </p:sp>
      <p:sp>
        <p:nvSpPr>
          <p:cNvPr id="14" name="Text 11"/>
          <p:cNvSpPr/>
          <p:nvPr/>
        </p:nvSpPr>
        <p:spPr>
          <a:xfrm>
            <a:off x="2208275" y="5885694"/>
            <a:ext cx="4425789" cy="658368"/>
          </a:xfrm>
          <a:prstGeom prst="rect">
            <a:avLst/>
          </a:prstGeom>
          <a:noFill/>
          <a:ln/>
        </p:spPr>
        <p:txBody>
          <a:bodyPr wrap="square" rtlCol="0" anchor="ctr"/>
          <a:lstStyle/>
          <a:p>
            <a:pPr marL="0" indent="0">
              <a:lnSpc>
                <a:spcPct val="105000"/>
              </a:lnSpc>
              <a:buNone/>
            </a:pPr>
            <a:r>
              <a:rPr lang="en-US" sz="1600" dirty="0">
                <a:solidFill>
                  <a:srgbClr val="FFFFFF"/>
                </a:solidFill>
                <a:latin typeface="Calibri" pitchFamily="34" charset="0"/>
                <a:ea typeface="Calibri" pitchFamily="34" charset="-122"/>
                <a:cs typeface="Calibri" pitchFamily="34" charset="-120"/>
              </a:rPr>
              <a:t>Male / Female / other split of all 44,687 medals</a:t>
            </a:r>
            <a:endParaRPr lang="en-US" sz="1600" dirty="0"/>
          </a:p>
        </p:txBody>
      </p:sp>
      <p:sp>
        <p:nvSpPr>
          <p:cNvPr id="15" name="Shape 12"/>
          <p:cNvSpPr/>
          <p:nvPr/>
        </p:nvSpPr>
        <p:spPr>
          <a:xfrm>
            <a:off x="7404700" y="1449711"/>
            <a:ext cx="4644349" cy="1170432"/>
          </a:xfrm>
          <a:prstGeom prst="roundRect">
            <a:avLst>
              <a:gd name="adj" fmla="val 5469"/>
            </a:avLst>
          </a:prstGeom>
          <a:solidFill>
            <a:srgbClr val="F4F6F9"/>
          </a:solidFill>
          <a:ln/>
        </p:spPr>
      </p:sp>
      <p:sp>
        <p:nvSpPr>
          <p:cNvPr id="16" name="Shape 13"/>
          <p:cNvSpPr/>
          <p:nvPr/>
        </p:nvSpPr>
        <p:spPr>
          <a:xfrm>
            <a:off x="7412201" y="1431903"/>
            <a:ext cx="64008" cy="1170432"/>
          </a:xfrm>
          <a:prstGeom prst="roundRect">
            <a:avLst/>
          </a:prstGeom>
          <a:solidFill>
            <a:srgbClr val="EE334E"/>
          </a:solidFill>
          <a:ln/>
        </p:spPr>
      </p:sp>
      <p:sp>
        <p:nvSpPr>
          <p:cNvPr id="17" name="Shape 14"/>
          <p:cNvSpPr/>
          <p:nvPr/>
        </p:nvSpPr>
        <p:spPr>
          <a:xfrm>
            <a:off x="7515854" y="1869543"/>
            <a:ext cx="475488" cy="475488"/>
          </a:xfrm>
          <a:prstGeom prst="ellipse">
            <a:avLst/>
          </a:prstGeom>
          <a:solidFill>
            <a:srgbClr val="EE334E"/>
          </a:solidFill>
          <a:ln/>
        </p:spPr>
      </p:sp>
      <p:pic>
        <p:nvPicPr>
          <p:cNvPr id="18" name="Image 1" descr="/home/claude/ppt/icons/venusmars_FFFFFF.png"/>
          <p:cNvPicPr>
            <a:picLocks noChangeAspect="1"/>
          </p:cNvPicPr>
          <p:nvPr/>
        </p:nvPicPr>
        <p:blipFill>
          <a:blip r:embed="rId3"/>
          <a:stretch>
            <a:fillRect/>
          </a:stretch>
        </p:blipFill>
        <p:spPr>
          <a:xfrm>
            <a:off x="7633515" y="1959246"/>
            <a:ext cx="261518" cy="261518"/>
          </a:xfrm>
          <a:prstGeom prst="rect">
            <a:avLst/>
          </a:prstGeom>
        </p:spPr>
      </p:pic>
      <p:sp>
        <p:nvSpPr>
          <p:cNvPr id="19" name="Text 15"/>
          <p:cNvSpPr/>
          <p:nvPr/>
        </p:nvSpPr>
        <p:spPr>
          <a:xfrm>
            <a:off x="7998071" y="1551307"/>
            <a:ext cx="3730752" cy="384048"/>
          </a:xfrm>
          <a:prstGeom prst="rect">
            <a:avLst/>
          </a:prstGeom>
          <a:noFill/>
          <a:ln/>
        </p:spPr>
        <p:txBody>
          <a:bodyPr wrap="square" rtlCol="0" anchor="ctr"/>
          <a:lstStyle/>
          <a:p>
            <a:pPr marL="0" indent="0">
              <a:buNone/>
            </a:pPr>
            <a:r>
              <a:rPr lang="en-US" sz="2000" b="1" dirty="0">
                <a:solidFill>
                  <a:srgbClr val="EE334E"/>
                </a:solidFill>
                <a:latin typeface="Bookman Old Style" pitchFamily="34" charset="0"/>
                <a:ea typeface="Bookman Old Style" pitchFamily="34" charset="-122"/>
                <a:cs typeface="Bookman Old Style" pitchFamily="34" charset="-120"/>
              </a:rPr>
              <a:t>Historic crossover</a:t>
            </a:r>
            <a:endParaRPr lang="en-US" sz="2000" dirty="0"/>
          </a:p>
        </p:txBody>
      </p:sp>
      <p:sp>
        <p:nvSpPr>
          <p:cNvPr id="20" name="Text 16"/>
          <p:cNvSpPr/>
          <p:nvPr/>
        </p:nvSpPr>
        <p:spPr>
          <a:xfrm>
            <a:off x="8025792" y="1887008"/>
            <a:ext cx="4132211" cy="667512"/>
          </a:xfrm>
          <a:prstGeom prst="rect">
            <a:avLst/>
          </a:prstGeom>
          <a:noFill/>
          <a:ln/>
        </p:spPr>
        <p:txBody>
          <a:bodyPr wrap="square" rtlCol="0" anchor="ctr"/>
          <a:lstStyle/>
          <a:p>
            <a:pPr marL="0" indent="0">
              <a:lnSpc>
                <a:spcPct val="110000"/>
              </a:lnSpc>
              <a:buNone/>
            </a:pPr>
            <a:r>
              <a:rPr lang="en-US" sz="1600" dirty="0">
                <a:latin typeface="Calibri" pitchFamily="34" charset="0"/>
                <a:ea typeface="Calibri" pitchFamily="34" charset="-122"/>
                <a:cs typeface="Calibri" pitchFamily="34" charset="-120"/>
              </a:rPr>
              <a:t>Female participation visibly overtook male participation around 2015–2020.</a:t>
            </a:r>
            <a:endParaRPr lang="en-US" sz="1600" dirty="0"/>
          </a:p>
        </p:txBody>
      </p:sp>
      <p:sp>
        <p:nvSpPr>
          <p:cNvPr id="21" name="Shape 17"/>
          <p:cNvSpPr/>
          <p:nvPr/>
        </p:nvSpPr>
        <p:spPr>
          <a:xfrm>
            <a:off x="7430097" y="3026664"/>
            <a:ext cx="4618952" cy="1170432"/>
          </a:xfrm>
          <a:prstGeom prst="roundRect">
            <a:avLst>
              <a:gd name="adj" fmla="val 5469"/>
            </a:avLst>
          </a:prstGeom>
          <a:solidFill>
            <a:srgbClr val="F4F6F9"/>
          </a:solidFill>
          <a:ln/>
        </p:spPr>
        <p:txBody>
          <a:bodyPr/>
          <a:lstStyle/>
          <a:p>
            <a:endParaRPr lang="en-IN" dirty="0"/>
          </a:p>
        </p:txBody>
      </p:sp>
      <p:sp>
        <p:nvSpPr>
          <p:cNvPr id="22" name="Shape 18"/>
          <p:cNvSpPr/>
          <p:nvPr/>
        </p:nvSpPr>
        <p:spPr>
          <a:xfrm>
            <a:off x="7403524" y="3034875"/>
            <a:ext cx="64008" cy="1170432"/>
          </a:xfrm>
          <a:prstGeom prst="roundRect">
            <a:avLst/>
          </a:prstGeom>
          <a:solidFill>
            <a:srgbClr val="FCB131"/>
          </a:solidFill>
          <a:ln/>
        </p:spPr>
      </p:sp>
      <p:sp>
        <p:nvSpPr>
          <p:cNvPr id="23" name="Shape 19"/>
          <p:cNvSpPr/>
          <p:nvPr/>
        </p:nvSpPr>
        <p:spPr>
          <a:xfrm>
            <a:off x="7669073" y="3456432"/>
            <a:ext cx="475488" cy="475488"/>
          </a:xfrm>
          <a:prstGeom prst="ellipse">
            <a:avLst/>
          </a:prstGeom>
          <a:solidFill>
            <a:srgbClr val="FCB131"/>
          </a:solidFill>
          <a:ln/>
        </p:spPr>
      </p:sp>
      <p:pic>
        <p:nvPicPr>
          <p:cNvPr id="24" name="Image 2" descr="/home/claude/ppt/icons/users_FFFFFF.png"/>
          <p:cNvPicPr>
            <a:picLocks noChangeAspect="1"/>
          </p:cNvPicPr>
          <p:nvPr/>
        </p:nvPicPr>
        <p:blipFill>
          <a:blip r:embed="rId4"/>
          <a:stretch>
            <a:fillRect/>
          </a:stretch>
        </p:blipFill>
        <p:spPr>
          <a:xfrm>
            <a:off x="7764274" y="3543254"/>
            <a:ext cx="261518" cy="261518"/>
          </a:xfrm>
          <a:prstGeom prst="rect">
            <a:avLst/>
          </a:prstGeom>
        </p:spPr>
      </p:pic>
      <p:sp>
        <p:nvSpPr>
          <p:cNvPr id="25" name="Text 20"/>
          <p:cNvSpPr/>
          <p:nvPr/>
        </p:nvSpPr>
        <p:spPr>
          <a:xfrm>
            <a:off x="8229600" y="3166623"/>
            <a:ext cx="3730752" cy="384048"/>
          </a:xfrm>
          <a:prstGeom prst="rect">
            <a:avLst/>
          </a:prstGeom>
          <a:noFill/>
          <a:ln/>
        </p:spPr>
        <p:txBody>
          <a:bodyPr wrap="square" rtlCol="0" anchor="ctr"/>
          <a:lstStyle/>
          <a:p>
            <a:pPr marL="0" indent="0">
              <a:buNone/>
            </a:pPr>
            <a:r>
              <a:rPr lang="en-US" sz="2000" b="1" dirty="0">
                <a:solidFill>
                  <a:srgbClr val="FCB131"/>
                </a:solidFill>
                <a:latin typeface="Bookman Old Style" pitchFamily="34" charset="0"/>
                <a:ea typeface="Bookman Old Style" pitchFamily="34" charset="-122"/>
                <a:cs typeface="Bookman Old Style" pitchFamily="34" charset="-120"/>
              </a:rPr>
              <a:t>Age 20–24 peaks</a:t>
            </a:r>
            <a:endParaRPr lang="en-US" sz="2000" dirty="0"/>
          </a:p>
        </p:txBody>
      </p:sp>
      <p:sp>
        <p:nvSpPr>
          <p:cNvPr id="26" name="Text 21"/>
          <p:cNvSpPr/>
          <p:nvPr/>
        </p:nvSpPr>
        <p:spPr>
          <a:xfrm>
            <a:off x="8229600" y="3537795"/>
            <a:ext cx="4070946" cy="667512"/>
          </a:xfrm>
          <a:prstGeom prst="rect">
            <a:avLst/>
          </a:prstGeom>
          <a:noFill/>
          <a:ln/>
        </p:spPr>
        <p:txBody>
          <a:bodyPr wrap="square" rtlCol="0" anchor="ctr"/>
          <a:lstStyle/>
          <a:p>
            <a:pPr marL="0" indent="0">
              <a:lnSpc>
                <a:spcPct val="110000"/>
              </a:lnSpc>
              <a:buNone/>
            </a:pPr>
            <a:r>
              <a:rPr lang="en-US" sz="1600" dirty="0">
                <a:latin typeface="Calibri" pitchFamily="34" charset="0"/>
                <a:ea typeface="Calibri" pitchFamily="34" charset="-122"/>
                <a:cs typeface="Calibri" pitchFamily="34" charset="-120"/>
              </a:rPr>
              <a:t>111K athletes concentrate in this age band, dropping sharply after 35</a:t>
            </a:r>
            <a:r>
              <a:rPr lang="en-US" sz="1000" dirty="0">
                <a:solidFill>
                  <a:srgbClr val="5B6B85"/>
                </a:solidFill>
                <a:latin typeface="Calibri" pitchFamily="34" charset="0"/>
                <a:ea typeface="Calibri" pitchFamily="34" charset="-122"/>
                <a:cs typeface="Calibri" pitchFamily="34" charset="-120"/>
              </a:rPr>
              <a:t>.</a:t>
            </a:r>
            <a:endParaRPr lang="en-US" sz="1000" dirty="0"/>
          </a:p>
        </p:txBody>
      </p:sp>
      <p:sp>
        <p:nvSpPr>
          <p:cNvPr id="27" name="Shape 22"/>
          <p:cNvSpPr/>
          <p:nvPr/>
        </p:nvSpPr>
        <p:spPr>
          <a:xfrm>
            <a:off x="7376465" y="4458540"/>
            <a:ext cx="4672584" cy="1170432"/>
          </a:xfrm>
          <a:prstGeom prst="roundRect">
            <a:avLst>
              <a:gd name="adj" fmla="val 5469"/>
            </a:avLst>
          </a:prstGeom>
          <a:solidFill>
            <a:srgbClr val="F4F6F9"/>
          </a:solidFill>
          <a:ln/>
        </p:spPr>
      </p:sp>
      <p:sp>
        <p:nvSpPr>
          <p:cNvPr id="28" name="Shape 23"/>
          <p:cNvSpPr/>
          <p:nvPr/>
        </p:nvSpPr>
        <p:spPr>
          <a:xfrm>
            <a:off x="7403524" y="4424707"/>
            <a:ext cx="64008" cy="1170432"/>
          </a:xfrm>
          <a:prstGeom prst="roundRect">
            <a:avLst/>
          </a:prstGeom>
          <a:solidFill>
            <a:srgbClr val="0081C8"/>
          </a:solidFill>
          <a:ln/>
        </p:spPr>
      </p:sp>
      <p:sp>
        <p:nvSpPr>
          <p:cNvPr id="29" name="Shape 24"/>
          <p:cNvSpPr/>
          <p:nvPr/>
        </p:nvSpPr>
        <p:spPr>
          <a:xfrm>
            <a:off x="7669073" y="4744962"/>
            <a:ext cx="475488" cy="475488"/>
          </a:xfrm>
          <a:prstGeom prst="ellipse">
            <a:avLst/>
          </a:prstGeom>
          <a:solidFill>
            <a:srgbClr val="0081C8"/>
          </a:solidFill>
          <a:ln/>
        </p:spPr>
      </p:sp>
      <p:pic>
        <p:nvPicPr>
          <p:cNvPr id="30" name="Image 3" descr="/home/claude/ppt/icons/birthdaycake_FFFFFF.png"/>
          <p:cNvPicPr>
            <a:picLocks noChangeAspect="1"/>
          </p:cNvPicPr>
          <p:nvPr/>
        </p:nvPicPr>
        <p:blipFill>
          <a:blip r:embed="rId5"/>
          <a:stretch>
            <a:fillRect/>
          </a:stretch>
        </p:blipFill>
        <p:spPr>
          <a:xfrm>
            <a:off x="7791165" y="4850487"/>
            <a:ext cx="261518" cy="261518"/>
          </a:xfrm>
          <a:prstGeom prst="rect">
            <a:avLst/>
          </a:prstGeom>
        </p:spPr>
      </p:pic>
      <p:sp>
        <p:nvSpPr>
          <p:cNvPr id="31" name="Text 25"/>
          <p:cNvSpPr/>
          <p:nvPr/>
        </p:nvSpPr>
        <p:spPr>
          <a:xfrm>
            <a:off x="8229600" y="4535424"/>
            <a:ext cx="3730752" cy="384048"/>
          </a:xfrm>
          <a:prstGeom prst="rect">
            <a:avLst/>
          </a:prstGeom>
          <a:noFill/>
          <a:ln/>
        </p:spPr>
        <p:txBody>
          <a:bodyPr wrap="square" rtlCol="0" anchor="ctr"/>
          <a:lstStyle/>
          <a:p>
            <a:pPr marL="0" indent="0">
              <a:buNone/>
            </a:pPr>
            <a:r>
              <a:rPr lang="en-US" sz="2000" b="1" dirty="0">
                <a:solidFill>
                  <a:srgbClr val="0081C8"/>
                </a:solidFill>
                <a:latin typeface="Bookman Old Style" pitchFamily="34" charset="0"/>
                <a:ea typeface="Bookman Old Style" pitchFamily="34" charset="-122"/>
                <a:cs typeface="Bookman Old Style" pitchFamily="34" charset="-120"/>
              </a:rPr>
              <a:t>Avg. age 26.05</a:t>
            </a:r>
            <a:endParaRPr lang="en-US" sz="2000" dirty="0"/>
          </a:p>
        </p:txBody>
      </p:sp>
      <p:sp>
        <p:nvSpPr>
          <p:cNvPr id="32" name="Text 26"/>
          <p:cNvSpPr/>
          <p:nvPr/>
        </p:nvSpPr>
        <p:spPr>
          <a:xfrm>
            <a:off x="8263116" y="4892040"/>
            <a:ext cx="3910291" cy="667512"/>
          </a:xfrm>
          <a:prstGeom prst="rect">
            <a:avLst/>
          </a:prstGeom>
          <a:noFill/>
          <a:ln/>
        </p:spPr>
        <p:txBody>
          <a:bodyPr wrap="square" rtlCol="0" anchor="ctr"/>
          <a:lstStyle/>
          <a:p>
            <a:pPr marL="0" indent="0">
              <a:lnSpc>
                <a:spcPct val="110000"/>
              </a:lnSpc>
              <a:buNone/>
            </a:pPr>
            <a:r>
              <a:rPr lang="en-US" sz="1600" dirty="0">
                <a:latin typeface="Calibri" pitchFamily="34" charset="0"/>
                <a:ea typeface="Calibri" pitchFamily="34" charset="-122"/>
                <a:cs typeface="Calibri" pitchFamily="34" charset="-120"/>
              </a:rPr>
              <a:t>Spans a wide range — from an 11-year-old competitor to a 73-year-old.</a:t>
            </a:r>
            <a:endParaRPr lang="en-US" sz="1600" dirty="0"/>
          </a:p>
        </p:txBody>
      </p:sp>
      <p:sp>
        <p:nvSpPr>
          <p:cNvPr id="37" name="Text 30"/>
          <p:cNvSpPr/>
          <p:nvPr/>
        </p:nvSpPr>
        <p:spPr>
          <a:xfrm>
            <a:off x="7909560" y="5330952"/>
            <a:ext cx="3730752" cy="384048"/>
          </a:xfrm>
          <a:prstGeom prst="rect">
            <a:avLst/>
          </a:prstGeom>
          <a:noFill/>
          <a:ln/>
        </p:spPr>
        <p:txBody>
          <a:bodyPr wrap="square" rtlCol="0" anchor="ctr"/>
          <a:lstStyle/>
          <a:p>
            <a:pPr marL="0" indent="0">
              <a:buNone/>
            </a:pPr>
            <a:endParaRPr lang="en-US" sz="1900" dirty="0"/>
          </a:p>
        </p:txBody>
      </p:sp>
      <p:sp>
        <p:nvSpPr>
          <p:cNvPr id="38" name="Text 31"/>
          <p:cNvSpPr/>
          <p:nvPr/>
        </p:nvSpPr>
        <p:spPr>
          <a:xfrm>
            <a:off x="7909560" y="5696712"/>
            <a:ext cx="3730752" cy="667512"/>
          </a:xfrm>
          <a:prstGeom prst="rect">
            <a:avLst/>
          </a:prstGeom>
          <a:noFill/>
          <a:ln/>
        </p:spPr>
        <p:txBody>
          <a:bodyPr wrap="square" rtlCol="0" anchor="ctr"/>
          <a:lstStyle/>
          <a:p>
            <a:pPr marL="0" indent="0">
              <a:lnSpc>
                <a:spcPct val="110000"/>
              </a:lnSpc>
              <a:buNone/>
            </a:pPr>
            <a:endParaRPr lang="en-US" sz="950" dirty="0"/>
          </a:p>
        </p:txBody>
      </p:sp>
      <p:sp>
        <p:nvSpPr>
          <p:cNvPr id="39" name="Text 32"/>
          <p:cNvSpPr/>
          <p:nvPr/>
        </p:nvSpPr>
        <p:spPr>
          <a:xfrm>
            <a:off x="457200" y="6537960"/>
            <a:ext cx="7315200" cy="274320"/>
          </a:xfrm>
          <a:prstGeom prst="rect">
            <a:avLst/>
          </a:prstGeom>
          <a:noFill/>
          <a:ln/>
        </p:spPr>
        <p:txBody>
          <a:bodyPr wrap="square" rtlCol="0" anchor="ctr"/>
          <a:lstStyle/>
          <a:p>
            <a:pPr marL="0" indent="0">
              <a:buNone/>
            </a:pPr>
            <a:r>
              <a:rPr lang="en-US" sz="900" kern="0" spc="100" dirty="0">
                <a:solidFill>
                  <a:srgbClr val="9AA6B8"/>
                </a:solidFill>
                <a:latin typeface="Calibri" pitchFamily="34" charset="0"/>
                <a:ea typeface="Calibri" pitchFamily="34" charset="-122"/>
                <a:cs typeface="Calibri" pitchFamily="34" charset="-120"/>
              </a:rPr>
              <a:t>OLYMPIC INSIGHTS  |  POWER BI ANALYTICS PROJECT</a:t>
            </a:r>
            <a:endParaRPr lang="en-US" sz="900" dirty="0"/>
          </a:p>
        </p:txBody>
      </p:sp>
      <p:sp>
        <p:nvSpPr>
          <p:cNvPr id="40" name="Text 33"/>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A6B8"/>
                </a:solidFill>
                <a:latin typeface="Calibri" pitchFamily="34" charset="0"/>
                <a:ea typeface="Calibri" pitchFamily="34" charset="-122"/>
                <a:cs typeface="Calibri" pitchFamily="34" charset="-120"/>
              </a:rPr>
              <a:t>11</a:t>
            </a:r>
            <a:endParaRPr lang="en-US" sz="900" dirty="0"/>
          </a:p>
        </p:txBody>
      </p:sp>
      <p:pic>
        <p:nvPicPr>
          <p:cNvPr id="42" name="Picture 41">
            <a:extLst>
              <a:ext uri="{FF2B5EF4-FFF2-40B4-BE49-F238E27FC236}">
                <a16:creationId xmlns:a16="http://schemas.microsoft.com/office/drawing/2014/main" id="{302370C1-4C6F-E621-AD27-F6F46F6A3F9A}"/>
              </a:ext>
            </a:extLst>
          </p:cNvPr>
          <p:cNvPicPr>
            <a:picLocks noChangeAspect="1"/>
          </p:cNvPicPr>
          <p:nvPr/>
        </p:nvPicPr>
        <p:blipFill>
          <a:blip r:embed="rId6"/>
          <a:stretch>
            <a:fillRect/>
          </a:stretch>
        </p:blipFill>
        <p:spPr>
          <a:xfrm>
            <a:off x="98502" y="1184241"/>
            <a:ext cx="7161834" cy="461977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E39"/>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marL="0" indent="0">
              <a:buNone/>
            </a:pPr>
            <a:r>
              <a:rPr lang="en-US" sz="1250" b="1" kern="0" spc="200" dirty="0">
                <a:solidFill>
                  <a:srgbClr val="FCB131"/>
                </a:solidFill>
                <a:latin typeface="Calibri" pitchFamily="34" charset="0"/>
                <a:ea typeface="Calibri" pitchFamily="34" charset="-122"/>
                <a:cs typeface="Calibri" pitchFamily="34" charset="-120"/>
              </a:rPr>
              <a:t>WRAPPING UP</a:t>
            </a:r>
            <a:endParaRPr lang="en-US" sz="1250" dirty="0"/>
          </a:p>
        </p:txBody>
      </p:sp>
      <p:sp>
        <p:nvSpPr>
          <p:cNvPr id="3" name="Text 1"/>
          <p:cNvSpPr/>
          <p:nvPr/>
        </p:nvSpPr>
        <p:spPr>
          <a:xfrm>
            <a:off x="548640" y="694944"/>
            <a:ext cx="9601200" cy="594360"/>
          </a:xfrm>
          <a:prstGeom prst="rect">
            <a:avLst/>
          </a:prstGeom>
          <a:noFill/>
          <a:ln/>
        </p:spPr>
        <p:txBody>
          <a:bodyPr wrap="square" rtlCol="0" anchor="ctr"/>
          <a:lstStyle/>
          <a:p>
            <a:pPr marL="0" indent="0">
              <a:buNone/>
            </a:pPr>
            <a:r>
              <a:rPr lang="en-US" sz="2700" b="1" dirty="0">
                <a:solidFill>
                  <a:srgbClr val="FFFFFF"/>
                </a:solidFill>
                <a:latin typeface="Bookman Old Style" pitchFamily="34" charset="0"/>
                <a:ea typeface="Bookman Old Style" pitchFamily="34" charset="-122"/>
                <a:cs typeface="Bookman Old Style" pitchFamily="34" charset="-120"/>
              </a:rPr>
              <a:t>Overall Conclusion</a:t>
            </a:r>
            <a:endParaRPr lang="en-US" sz="2700" dirty="0"/>
          </a:p>
        </p:txBody>
      </p:sp>
      <p:sp>
        <p:nvSpPr>
          <p:cNvPr id="4" name="Shape 2"/>
          <p:cNvSpPr/>
          <p:nvPr/>
        </p:nvSpPr>
        <p:spPr>
          <a:xfrm>
            <a:off x="10561320" y="438912"/>
            <a:ext cx="292608" cy="292608"/>
          </a:xfrm>
          <a:prstGeom prst="ellipse">
            <a:avLst/>
          </a:prstGeom>
          <a:ln w="30480">
            <a:solidFill>
              <a:srgbClr val="0081C8"/>
            </a:solidFill>
            <a:prstDash val="solid"/>
          </a:ln>
        </p:spPr>
      </p:sp>
      <p:sp>
        <p:nvSpPr>
          <p:cNvPr id="5" name="Shape 3"/>
          <p:cNvSpPr/>
          <p:nvPr/>
        </p:nvSpPr>
        <p:spPr>
          <a:xfrm>
            <a:off x="10722254" y="438912"/>
            <a:ext cx="292608" cy="292608"/>
          </a:xfrm>
          <a:prstGeom prst="ellipse">
            <a:avLst/>
          </a:prstGeom>
          <a:ln w="30480">
            <a:solidFill>
              <a:srgbClr val="FCB131"/>
            </a:solidFill>
            <a:prstDash val="solid"/>
          </a:ln>
        </p:spPr>
      </p:sp>
      <p:sp>
        <p:nvSpPr>
          <p:cNvPr id="6" name="Shape 4"/>
          <p:cNvSpPr/>
          <p:nvPr/>
        </p:nvSpPr>
        <p:spPr>
          <a:xfrm>
            <a:off x="10883189" y="438912"/>
            <a:ext cx="292608" cy="292608"/>
          </a:xfrm>
          <a:prstGeom prst="ellipse">
            <a:avLst/>
          </a:prstGeom>
          <a:ln w="30480">
            <a:solidFill>
              <a:srgbClr val="1A1A1A"/>
            </a:solidFill>
            <a:prstDash val="solid"/>
          </a:ln>
        </p:spPr>
      </p:sp>
      <p:sp>
        <p:nvSpPr>
          <p:cNvPr id="7" name="Shape 5"/>
          <p:cNvSpPr/>
          <p:nvPr/>
        </p:nvSpPr>
        <p:spPr>
          <a:xfrm>
            <a:off x="11044123" y="438912"/>
            <a:ext cx="292608" cy="292608"/>
          </a:xfrm>
          <a:prstGeom prst="ellipse">
            <a:avLst/>
          </a:prstGeom>
          <a:ln w="30480">
            <a:solidFill>
              <a:srgbClr val="00A651"/>
            </a:solidFill>
            <a:prstDash val="solid"/>
          </a:ln>
        </p:spPr>
      </p:sp>
      <p:sp>
        <p:nvSpPr>
          <p:cNvPr id="8" name="Shape 6"/>
          <p:cNvSpPr/>
          <p:nvPr/>
        </p:nvSpPr>
        <p:spPr>
          <a:xfrm>
            <a:off x="11205058" y="438912"/>
            <a:ext cx="292608" cy="292608"/>
          </a:xfrm>
          <a:prstGeom prst="ellipse">
            <a:avLst/>
          </a:prstGeom>
          <a:ln w="30480">
            <a:solidFill>
              <a:srgbClr val="EE334E"/>
            </a:solidFill>
            <a:prstDash val="solid"/>
          </a:ln>
        </p:spPr>
      </p:sp>
      <p:sp>
        <p:nvSpPr>
          <p:cNvPr id="9" name="Text 7"/>
          <p:cNvSpPr/>
          <p:nvPr/>
        </p:nvSpPr>
        <p:spPr>
          <a:xfrm>
            <a:off x="548640" y="1417320"/>
            <a:ext cx="10881360" cy="777240"/>
          </a:xfrm>
          <a:prstGeom prst="rect">
            <a:avLst/>
          </a:prstGeom>
          <a:noFill/>
          <a:ln/>
        </p:spPr>
        <p:txBody>
          <a:bodyPr wrap="square" rtlCol="0" anchor="ctr"/>
          <a:lstStyle/>
          <a:p>
            <a:pPr marL="0" indent="0">
              <a:lnSpc>
                <a:spcPct val="125000"/>
              </a:lnSpc>
              <a:buNone/>
            </a:pPr>
            <a:r>
              <a:rPr lang="en-US" i="1" dirty="0">
                <a:solidFill>
                  <a:schemeClr val="bg1"/>
                </a:solidFill>
                <a:latin typeface="Calibri" pitchFamily="34" charset="0"/>
                <a:ea typeface="Calibri" pitchFamily="34" charset="-122"/>
                <a:cs typeface="Calibri" pitchFamily="34" charset="-120"/>
              </a:rPr>
              <a:t>Across 128 years, 155,861 athletes, and 20,654 medals, the data tells a consistent story: sustained national investment and home-field advantage both move the needle, the Games have grown dramatically in scale, and the athlete population has moved steadily toward gender parity.</a:t>
            </a:r>
            <a:endParaRPr lang="en-US" dirty="0">
              <a:solidFill>
                <a:schemeClr val="bg1"/>
              </a:solidFill>
            </a:endParaRPr>
          </a:p>
        </p:txBody>
      </p:sp>
      <p:sp>
        <p:nvSpPr>
          <p:cNvPr id="10" name="Shape 8"/>
          <p:cNvSpPr/>
          <p:nvPr/>
        </p:nvSpPr>
        <p:spPr>
          <a:xfrm>
            <a:off x="571500" y="2464308"/>
            <a:ext cx="5349240" cy="1737360"/>
          </a:xfrm>
          <a:prstGeom prst="roundRect">
            <a:avLst>
              <a:gd name="adj" fmla="val 4211"/>
            </a:avLst>
          </a:prstGeom>
          <a:solidFill>
            <a:srgbClr val="12294D"/>
          </a:solidFill>
          <a:ln w="15875">
            <a:solidFill>
              <a:srgbClr val="0081C8"/>
            </a:solidFill>
            <a:prstDash val="solid"/>
          </a:ln>
        </p:spPr>
      </p:sp>
      <p:sp>
        <p:nvSpPr>
          <p:cNvPr id="11" name="Shape 9"/>
          <p:cNvSpPr/>
          <p:nvPr/>
        </p:nvSpPr>
        <p:spPr>
          <a:xfrm>
            <a:off x="777240" y="2560320"/>
            <a:ext cx="502920" cy="502920"/>
          </a:xfrm>
          <a:prstGeom prst="ellipse">
            <a:avLst/>
          </a:prstGeom>
          <a:solidFill>
            <a:srgbClr val="0081C8"/>
          </a:solidFill>
          <a:ln/>
        </p:spPr>
      </p:sp>
      <p:pic>
        <p:nvPicPr>
          <p:cNvPr id="12" name="Image 0" descr="/home/claude/ppt/icons/trophy_FFFFFF.png"/>
          <p:cNvPicPr>
            <a:picLocks noChangeAspect="1"/>
          </p:cNvPicPr>
          <p:nvPr/>
        </p:nvPicPr>
        <p:blipFill>
          <a:blip r:embed="rId3"/>
          <a:stretch>
            <a:fillRect/>
          </a:stretch>
        </p:blipFill>
        <p:spPr>
          <a:xfrm>
            <a:off x="890397" y="2673477"/>
            <a:ext cx="276606" cy="276606"/>
          </a:xfrm>
          <a:prstGeom prst="rect">
            <a:avLst/>
          </a:prstGeom>
        </p:spPr>
      </p:pic>
      <p:sp>
        <p:nvSpPr>
          <p:cNvPr id="13" name="Text 10"/>
          <p:cNvSpPr/>
          <p:nvPr/>
        </p:nvSpPr>
        <p:spPr>
          <a:xfrm>
            <a:off x="1371600" y="2569464"/>
            <a:ext cx="4297680" cy="502920"/>
          </a:xfrm>
          <a:prstGeom prst="rect">
            <a:avLst/>
          </a:prstGeom>
          <a:noFill/>
          <a:ln/>
        </p:spPr>
        <p:txBody>
          <a:bodyPr wrap="square" rtlCol="0" anchor="ctr"/>
          <a:lstStyle/>
          <a:p>
            <a:pPr marL="0" indent="0">
              <a:buNone/>
            </a:pPr>
            <a:r>
              <a:rPr lang="en-US" b="1" dirty="0">
                <a:solidFill>
                  <a:srgbClr val="FFFFFF"/>
                </a:solidFill>
                <a:latin typeface="Bookman Old Style" pitchFamily="34" charset="0"/>
                <a:ea typeface="Bookman Old Style" pitchFamily="34" charset="-122"/>
                <a:cs typeface="Bookman Old Style" pitchFamily="34" charset="-120"/>
              </a:rPr>
              <a:t>A few nations dominate the medal table</a:t>
            </a:r>
            <a:endParaRPr lang="en-US" dirty="0"/>
          </a:p>
        </p:txBody>
      </p:sp>
      <p:sp>
        <p:nvSpPr>
          <p:cNvPr id="14" name="Text 11"/>
          <p:cNvSpPr/>
          <p:nvPr/>
        </p:nvSpPr>
        <p:spPr>
          <a:xfrm>
            <a:off x="777240" y="3275594"/>
            <a:ext cx="4892040" cy="777240"/>
          </a:xfrm>
          <a:prstGeom prst="rect">
            <a:avLst/>
          </a:prstGeom>
          <a:noFill/>
          <a:ln/>
        </p:spPr>
        <p:txBody>
          <a:bodyPr wrap="square" rtlCol="0" anchor="ctr"/>
          <a:lstStyle/>
          <a:p>
            <a:pPr marL="0" indent="0">
              <a:lnSpc>
                <a:spcPct val="120000"/>
              </a:lnSpc>
              <a:buNone/>
            </a:pPr>
            <a:r>
              <a:rPr lang="en-US" dirty="0">
                <a:solidFill>
                  <a:schemeClr val="bg1"/>
                </a:solidFill>
                <a:latin typeface="Calibri" pitchFamily="34" charset="0"/>
                <a:ea typeface="Calibri" pitchFamily="34" charset="-122"/>
                <a:cs typeface="Calibri" pitchFamily="34" charset="-120"/>
              </a:rPr>
              <a:t>The United States leads in both total medals and hosting count — a pattern that has held for over a century.</a:t>
            </a:r>
            <a:endParaRPr lang="en-US" dirty="0">
              <a:solidFill>
                <a:schemeClr val="bg1"/>
              </a:solidFill>
            </a:endParaRPr>
          </a:p>
        </p:txBody>
      </p:sp>
      <p:sp>
        <p:nvSpPr>
          <p:cNvPr id="15" name="Shape 12"/>
          <p:cNvSpPr/>
          <p:nvPr/>
        </p:nvSpPr>
        <p:spPr>
          <a:xfrm>
            <a:off x="6172200" y="2475074"/>
            <a:ext cx="5349240" cy="1737360"/>
          </a:xfrm>
          <a:prstGeom prst="roundRect">
            <a:avLst>
              <a:gd name="adj" fmla="val 4211"/>
            </a:avLst>
          </a:prstGeom>
          <a:solidFill>
            <a:srgbClr val="12294D"/>
          </a:solidFill>
          <a:ln w="15875">
            <a:solidFill>
              <a:srgbClr val="FCB131"/>
            </a:solidFill>
            <a:prstDash val="solid"/>
          </a:ln>
        </p:spPr>
      </p:sp>
      <p:sp>
        <p:nvSpPr>
          <p:cNvPr id="16" name="Shape 13"/>
          <p:cNvSpPr/>
          <p:nvPr/>
        </p:nvSpPr>
        <p:spPr>
          <a:xfrm>
            <a:off x="6400800" y="2698623"/>
            <a:ext cx="502920" cy="502920"/>
          </a:xfrm>
          <a:prstGeom prst="ellipse">
            <a:avLst/>
          </a:prstGeom>
          <a:solidFill>
            <a:srgbClr val="FCB131"/>
          </a:solidFill>
          <a:ln/>
        </p:spPr>
      </p:sp>
      <p:pic>
        <p:nvPicPr>
          <p:cNvPr id="17" name="Image 1" descr="/home/claude/ppt/icons/medal_FFFFFF.png"/>
          <p:cNvPicPr>
            <a:picLocks noChangeAspect="1"/>
          </p:cNvPicPr>
          <p:nvPr/>
        </p:nvPicPr>
        <p:blipFill>
          <a:blip r:embed="rId4"/>
          <a:stretch>
            <a:fillRect/>
          </a:stretch>
        </p:blipFill>
        <p:spPr>
          <a:xfrm>
            <a:off x="6523863" y="2811780"/>
            <a:ext cx="276606" cy="276606"/>
          </a:xfrm>
          <a:prstGeom prst="rect">
            <a:avLst/>
          </a:prstGeom>
        </p:spPr>
      </p:pic>
      <p:sp>
        <p:nvSpPr>
          <p:cNvPr id="18" name="Text 14"/>
          <p:cNvSpPr/>
          <p:nvPr/>
        </p:nvSpPr>
        <p:spPr>
          <a:xfrm>
            <a:off x="6995160" y="2624189"/>
            <a:ext cx="4297680" cy="502920"/>
          </a:xfrm>
          <a:prstGeom prst="rect">
            <a:avLst/>
          </a:prstGeom>
          <a:noFill/>
          <a:ln/>
        </p:spPr>
        <p:txBody>
          <a:bodyPr wrap="square" rtlCol="0" anchor="ctr"/>
          <a:lstStyle/>
          <a:p>
            <a:pPr marL="0" indent="0">
              <a:buNone/>
            </a:pPr>
            <a:r>
              <a:rPr lang="en-US" sz="1600" b="1" dirty="0">
                <a:solidFill>
                  <a:srgbClr val="FFFFFF"/>
                </a:solidFill>
                <a:latin typeface="Bookman Old Style" pitchFamily="34" charset="0"/>
                <a:ea typeface="Bookman Old Style" pitchFamily="34" charset="-122"/>
                <a:cs typeface="Bookman Old Style" pitchFamily="34" charset="-120"/>
              </a:rPr>
              <a:t>Home-field advantage is real, but temporary</a:t>
            </a:r>
            <a:endParaRPr lang="en-US" sz="1600" dirty="0"/>
          </a:p>
        </p:txBody>
      </p:sp>
      <p:sp>
        <p:nvSpPr>
          <p:cNvPr id="19" name="Text 15"/>
          <p:cNvSpPr/>
          <p:nvPr/>
        </p:nvSpPr>
        <p:spPr>
          <a:xfrm>
            <a:off x="6444691" y="3318561"/>
            <a:ext cx="4892040" cy="777240"/>
          </a:xfrm>
          <a:prstGeom prst="rect">
            <a:avLst/>
          </a:prstGeom>
          <a:noFill/>
          <a:ln/>
        </p:spPr>
        <p:txBody>
          <a:bodyPr wrap="square" rtlCol="0" anchor="ctr"/>
          <a:lstStyle/>
          <a:p>
            <a:pPr marL="0" indent="0">
              <a:lnSpc>
                <a:spcPct val="120000"/>
              </a:lnSpc>
              <a:buNone/>
            </a:pPr>
            <a:r>
              <a:rPr lang="en-US" sz="1600" dirty="0">
                <a:solidFill>
                  <a:schemeClr val="bg1"/>
                </a:solidFill>
                <a:latin typeface="Calibri" pitchFamily="34" charset="0"/>
                <a:ea typeface="Calibri" pitchFamily="34" charset="-122"/>
                <a:cs typeface="Calibri" pitchFamily="34" charset="-120"/>
              </a:rPr>
              <a:t>Host nations reliably outperform their average in their hosting year, then revert — confirmed directly in Italy's 1960 data.</a:t>
            </a:r>
            <a:endParaRPr lang="en-US" sz="1600" dirty="0">
              <a:solidFill>
                <a:schemeClr val="bg1"/>
              </a:solidFill>
            </a:endParaRPr>
          </a:p>
        </p:txBody>
      </p:sp>
      <p:sp>
        <p:nvSpPr>
          <p:cNvPr id="20" name="Shape 16"/>
          <p:cNvSpPr/>
          <p:nvPr/>
        </p:nvSpPr>
        <p:spPr>
          <a:xfrm>
            <a:off x="3541471" y="4471416"/>
            <a:ext cx="5349240" cy="1737360"/>
          </a:xfrm>
          <a:prstGeom prst="roundRect">
            <a:avLst>
              <a:gd name="adj" fmla="val 4211"/>
            </a:avLst>
          </a:prstGeom>
          <a:solidFill>
            <a:srgbClr val="12294D"/>
          </a:solidFill>
          <a:ln w="15875">
            <a:solidFill>
              <a:srgbClr val="00A651"/>
            </a:solidFill>
            <a:prstDash val="solid"/>
          </a:ln>
        </p:spPr>
      </p:sp>
      <p:sp>
        <p:nvSpPr>
          <p:cNvPr id="21" name="Shape 17"/>
          <p:cNvSpPr/>
          <p:nvPr/>
        </p:nvSpPr>
        <p:spPr>
          <a:xfrm>
            <a:off x="3793146" y="4730585"/>
            <a:ext cx="502920" cy="502920"/>
          </a:xfrm>
          <a:prstGeom prst="ellipse">
            <a:avLst/>
          </a:prstGeom>
          <a:solidFill>
            <a:srgbClr val="00A651"/>
          </a:solidFill>
          <a:ln/>
        </p:spPr>
      </p:sp>
      <p:pic>
        <p:nvPicPr>
          <p:cNvPr id="22" name="Image 2" descr="/home/claude/ppt/icons/venusmars_FFFFFF.png"/>
          <p:cNvPicPr>
            <a:picLocks noChangeAspect="1"/>
          </p:cNvPicPr>
          <p:nvPr/>
        </p:nvPicPr>
        <p:blipFill>
          <a:blip r:embed="rId5"/>
          <a:stretch>
            <a:fillRect/>
          </a:stretch>
        </p:blipFill>
        <p:spPr>
          <a:xfrm>
            <a:off x="3962082" y="4834598"/>
            <a:ext cx="276606" cy="276606"/>
          </a:xfrm>
          <a:prstGeom prst="rect">
            <a:avLst/>
          </a:prstGeom>
        </p:spPr>
      </p:pic>
      <p:sp>
        <p:nvSpPr>
          <p:cNvPr id="23" name="Text 18"/>
          <p:cNvSpPr/>
          <p:nvPr/>
        </p:nvSpPr>
        <p:spPr>
          <a:xfrm>
            <a:off x="4444548" y="4738964"/>
            <a:ext cx="4297680" cy="502920"/>
          </a:xfrm>
          <a:prstGeom prst="rect">
            <a:avLst/>
          </a:prstGeom>
          <a:noFill/>
          <a:ln/>
        </p:spPr>
        <p:txBody>
          <a:bodyPr wrap="square" rtlCol="0" anchor="ctr"/>
          <a:lstStyle/>
          <a:p>
            <a:pPr marL="0" indent="0">
              <a:buNone/>
            </a:pPr>
            <a:r>
              <a:rPr lang="en-US" sz="1600" b="1" dirty="0">
                <a:solidFill>
                  <a:srgbClr val="FFFFFF"/>
                </a:solidFill>
                <a:latin typeface="Bookman Old Style" pitchFamily="34" charset="0"/>
                <a:ea typeface="Bookman Old Style" pitchFamily="34" charset="-122"/>
                <a:cs typeface="Bookman Old Style" pitchFamily="34" charset="-120"/>
              </a:rPr>
              <a:t>Gender parity has genuinely arrived</a:t>
            </a:r>
            <a:endParaRPr lang="en-US" sz="1600" dirty="0"/>
          </a:p>
        </p:txBody>
      </p:sp>
      <p:sp>
        <p:nvSpPr>
          <p:cNvPr id="24" name="Text 19"/>
          <p:cNvSpPr/>
          <p:nvPr/>
        </p:nvSpPr>
        <p:spPr>
          <a:xfrm>
            <a:off x="3886200" y="5233505"/>
            <a:ext cx="4892040" cy="777240"/>
          </a:xfrm>
          <a:prstGeom prst="rect">
            <a:avLst/>
          </a:prstGeom>
          <a:noFill/>
          <a:ln/>
        </p:spPr>
        <p:txBody>
          <a:bodyPr wrap="square" rtlCol="0" anchor="ctr"/>
          <a:lstStyle/>
          <a:p>
            <a:pPr marL="0" indent="0">
              <a:lnSpc>
                <a:spcPct val="120000"/>
              </a:lnSpc>
              <a:buNone/>
            </a:pPr>
            <a:r>
              <a:rPr lang="en-US" dirty="0">
                <a:solidFill>
                  <a:schemeClr val="bg1"/>
                </a:solidFill>
                <a:latin typeface="Calibri" pitchFamily="34" charset="0"/>
                <a:ea typeface="Calibri" pitchFamily="34" charset="-122"/>
                <a:cs typeface="Calibri" pitchFamily="34" charset="-120"/>
              </a:rPr>
              <a:t>Female Olympic participation overtook male participation for the first time around 2015–2020.</a:t>
            </a:r>
            <a:endParaRPr lang="en-US" dirty="0">
              <a:solidFill>
                <a:schemeClr val="bg1"/>
              </a:solidFill>
            </a:endParaRPr>
          </a:p>
        </p:txBody>
      </p:sp>
      <p:sp>
        <p:nvSpPr>
          <p:cNvPr id="28" name="Text 22"/>
          <p:cNvSpPr/>
          <p:nvPr/>
        </p:nvSpPr>
        <p:spPr>
          <a:xfrm>
            <a:off x="7040880" y="4498848"/>
            <a:ext cx="4297680" cy="502920"/>
          </a:xfrm>
          <a:prstGeom prst="rect">
            <a:avLst/>
          </a:prstGeom>
          <a:noFill/>
          <a:ln/>
        </p:spPr>
        <p:txBody>
          <a:bodyPr wrap="square" rtlCol="0" anchor="ctr"/>
          <a:lstStyle/>
          <a:p>
            <a:pPr marL="0" indent="0">
              <a:buNone/>
            </a:pPr>
            <a:endParaRPr lang="en-US" sz="1600" dirty="0"/>
          </a:p>
        </p:txBody>
      </p:sp>
      <p:sp>
        <p:nvSpPr>
          <p:cNvPr id="29" name="Text 23"/>
          <p:cNvSpPr/>
          <p:nvPr/>
        </p:nvSpPr>
        <p:spPr>
          <a:xfrm>
            <a:off x="6400800" y="5166360"/>
            <a:ext cx="4892040" cy="777240"/>
          </a:xfrm>
          <a:prstGeom prst="rect">
            <a:avLst/>
          </a:prstGeom>
          <a:noFill/>
          <a:ln/>
        </p:spPr>
        <p:txBody>
          <a:bodyPr wrap="square" rtlCol="0" anchor="ctr"/>
          <a:lstStyle/>
          <a:p>
            <a:pPr marL="0" indent="0">
              <a:lnSpc>
                <a:spcPct val="120000"/>
              </a:lnSpc>
              <a:buNone/>
            </a:pPr>
            <a:endParaRPr lang="en-US" sz="1050" dirty="0"/>
          </a:p>
        </p:txBody>
      </p:sp>
      <p:sp>
        <p:nvSpPr>
          <p:cNvPr id="30" name="Text 24"/>
          <p:cNvSpPr/>
          <p:nvPr/>
        </p:nvSpPr>
        <p:spPr>
          <a:xfrm>
            <a:off x="457200" y="6537960"/>
            <a:ext cx="7315200" cy="274320"/>
          </a:xfrm>
          <a:prstGeom prst="rect">
            <a:avLst/>
          </a:prstGeom>
          <a:noFill/>
          <a:ln/>
        </p:spPr>
        <p:txBody>
          <a:bodyPr wrap="square" rtlCol="0" anchor="ctr"/>
          <a:lstStyle/>
          <a:p>
            <a:pPr marL="0" indent="0">
              <a:buNone/>
            </a:pPr>
            <a:r>
              <a:rPr lang="en-US" sz="900" kern="0" spc="100" dirty="0">
                <a:solidFill>
                  <a:srgbClr val="8FA0BE"/>
                </a:solidFill>
                <a:latin typeface="Calibri" pitchFamily="34" charset="0"/>
                <a:ea typeface="Calibri" pitchFamily="34" charset="-122"/>
                <a:cs typeface="Calibri" pitchFamily="34" charset="-120"/>
              </a:rPr>
              <a:t>OLYMPIC INSIGHTS  |  POWER BI ANALYTICS PROJECT</a:t>
            </a:r>
            <a:endParaRPr lang="en-US" sz="900" dirty="0"/>
          </a:p>
        </p:txBody>
      </p:sp>
      <p:sp>
        <p:nvSpPr>
          <p:cNvPr id="31" name="Text 25"/>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8FA0B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E39"/>
        </a:solidFill>
        <a:effectLst/>
      </p:bgPr>
    </p:bg>
    <p:spTree>
      <p:nvGrpSpPr>
        <p:cNvPr id="1" name=""/>
        <p:cNvGrpSpPr/>
        <p:nvPr/>
      </p:nvGrpSpPr>
      <p:grpSpPr>
        <a:xfrm>
          <a:off x="0" y="0"/>
          <a:ext cx="0" cy="0"/>
          <a:chOff x="0" y="0"/>
          <a:chExt cx="0" cy="0"/>
        </a:xfrm>
      </p:grpSpPr>
      <p:sp>
        <p:nvSpPr>
          <p:cNvPr id="2" name="Shape 0"/>
          <p:cNvSpPr/>
          <p:nvPr/>
        </p:nvSpPr>
        <p:spPr>
          <a:xfrm>
            <a:off x="822960" y="731520"/>
            <a:ext cx="566928" cy="566928"/>
          </a:xfrm>
          <a:prstGeom prst="ellipse">
            <a:avLst/>
          </a:prstGeom>
          <a:ln w="63500">
            <a:solidFill>
              <a:srgbClr val="0081C8"/>
            </a:solidFill>
            <a:prstDash val="solid"/>
          </a:ln>
        </p:spPr>
      </p:sp>
      <p:sp>
        <p:nvSpPr>
          <p:cNvPr id="3" name="Shape 1"/>
          <p:cNvSpPr/>
          <p:nvPr/>
        </p:nvSpPr>
        <p:spPr>
          <a:xfrm>
            <a:off x="1134770" y="731520"/>
            <a:ext cx="566928" cy="566928"/>
          </a:xfrm>
          <a:prstGeom prst="ellipse">
            <a:avLst/>
          </a:prstGeom>
          <a:ln w="63500">
            <a:solidFill>
              <a:srgbClr val="FCB131"/>
            </a:solidFill>
            <a:prstDash val="solid"/>
          </a:ln>
        </p:spPr>
      </p:sp>
      <p:sp>
        <p:nvSpPr>
          <p:cNvPr id="4" name="Shape 2"/>
          <p:cNvSpPr/>
          <p:nvPr/>
        </p:nvSpPr>
        <p:spPr>
          <a:xfrm>
            <a:off x="1446581" y="731520"/>
            <a:ext cx="566928" cy="566928"/>
          </a:xfrm>
          <a:prstGeom prst="ellipse">
            <a:avLst/>
          </a:prstGeom>
          <a:ln w="63500">
            <a:solidFill>
              <a:srgbClr val="1A1A1A"/>
            </a:solidFill>
            <a:prstDash val="solid"/>
          </a:ln>
        </p:spPr>
      </p:sp>
      <p:sp>
        <p:nvSpPr>
          <p:cNvPr id="5" name="Shape 3"/>
          <p:cNvSpPr/>
          <p:nvPr/>
        </p:nvSpPr>
        <p:spPr>
          <a:xfrm>
            <a:off x="1758391" y="731520"/>
            <a:ext cx="566928" cy="566928"/>
          </a:xfrm>
          <a:prstGeom prst="ellipse">
            <a:avLst/>
          </a:prstGeom>
          <a:ln w="63500">
            <a:solidFill>
              <a:srgbClr val="00A651"/>
            </a:solidFill>
            <a:prstDash val="solid"/>
          </a:ln>
        </p:spPr>
      </p:sp>
      <p:sp>
        <p:nvSpPr>
          <p:cNvPr id="6" name="Shape 4"/>
          <p:cNvSpPr/>
          <p:nvPr/>
        </p:nvSpPr>
        <p:spPr>
          <a:xfrm>
            <a:off x="2070202" y="731520"/>
            <a:ext cx="566928" cy="566928"/>
          </a:xfrm>
          <a:prstGeom prst="ellipse">
            <a:avLst/>
          </a:prstGeom>
          <a:ln w="63500">
            <a:solidFill>
              <a:srgbClr val="EE334E"/>
            </a:solidFill>
            <a:prstDash val="solid"/>
          </a:ln>
        </p:spPr>
      </p:sp>
      <p:sp>
        <p:nvSpPr>
          <p:cNvPr id="7" name="Text 5"/>
          <p:cNvSpPr/>
          <p:nvPr/>
        </p:nvSpPr>
        <p:spPr>
          <a:xfrm>
            <a:off x="822960" y="2788920"/>
            <a:ext cx="10058400" cy="1005840"/>
          </a:xfrm>
          <a:prstGeom prst="rect">
            <a:avLst/>
          </a:prstGeom>
          <a:noFill/>
          <a:ln/>
        </p:spPr>
        <p:txBody>
          <a:bodyPr wrap="square" rtlCol="0" anchor="ctr"/>
          <a:lstStyle/>
          <a:p>
            <a:pPr marL="0" indent="0">
              <a:buNone/>
            </a:pPr>
            <a:r>
              <a:rPr lang="en-US" sz="5000" b="1" dirty="0">
                <a:solidFill>
                  <a:srgbClr val="FFFFFF"/>
                </a:solidFill>
                <a:latin typeface="Bookman Old Style" pitchFamily="34" charset="0"/>
                <a:ea typeface="Bookman Old Style" pitchFamily="34" charset="-122"/>
                <a:cs typeface="Bookman Old Style" pitchFamily="34" charset="-120"/>
              </a:rPr>
              <a:t>THANK YOU</a:t>
            </a:r>
            <a:endParaRPr lang="en-US" sz="5000" dirty="0"/>
          </a:p>
        </p:txBody>
      </p:sp>
      <p:sp>
        <p:nvSpPr>
          <p:cNvPr id="8" name="Text 6"/>
          <p:cNvSpPr/>
          <p:nvPr/>
        </p:nvSpPr>
        <p:spPr>
          <a:xfrm>
            <a:off x="868680" y="3657600"/>
            <a:ext cx="8229600" cy="457200"/>
          </a:xfrm>
          <a:prstGeom prst="rect">
            <a:avLst/>
          </a:prstGeom>
          <a:noFill/>
          <a:ln/>
        </p:spPr>
        <p:txBody>
          <a:bodyPr wrap="square" rtlCol="0" anchor="ctr"/>
          <a:lstStyle/>
          <a:p>
            <a:pPr marL="0" indent="0">
              <a:buNone/>
            </a:pPr>
            <a:r>
              <a:rPr lang="en-US" sz="1500" i="1" dirty="0">
                <a:solidFill>
                  <a:srgbClr val="C7D3E6"/>
                </a:solidFill>
                <a:latin typeface="Calibri" pitchFamily="34" charset="0"/>
                <a:ea typeface="Calibri" pitchFamily="34" charset="-122"/>
                <a:cs typeface="Calibri" pitchFamily="34" charset="-120"/>
              </a:rPr>
              <a:t>Questions &amp; discussion welcome.</a:t>
            </a:r>
            <a:endParaRPr lang="en-US" sz="1500" dirty="0"/>
          </a:p>
        </p:txBody>
      </p:sp>
      <p:sp>
        <p:nvSpPr>
          <p:cNvPr id="9" name="Shape 7"/>
          <p:cNvSpPr/>
          <p:nvPr/>
        </p:nvSpPr>
        <p:spPr>
          <a:xfrm>
            <a:off x="868680" y="4343400"/>
            <a:ext cx="2286000" cy="411480"/>
          </a:xfrm>
          <a:prstGeom prst="roundRect">
            <a:avLst>
              <a:gd name="adj" fmla="val 48889"/>
            </a:avLst>
          </a:prstGeom>
          <a:ln w="19050">
            <a:solidFill>
              <a:srgbClr val="0081C8"/>
            </a:solidFill>
            <a:prstDash val="solid"/>
          </a:ln>
        </p:spPr>
      </p:sp>
      <p:sp>
        <p:nvSpPr>
          <p:cNvPr id="10" name="Text 8"/>
          <p:cNvSpPr/>
          <p:nvPr/>
        </p:nvSpPr>
        <p:spPr>
          <a:xfrm>
            <a:off x="868680" y="4343400"/>
            <a:ext cx="2286000" cy="411480"/>
          </a:xfrm>
          <a:prstGeom prst="rect">
            <a:avLst/>
          </a:prstGeom>
          <a:noFill/>
          <a:ln/>
        </p:spPr>
        <p:txBody>
          <a:bodyPr wrap="square" rtlCol="0" anchor="ctr"/>
          <a:lstStyle/>
          <a:p>
            <a:pPr marL="0" indent="0" algn="ctr">
              <a:buNone/>
            </a:pPr>
            <a:r>
              <a:rPr lang="en-US" sz="1400" dirty="0">
                <a:solidFill>
                  <a:schemeClr val="bg1"/>
                </a:solidFill>
                <a:latin typeface="Calibri" pitchFamily="34" charset="0"/>
                <a:ea typeface="Calibri" pitchFamily="34" charset="-122"/>
                <a:cs typeface="Calibri" pitchFamily="34" charset="-120"/>
              </a:rPr>
              <a:t>Global Medal Overview</a:t>
            </a:r>
            <a:endParaRPr lang="en-US" sz="1400" dirty="0">
              <a:solidFill>
                <a:schemeClr val="bg1"/>
              </a:solidFill>
            </a:endParaRPr>
          </a:p>
        </p:txBody>
      </p:sp>
      <p:sp>
        <p:nvSpPr>
          <p:cNvPr id="11" name="Shape 9"/>
          <p:cNvSpPr/>
          <p:nvPr/>
        </p:nvSpPr>
        <p:spPr>
          <a:xfrm>
            <a:off x="3337560" y="4343400"/>
            <a:ext cx="1828800" cy="411480"/>
          </a:xfrm>
          <a:prstGeom prst="roundRect">
            <a:avLst>
              <a:gd name="adj" fmla="val 48889"/>
            </a:avLst>
          </a:prstGeom>
          <a:ln w="19050">
            <a:solidFill>
              <a:srgbClr val="FCB131"/>
            </a:solidFill>
            <a:prstDash val="solid"/>
          </a:ln>
        </p:spPr>
      </p:sp>
      <p:sp>
        <p:nvSpPr>
          <p:cNvPr id="12" name="Text 10"/>
          <p:cNvSpPr/>
          <p:nvPr/>
        </p:nvSpPr>
        <p:spPr>
          <a:xfrm>
            <a:off x="3337560" y="4343400"/>
            <a:ext cx="1828800" cy="411480"/>
          </a:xfrm>
          <a:prstGeom prst="rect">
            <a:avLst/>
          </a:prstGeom>
          <a:noFill/>
          <a:ln/>
        </p:spPr>
        <p:txBody>
          <a:bodyPr wrap="square" rtlCol="0" anchor="ctr"/>
          <a:lstStyle/>
          <a:p>
            <a:pPr marL="0" indent="0" algn="ctr">
              <a:buNone/>
            </a:pPr>
            <a:r>
              <a:rPr lang="en-US" sz="1400" dirty="0">
                <a:solidFill>
                  <a:schemeClr val="bg1"/>
                </a:solidFill>
                <a:latin typeface="Calibri" pitchFamily="34" charset="0"/>
                <a:ea typeface="Calibri" pitchFamily="34" charset="-122"/>
                <a:cs typeface="Calibri" pitchFamily="34" charset="-120"/>
              </a:rPr>
              <a:t>Country Insights</a:t>
            </a:r>
            <a:endParaRPr lang="en-US" sz="1400" dirty="0">
              <a:solidFill>
                <a:schemeClr val="bg1"/>
              </a:solidFill>
            </a:endParaRPr>
          </a:p>
        </p:txBody>
      </p:sp>
      <p:sp>
        <p:nvSpPr>
          <p:cNvPr id="13" name="Shape 11"/>
          <p:cNvSpPr/>
          <p:nvPr/>
        </p:nvSpPr>
        <p:spPr>
          <a:xfrm>
            <a:off x="5349240" y="4343400"/>
            <a:ext cx="1920240" cy="411480"/>
          </a:xfrm>
          <a:prstGeom prst="roundRect">
            <a:avLst>
              <a:gd name="adj" fmla="val 48889"/>
            </a:avLst>
          </a:prstGeom>
          <a:ln w="19050">
            <a:solidFill>
              <a:srgbClr val="00A651"/>
            </a:solidFill>
            <a:prstDash val="solid"/>
          </a:ln>
        </p:spPr>
      </p:sp>
      <p:sp>
        <p:nvSpPr>
          <p:cNvPr id="14" name="Text 12"/>
          <p:cNvSpPr/>
          <p:nvPr/>
        </p:nvSpPr>
        <p:spPr>
          <a:xfrm>
            <a:off x="5349240" y="4343400"/>
            <a:ext cx="1920240" cy="411480"/>
          </a:xfrm>
          <a:prstGeom prst="rect">
            <a:avLst/>
          </a:prstGeom>
          <a:noFill/>
          <a:ln/>
        </p:spPr>
        <p:txBody>
          <a:bodyPr wrap="square" rtlCol="0" anchor="ctr"/>
          <a:lstStyle/>
          <a:p>
            <a:pPr marL="0" indent="0" algn="ctr">
              <a:buNone/>
            </a:pPr>
            <a:r>
              <a:rPr lang="en-US" sz="1400" dirty="0">
                <a:solidFill>
                  <a:schemeClr val="bg1"/>
                </a:solidFill>
                <a:latin typeface="Calibri" pitchFamily="34" charset="0"/>
                <a:ea typeface="Calibri" pitchFamily="34" charset="-122"/>
                <a:cs typeface="Calibri" pitchFamily="34" charset="-120"/>
              </a:rPr>
              <a:t>Athlete Spotlight</a:t>
            </a:r>
            <a:endParaRPr lang="en-US" sz="1400" dirty="0">
              <a:solidFill>
                <a:schemeClr val="bg1"/>
              </a:solidFill>
            </a:endParaRPr>
          </a:p>
        </p:txBody>
      </p:sp>
      <p:sp>
        <p:nvSpPr>
          <p:cNvPr id="15" name="Shape 13"/>
          <p:cNvSpPr/>
          <p:nvPr/>
        </p:nvSpPr>
        <p:spPr>
          <a:xfrm>
            <a:off x="7452360" y="4343400"/>
            <a:ext cx="2377440" cy="411480"/>
          </a:xfrm>
          <a:prstGeom prst="roundRect">
            <a:avLst>
              <a:gd name="adj" fmla="val 48889"/>
            </a:avLst>
          </a:prstGeom>
          <a:ln w="19050">
            <a:solidFill>
              <a:srgbClr val="EE334E"/>
            </a:solidFill>
            <a:prstDash val="solid"/>
          </a:ln>
        </p:spPr>
      </p:sp>
      <p:sp>
        <p:nvSpPr>
          <p:cNvPr id="16" name="Text 14"/>
          <p:cNvSpPr/>
          <p:nvPr/>
        </p:nvSpPr>
        <p:spPr>
          <a:xfrm>
            <a:off x="7452360" y="4343400"/>
            <a:ext cx="2377440" cy="411480"/>
          </a:xfrm>
          <a:prstGeom prst="rect">
            <a:avLst/>
          </a:prstGeom>
          <a:noFill/>
          <a:ln/>
        </p:spPr>
        <p:txBody>
          <a:bodyPr wrap="square" rtlCol="0" anchor="ctr"/>
          <a:lstStyle/>
          <a:p>
            <a:pPr marL="0" indent="0" algn="ctr">
              <a:buNone/>
            </a:pPr>
            <a:r>
              <a:rPr lang="en-US" sz="1400" dirty="0">
                <a:solidFill>
                  <a:schemeClr val="bg1"/>
                </a:solidFill>
                <a:latin typeface="Calibri" pitchFamily="34" charset="0"/>
                <a:ea typeface="Calibri" pitchFamily="34" charset="-122"/>
                <a:cs typeface="Calibri" pitchFamily="34" charset="-120"/>
              </a:rPr>
              <a:t>Sport &amp; Event Analysis</a:t>
            </a:r>
            <a:endParaRPr lang="en-US" sz="1400" dirty="0">
              <a:solidFill>
                <a:schemeClr val="bg1"/>
              </a:solidFill>
            </a:endParaRPr>
          </a:p>
        </p:txBody>
      </p:sp>
      <p:sp>
        <p:nvSpPr>
          <p:cNvPr id="17" name="Shape 15"/>
          <p:cNvSpPr/>
          <p:nvPr/>
        </p:nvSpPr>
        <p:spPr>
          <a:xfrm>
            <a:off x="868680" y="4892040"/>
            <a:ext cx="2286000" cy="411480"/>
          </a:xfrm>
          <a:prstGeom prst="roundRect">
            <a:avLst>
              <a:gd name="adj" fmla="val 48889"/>
            </a:avLst>
          </a:prstGeom>
          <a:ln w="19050">
            <a:solidFill>
              <a:srgbClr val="0081C8"/>
            </a:solidFill>
            <a:prstDash val="solid"/>
          </a:ln>
        </p:spPr>
      </p:sp>
      <p:sp>
        <p:nvSpPr>
          <p:cNvPr id="18" name="Text 16"/>
          <p:cNvSpPr/>
          <p:nvPr/>
        </p:nvSpPr>
        <p:spPr>
          <a:xfrm>
            <a:off x="868680" y="4892040"/>
            <a:ext cx="2286000" cy="411480"/>
          </a:xfrm>
          <a:prstGeom prst="rect">
            <a:avLst/>
          </a:prstGeom>
          <a:noFill/>
          <a:ln/>
        </p:spPr>
        <p:txBody>
          <a:bodyPr wrap="square" rtlCol="0" anchor="ctr"/>
          <a:lstStyle/>
          <a:p>
            <a:pPr marL="0" indent="0" algn="ctr">
              <a:buNone/>
            </a:pPr>
            <a:r>
              <a:rPr lang="en-US" sz="1400" dirty="0">
                <a:solidFill>
                  <a:schemeClr val="bg1"/>
                </a:solidFill>
                <a:latin typeface="Calibri" pitchFamily="34" charset="0"/>
                <a:ea typeface="Calibri" pitchFamily="34" charset="-122"/>
                <a:cs typeface="Calibri" pitchFamily="34" charset="-120"/>
              </a:rPr>
              <a:t>Host Country Analysis</a:t>
            </a:r>
            <a:endParaRPr lang="en-US" sz="1400" dirty="0">
              <a:solidFill>
                <a:schemeClr val="bg1"/>
              </a:solidFill>
            </a:endParaRPr>
          </a:p>
        </p:txBody>
      </p:sp>
      <p:sp>
        <p:nvSpPr>
          <p:cNvPr id="19" name="Shape 17"/>
          <p:cNvSpPr/>
          <p:nvPr/>
        </p:nvSpPr>
        <p:spPr>
          <a:xfrm>
            <a:off x="3337560" y="4892040"/>
            <a:ext cx="2286000" cy="411480"/>
          </a:xfrm>
          <a:prstGeom prst="roundRect">
            <a:avLst>
              <a:gd name="adj" fmla="val 48889"/>
            </a:avLst>
          </a:prstGeom>
          <a:ln w="19050">
            <a:solidFill>
              <a:srgbClr val="FCB131"/>
            </a:solidFill>
            <a:prstDash val="solid"/>
          </a:ln>
        </p:spPr>
      </p:sp>
      <p:sp>
        <p:nvSpPr>
          <p:cNvPr id="20" name="Text 18"/>
          <p:cNvSpPr/>
          <p:nvPr/>
        </p:nvSpPr>
        <p:spPr>
          <a:xfrm>
            <a:off x="3337560" y="4892040"/>
            <a:ext cx="2286000" cy="411480"/>
          </a:xfrm>
          <a:prstGeom prst="rect">
            <a:avLst/>
          </a:prstGeom>
          <a:noFill/>
          <a:ln/>
        </p:spPr>
        <p:txBody>
          <a:bodyPr wrap="square" rtlCol="0" anchor="ctr"/>
          <a:lstStyle/>
          <a:p>
            <a:pPr marL="0" indent="0" algn="ctr">
              <a:buNone/>
            </a:pPr>
            <a:r>
              <a:rPr lang="en-US" sz="1400" dirty="0">
                <a:solidFill>
                  <a:schemeClr val="bg1"/>
                </a:solidFill>
                <a:latin typeface="Calibri" pitchFamily="34" charset="0"/>
                <a:ea typeface="Calibri" pitchFamily="34" charset="-122"/>
                <a:cs typeface="Calibri" pitchFamily="34" charset="-120"/>
              </a:rPr>
              <a:t>Gender &amp; Demographics</a:t>
            </a:r>
            <a:endParaRPr lang="en-US" sz="1400" dirty="0">
              <a:solidFill>
                <a:schemeClr val="bg1"/>
              </a:solidFill>
            </a:endParaRPr>
          </a:p>
        </p:txBody>
      </p:sp>
      <p:sp>
        <p:nvSpPr>
          <p:cNvPr id="21" name="Text 19"/>
          <p:cNvSpPr/>
          <p:nvPr/>
        </p:nvSpPr>
        <p:spPr>
          <a:xfrm>
            <a:off x="868680" y="5806440"/>
            <a:ext cx="548640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Archi Katiyar</a:t>
            </a:r>
            <a:endParaRPr lang="en-US" sz="1600" dirty="0"/>
          </a:p>
        </p:txBody>
      </p:sp>
      <p:sp>
        <p:nvSpPr>
          <p:cNvPr id="22" name="Text 20"/>
          <p:cNvSpPr/>
          <p:nvPr/>
        </p:nvSpPr>
        <p:spPr>
          <a:xfrm>
            <a:off x="868680" y="6126480"/>
            <a:ext cx="7315200" cy="320040"/>
          </a:xfrm>
          <a:prstGeom prst="rect">
            <a:avLst/>
          </a:prstGeom>
          <a:noFill/>
          <a:ln/>
        </p:spPr>
        <p:txBody>
          <a:bodyPr wrap="square" rtlCol="0" anchor="ctr"/>
          <a:lstStyle/>
          <a:p>
            <a:pPr marL="0" indent="0">
              <a:buNone/>
            </a:pPr>
            <a:r>
              <a:rPr lang="en-US" sz="1050" dirty="0">
                <a:solidFill>
                  <a:srgbClr val="6C7E9E"/>
                </a:solidFill>
                <a:latin typeface="Calibri" pitchFamily="34" charset="0"/>
                <a:ea typeface="Calibri" pitchFamily="34" charset="-122"/>
                <a:cs typeface="Calibri" pitchFamily="34" charset="-120"/>
              </a:rPr>
              <a:t>Olympic Insights — A Power BI Analytics Project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217</TotalTime>
  <Words>1174</Words>
  <Application>Microsoft Office PowerPoint</Application>
  <PresentationFormat>Widescreen</PresentationFormat>
  <Paragraphs>191</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Archi Katiyar</cp:lastModifiedBy>
  <cp:revision>9</cp:revision>
  <dcterms:created xsi:type="dcterms:W3CDTF">2026-07-14T06:52:54Z</dcterms:created>
  <dcterms:modified xsi:type="dcterms:W3CDTF">2026-07-25T14:29:23Z</dcterms:modified>
</cp:coreProperties>
</file>