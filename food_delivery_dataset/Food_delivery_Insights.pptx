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E0D0025A-C338-7AF7-D403-988586B75145}">
          <p14:sldIdLst>
            <p14:sldId id="256"/>
          </p14:sldIdLst>
        </p14:section>
        <p14:section name="Dashboards" id="{27F3E45F-D647-D828-BBF3-6EEBBE112801}">
          <p14:sldIdLst>
            <p14:sldId id="257"/>
            <p14:sldId id="258"/>
            <p14:sldId id="259"/>
            <p14:sldId id="260"/>
          </p14:sldIdLst>
        </p14:section>
        <p14:section name="Wrap-up" id="{B0CD9C1F-0554-D465-0E6C-89FEB858283A}">
          <p14:sldIdLst>
            <p14:sldId id="261"/>
            <p14:sldId id="262"/>
          </p14:sldIdLst>
        </p14:section>
        <p14:section name="Closing" id="{E5A7EEA6-584A-C1E5-3178-A1DCE333056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(K)</c:v>
                </c:pt>
              </c:strCache>
            </c:strRef>
          </c:tx>
          <c:spPr>
            <a:solidFill>
              <a:srgbClr val="6D22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62C-49B5-A2D6-38D1BF2C0DA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62C-49B5-A2D6-38D1BF2C0DA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62C-49B5-A2D6-38D1BF2C0DA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62C-49B5-A2D6-38D1BF2C0DA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B62C-49B5-A2D6-38D1BF2C0DA8}"/>
              </c:ext>
            </c:extLst>
          </c:dPt>
          <c:dPt>
            <c:idx val="5"/>
            <c:invertIfNegative val="0"/>
            <c:bubble3D val="0"/>
            <c:spPr>
              <a:solidFill>
                <a:srgbClr val="EC8C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62C-49B5-A2D6-38D1BF2C0DA8}"/>
              </c:ext>
            </c:extLst>
          </c:dPt>
          <c:dPt>
            <c:idx val="6"/>
            <c:invertIfNegative val="0"/>
            <c:bubble3D val="0"/>
            <c:spPr>
              <a:solidFill>
                <a:srgbClr val="EC8C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62C-49B5-A2D6-38D1BF2C0DA8}"/>
              </c:ext>
            </c:extLst>
          </c:dPt>
          <c:dPt>
            <c:idx val="7"/>
            <c:invertIfNegative val="0"/>
            <c:bubble3D val="0"/>
            <c:spPr>
              <a:solidFill>
                <a:srgbClr val="EC8C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62C-49B5-A2D6-38D1BF2C0DA8}"/>
              </c:ext>
            </c:extLst>
          </c:dPt>
          <c:dPt>
            <c:idx val="8"/>
            <c:invertIfNegative val="0"/>
            <c:bubble3D val="0"/>
            <c:spPr>
              <a:solidFill>
                <a:srgbClr val="EC8C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62C-49B5-A2D6-38D1BF2C0DA8}"/>
              </c:ext>
            </c:extLst>
          </c:dPt>
          <c:dPt>
            <c:idx val="9"/>
            <c:invertIfNegative val="0"/>
            <c:bubble3D val="0"/>
            <c:spPr>
              <a:solidFill>
                <a:srgbClr val="EC8C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B62C-49B5-A2D6-38D1BF2C0DA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A101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Chicken Biryani</c:v>
                </c:pt>
                <c:pt idx="1">
                  <c:v>Paneer Butter Masala</c:v>
                </c:pt>
                <c:pt idx="2">
                  <c:v>Masala Dosa</c:v>
                </c:pt>
                <c:pt idx="3">
                  <c:v>Pasta Alfredo</c:v>
                </c:pt>
                <c:pt idx="4">
                  <c:v>Mutton Rogan Josh</c:v>
                </c:pt>
                <c:pt idx="5">
                  <c:v>Vegetable Fried Rice</c:v>
                </c:pt>
                <c:pt idx="6">
                  <c:v>Dal Makhani</c:v>
                </c:pt>
                <c:pt idx="7">
                  <c:v>Hyderabadi Biryani</c:v>
                </c:pt>
                <c:pt idx="8">
                  <c:v>Chicken Shawarma</c:v>
                </c:pt>
                <c:pt idx="9">
                  <c:v>Mutton Biryani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239</c:v>
                </c:pt>
                <c:pt idx="1">
                  <c:v>238</c:v>
                </c:pt>
                <c:pt idx="2">
                  <c:v>236</c:v>
                </c:pt>
                <c:pt idx="3">
                  <c:v>232</c:v>
                </c:pt>
                <c:pt idx="4">
                  <c:v>230</c:v>
                </c:pt>
                <c:pt idx="5">
                  <c:v>149</c:v>
                </c:pt>
                <c:pt idx="6">
                  <c:v>146</c:v>
                </c:pt>
                <c:pt idx="7">
                  <c:v>144</c:v>
                </c:pt>
                <c:pt idx="8">
                  <c:v>142</c:v>
                </c:pt>
                <c:pt idx="9">
                  <c:v>141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62C-49B5-A2D6-38D1BF2C0D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10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9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115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4059936" cy="18288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059936" y="6675120"/>
            <a:ext cx="4069080" cy="182880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129016" y="6675120"/>
            <a:ext cx="4059936" cy="18288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accent3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92608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600" dirty="0">
                <a:solidFill>
                  <a:schemeClr val="accent3"/>
                </a:solidFill>
              </a:rPr>
              <a:t>FOOD DELIVERY ANALYTICS</a:t>
            </a:r>
            <a:endParaRPr lang="en-US" dirty="0"/>
          </a:p>
        </p:txBody>
      </p:sp>
      <p:sp>
        <p:nvSpPr>
          <p:cNvPr id="3" name="Text 3"/>
          <p:cNvSpPr>
            <a:spLocks noGrp="1"/>
          </p:cNvSpPr>
          <p:nvPr>
            <p:ph type="title" idx="103" hasCustomPrompt="1"/>
          </p:nvPr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Food_delivery_analysis</a:t>
            </a:r>
            <a:endParaRPr lang="en-US" sz="5400" dirty="0"/>
          </a:p>
        </p:txBody>
      </p:sp>
      <p:sp>
        <p:nvSpPr>
          <p:cNvPr id="4" name="Text 3"/>
          <p:cNvSpPr>
            <a:spLocks noGrp="1"/>
          </p:cNvSpPr>
          <p:nvPr>
            <p:ph type="body" idx="104" hasCustomPrompt="1"/>
          </p:nvPr>
        </p:nvSpPr>
        <p:spPr>
          <a:xfrm>
            <a:off x="822960" y="33795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3"/>
                </a:solidFill>
              </a:rPr>
              <a:t>Dashboard Insights</a:t>
            </a:r>
            <a:endParaRPr lang="en-US" sz="2400" dirty="0"/>
          </a:p>
        </p:txBody>
      </p:sp>
      <p:sp>
        <p:nvSpPr>
          <p:cNvPr id="5" name="Stat 1 value"/>
          <p:cNvSpPr txBox="1"/>
          <p:nvPr/>
        </p:nvSpPr>
        <p:spPr>
          <a:xfrm>
            <a:off x="822960" y="4572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33</a:t>
            </a:r>
            <a:endParaRPr lang="en-US" sz="3200" dirty="0"/>
          </a:p>
        </p:txBody>
      </p:sp>
      <p:sp>
        <p:nvSpPr>
          <p:cNvPr id="6" name="Stat 1 label"/>
          <p:cNvSpPr txBox="1"/>
          <p:nvPr/>
        </p:nvSpPr>
        <p:spPr>
          <a:xfrm>
            <a:off x="822960" y="5212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Customers</a:t>
            </a:r>
            <a:endParaRPr lang="en-US" sz="1400" dirty="0"/>
          </a:p>
        </p:txBody>
      </p:sp>
      <p:sp>
        <p:nvSpPr>
          <p:cNvPr id="7" name="Stat 2 value"/>
          <p:cNvSpPr txBox="1"/>
          <p:nvPr/>
        </p:nvSpPr>
        <p:spPr>
          <a:xfrm>
            <a:off x="3108960" y="4572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71</a:t>
            </a:r>
            <a:endParaRPr lang="en-US" sz="3200" dirty="0"/>
          </a:p>
        </p:txBody>
      </p:sp>
      <p:sp>
        <p:nvSpPr>
          <p:cNvPr id="8" name="Stat 2 label"/>
          <p:cNvSpPr txBox="1"/>
          <p:nvPr/>
        </p:nvSpPr>
        <p:spPr>
          <a:xfrm>
            <a:off x="3108960" y="5212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Restaurants</a:t>
            </a:r>
            <a:endParaRPr lang="en-US" sz="1400" dirty="0"/>
          </a:p>
        </p:txBody>
      </p:sp>
      <p:sp>
        <p:nvSpPr>
          <p:cNvPr id="9" name="Stat 3 value"/>
          <p:cNvSpPr txBox="1"/>
          <p:nvPr/>
        </p:nvSpPr>
        <p:spPr>
          <a:xfrm>
            <a:off x="5394960" y="4572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10K</a:t>
            </a:r>
            <a:endParaRPr lang="en-US" sz="3200" dirty="0"/>
          </a:p>
        </p:txBody>
      </p:sp>
      <p:sp>
        <p:nvSpPr>
          <p:cNvPr id="10" name="Stat 3 label"/>
          <p:cNvSpPr txBox="1"/>
          <p:nvPr/>
        </p:nvSpPr>
        <p:spPr>
          <a:xfrm>
            <a:off x="5394960" y="5212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Orders</a:t>
            </a:r>
            <a:endParaRPr lang="en-US" sz="1400" dirty="0"/>
          </a:p>
        </p:txBody>
      </p:sp>
      <p:sp>
        <p:nvSpPr>
          <p:cNvPr id="11" name="Stat 4 value"/>
          <p:cNvSpPr txBox="1"/>
          <p:nvPr/>
        </p:nvSpPr>
        <p:spPr>
          <a:xfrm>
            <a:off x="7680960" y="4572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3M</a:t>
            </a:r>
            <a:endParaRPr lang="en-US" sz="3200" dirty="0"/>
          </a:p>
        </p:txBody>
      </p:sp>
      <p:sp>
        <p:nvSpPr>
          <p:cNvPr id="12" name="Stat 4 label"/>
          <p:cNvSpPr txBox="1"/>
          <p:nvPr/>
        </p:nvSpPr>
        <p:spPr>
          <a:xfrm>
            <a:off x="7680960" y="5212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Revenue</a:t>
            </a:r>
            <a:endParaRPr lang="en-US" sz="1400" dirty="0"/>
          </a:p>
        </p:txBody>
      </p:sp>
      <p:sp>
        <p:nvSpPr>
          <p:cNvPr id="13" name="Stat 4 label">
            <a:extLst>
              <a:ext uri="{FF2B5EF4-FFF2-40B4-BE49-F238E27FC236}">
                <a16:creationId xmlns:a16="http://schemas.microsoft.com/office/drawing/2014/main" id="{0A71ED36-870B-2B9D-461E-F62E0A79CEB9}"/>
              </a:ext>
            </a:extLst>
          </p:cNvPr>
          <p:cNvSpPr txBox="1"/>
          <p:nvPr/>
        </p:nvSpPr>
        <p:spPr>
          <a:xfrm>
            <a:off x="10190894" y="5673012"/>
            <a:ext cx="2761861" cy="862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</a:rPr>
              <a:t>Prepared by,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</a:rPr>
              <a:t> Archi katiyar</a:t>
            </a:r>
            <a:endParaRPr lang="en-US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373225" y="429676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Customers: a few heavy users drive the orders</a:t>
            </a:r>
            <a:endParaRPr lang="en-US" sz="2800" dirty="0"/>
          </a:p>
        </p:txBody>
      </p:sp>
      <p:pic>
        <p:nvPicPr>
          <p:cNvPr id="4" name="Dashboard screenshot" descr="Food delivery dashboard: KPI cards and top 10 customers by order cou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55" y="1258700"/>
            <a:ext cx="8602826" cy="4899504"/>
          </a:xfrm>
          <a:prstGeom prst="rect">
            <a:avLst/>
          </a:prstGeom>
        </p:spPr>
      </p:pic>
      <p:sp>
        <p:nvSpPr>
          <p:cNvPr id="8" name="Insights heading"/>
          <p:cNvSpPr txBox="1"/>
          <p:nvPr/>
        </p:nvSpPr>
        <p:spPr>
          <a:xfrm>
            <a:off x="9116269" y="1258700"/>
            <a:ext cx="4612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Key insights</a:t>
            </a:r>
            <a:endParaRPr lang="en-US" dirty="0"/>
          </a:p>
        </p:txBody>
      </p:sp>
      <p:sp>
        <p:nvSpPr>
          <p:cNvPr id="9" name="Insights list"/>
          <p:cNvSpPr txBox="1"/>
          <p:nvPr/>
        </p:nvSpPr>
        <p:spPr>
          <a:xfrm>
            <a:off x="8996763" y="1819468"/>
            <a:ext cx="2830348" cy="4444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Scale at a glance. </a:t>
            </a:r>
            <a:r>
              <a:rPr lang="en-US" sz="1400" dirty="0">
                <a:solidFill>
                  <a:schemeClr val="tx1"/>
                </a:solidFill>
              </a:rPr>
              <a:t>33 customers placed about 10K orders across 71 restaurants, for roughly 3M revenue and an average order value of 322.82.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Six heavy users lead. </a:t>
            </a:r>
            <a:r>
              <a:rPr lang="en-US" sz="1400" dirty="0">
                <a:solidFill>
                  <a:schemeClr val="tx1"/>
                </a:solidFill>
              </a:rPr>
              <a:t>Sneha Desai (807), Rahul Verma (773), Aman Gupta (772), Karan Kapoor (738), Neha Joshi (733) and Ritu Patel (723).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Steep drop after the top six. </a:t>
            </a:r>
            <a:r>
              <a:rPr lang="en-US" sz="1400" dirty="0">
                <a:solidFill>
                  <a:schemeClr val="tx1"/>
                </a:solidFill>
              </a:rPr>
              <a:t>The seventh customer, Nikhil Jain, has 536 orders, about 26% fewer than the sixth.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High concentration. </a:t>
            </a:r>
            <a:r>
              <a:rPr lang="en-US" sz="1400" dirty="0">
                <a:solidFill>
                  <a:schemeClr val="tx1"/>
                </a:solidFill>
              </a:rPr>
              <a:t>The top 10 customers account for about 6,570 orders, roughly two-thirds of all orders.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Healthy completion. </a:t>
            </a:r>
            <a:r>
              <a:rPr lang="en-US" sz="1400" dirty="0">
                <a:solidFill>
                  <a:schemeClr val="tx1"/>
                </a:solidFill>
              </a:rPr>
              <a:t>The cancellation rate is 2.50%.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926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Restaurants and dishes: even demand, a top-5 dish tier</a:t>
            </a:r>
            <a:endParaRPr lang="en-US" sz="2800" dirty="0"/>
          </a:p>
        </p:txBody>
      </p:sp>
      <p:pic>
        <p:nvPicPr>
          <p:cNvPr id="4" name="Dashboard screenshot" descr="Food delivery dashboard: top restaurants by orders, top customers by spend, order status, best-selling dish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79" y="1371600"/>
            <a:ext cx="8285584" cy="5027334"/>
          </a:xfrm>
          <a:prstGeom prst="rect">
            <a:avLst/>
          </a:prstGeom>
        </p:spPr>
      </p:pic>
      <p:sp>
        <p:nvSpPr>
          <p:cNvPr id="8" name="Insights heading"/>
          <p:cNvSpPr txBox="1"/>
          <p:nvPr/>
        </p:nvSpPr>
        <p:spPr>
          <a:xfrm>
            <a:off x="9092104" y="1293969"/>
            <a:ext cx="44591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Key insights</a:t>
            </a:r>
            <a:endParaRPr lang="en-US" sz="2400" dirty="0"/>
          </a:p>
        </p:txBody>
      </p:sp>
      <p:sp>
        <p:nvSpPr>
          <p:cNvPr id="9" name="Insights list"/>
          <p:cNvSpPr txBox="1"/>
          <p:nvPr/>
        </p:nvSpPr>
        <p:spPr>
          <a:xfrm>
            <a:off x="8892073" y="1918374"/>
            <a:ext cx="309963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No restaurant dominates. </a:t>
            </a:r>
            <a:r>
              <a:rPr lang="en-US" sz="1400" dirty="0">
                <a:solidFill>
                  <a:schemeClr val="tx1"/>
                </a:solidFill>
              </a:rPr>
              <a:t>Masala Library (487), Bademiya (485) and Gajalee (480) lead, but the top 10 sit in a tight 450 to 487 range.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Top 10 restaurants carry about 47% of orders. </a:t>
            </a:r>
            <a:r>
              <a:rPr lang="en-US" sz="1400" dirty="0">
                <a:solidFill>
                  <a:schemeClr val="tx1"/>
                </a:solidFill>
              </a:rPr>
              <a:t>Roughly 4,720 of 10K orders come from 10 of the 71 restaurants.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Spend mirrors orders. </a:t>
            </a:r>
            <a:r>
              <a:rPr lang="en-US" sz="1400" dirty="0">
                <a:solidFill>
                  <a:schemeClr val="tx1"/>
                </a:solidFill>
              </a:rPr>
              <a:t>Sneha Desai (0.27M), Rahul Verma and Aman Gupta (0.26M each) lead; the top 10 customers spend about 2.1M, roughly 70% of revenue.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Top-5 dishes form a tier. </a:t>
            </a:r>
            <a:r>
              <a:rPr lang="en-US" sz="1400" dirty="0">
                <a:solidFill>
                  <a:schemeClr val="tx1"/>
                </a:solidFill>
              </a:rPr>
              <a:t>Chicken Biryani (239K), Paneer Butter Masala, Masala Dosa, Pasta Alfredo and Mutton Rogan Josh each earn 230K+, about 1.6x the next five (141K to 149K).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Fulfillment is strong. </a:t>
            </a:r>
            <a:r>
              <a:rPr lang="en-US" sz="1400" dirty="0">
                <a:solidFill>
                  <a:schemeClr val="tx1"/>
                </a:solidFill>
              </a:rPr>
              <a:t>97.5% of orders are completed and 2.5% </a:t>
            </a: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400" dirty="0">
                <a:solidFill>
                  <a:schemeClr val="tx1"/>
                </a:solidFill>
              </a:rPr>
              <a:t>0.25K) are not fulfilled.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926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Cancellations: a few restaurants and December stand out</a:t>
            </a:r>
            <a:endParaRPr lang="en-US" sz="2800" dirty="0"/>
          </a:p>
        </p:txBody>
      </p:sp>
      <p:pic>
        <p:nvPicPr>
          <p:cNvPr id="4" name="Dashboard screenshot" descr="Food delivery dashboard: cancellation rate by restaurant and by mont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40" y="1371601"/>
            <a:ext cx="8098971" cy="5193792"/>
          </a:xfrm>
          <a:prstGeom prst="rect">
            <a:avLst/>
          </a:prstGeom>
        </p:spPr>
      </p:pic>
      <p:sp>
        <p:nvSpPr>
          <p:cNvPr id="8" name="Insights heading"/>
          <p:cNvSpPr txBox="1"/>
          <p:nvPr/>
        </p:nvSpPr>
        <p:spPr>
          <a:xfrm>
            <a:off x="8801710" y="1371600"/>
            <a:ext cx="4432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Key insights</a:t>
            </a:r>
            <a:endParaRPr lang="en-US" sz="2000" dirty="0"/>
          </a:p>
        </p:txBody>
      </p:sp>
      <p:sp>
        <p:nvSpPr>
          <p:cNvPr id="9" name="Insights list"/>
          <p:cNvSpPr txBox="1"/>
          <p:nvPr/>
        </p:nvSpPr>
        <p:spPr>
          <a:xfrm>
            <a:off x="8619806" y="1920240"/>
            <a:ext cx="311194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Wide gap between restaurants. </a:t>
            </a:r>
            <a:r>
              <a:rPr lang="en-US" sz="1600" dirty="0">
                <a:solidFill>
                  <a:schemeClr val="tx1"/>
                </a:solidFill>
              </a:rPr>
              <a:t>Cancellation runs from about 0.8% (Lazy Suzy) to about 6.6% (Perch Wine &amp; C…), an 8x spread.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Five restaurants run above 5%. </a:t>
            </a:r>
            <a:r>
              <a:rPr lang="en-US" sz="1600" dirty="0">
                <a:solidFill>
                  <a:schemeClr val="tx1"/>
                </a:solidFill>
              </a:rPr>
              <a:t>Perch Wine &amp; C…, Bukhara, Nagarjuna, Truffles and Punjabi By Nature are at roughly twice the 2.5% overall rate.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 low-cancellation group exists. </a:t>
            </a:r>
            <a:r>
              <a:rPr lang="en-US" sz="1600" dirty="0">
                <a:solidFill>
                  <a:schemeClr val="tx1"/>
                </a:solidFill>
              </a:rPr>
              <a:t>About ten restaurants sit below 2%, which is a useful benchmark to copy.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December is the outlier month. </a:t>
            </a:r>
            <a:r>
              <a:rPr lang="en-US" sz="1600" dirty="0">
                <a:solidFill>
                  <a:schemeClr val="tx1"/>
                </a:solidFill>
              </a:rPr>
              <a:t>Cancellation reaches 4.9%, against 1.9% in January and June; April (3.3%) is next highest.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926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Revenue and churn: steady demand, top customers at risk</a:t>
            </a:r>
            <a:endParaRPr lang="en-US" sz="2800" dirty="0"/>
          </a:p>
        </p:txBody>
      </p:sp>
      <p:pic>
        <p:nvPicPr>
          <p:cNvPr id="4" name="Dashboard screenshot" descr="Food delivery dashboard: monthly revenue, orders by day of week, customer churn status li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97" y="1212980"/>
            <a:ext cx="8364050" cy="5050660"/>
          </a:xfrm>
          <a:prstGeom prst="rect">
            <a:avLst/>
          </a:prstGeom>
        </p:spPr>
      </p:pic>
      <p:sp>
        <p:nvSpPr>
          <p:cNvPr id="8" name="Insights heading"/>
          <p:cNvSpPr txBox="1"/>
          <p:nvPr/>
        </p:nvSpPr>
        <p:spPr>
          <a:xfrm>
            <a:off x="8821250" y="1168752"/>
            <a:ext cx="45900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Key insights</a:t>
            </a:r>
            <a:endParaRPr lang="en-US" sz="2000" dirty="0"/>
          </a:p>
        </p:txBody>
      </p:sp>
      <p:sp>
        <p:nvSpPr>
          <p:cNvPr id="9" name="Insights list"/>
          <p:cNvSpPr txBox="1"/>
          <p:nvPr/>
        </p:nvSpPr>
        <p:spPr>
          <a:xfrm>
            <a:off x="8705461" y="1600200"/>
            <a:ext cx="302629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Revenue is steady. </a:t>
            </a:r>
            <a:r>
              <a:rPr lang="en-US" sz="1600" dirty="0">
                <a:solidFill>
                  <a:schemeClr val="tx1"/>
                </a:solidFill>
              </a:rPr>
              <a:t>Monthly revenue stays between 233K (February, weakest) and 288K (March, strongest), with an average month near 270K.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Orders are flat across the week. </a:t>
            </a:r>
            <a:r>
              <a:rPr lang="en-US" sz="1600" dirty="0">
                <a:solidFill>
                  <a:schemeClr val="tx1"/>
                </a:solidFill>
              </a:rPr>
              <a:t>1,398 (Tuesday) to 1,506 (Sunday), only about 8% apart; Saturday is second lowest.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Nine of 33 customers are marked churn. </a:t>
            </a:r>
            <a:r>
              <a:rPr lang="en-US" sz="1600" dirty="0">
                <a:solidFill>
                  <a:schemeClr val="tx1"/>
                </a:solidFill>
              </a:rPr>
              <a:t>That includes four top-10 customers: Sneha Desai, Aman Gupta, Karan Kapoor and Kavita Malhotra.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It is a big revenue risk. </a:t>
            </a:r>
            <a:r>
              <a:rPr lang="en-US" sz="1600" dirty="0">
                <a:solidFill>
                  <a:schemeClr val="tx1"/>
                </a:solidFill>
              </a:rPr>
              <a:t>Those four spent about 0.92M, roughly 30% of the 3M total.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926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 and next steps</a:t>
            </a:r>
            <a:endParaRPr lang="en-US" sz="2800" dirty="0"/>
          </a:p>
        </p:txBody>
      </p:sp>
      <p:sp>
        <p:nvSpPr>
          <p:cNvPr id="3" name="Chart heading"/>
          <p:cNvSpPr txBox="1"/>
          <p:nvPr/>
        </p:nvSpPr>
        <p:spPr>
          <a:xfrm>
            <a:off x="457200" y="1188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Best-selling dishes by revenue (K)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539496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Number badge 1"/>
          <p:cNvSpPr/>
          <p:nvPr/>
        </p:nvSpPr>
        <p:spPr>
          <a:xfrm>
            <a:off x="6309360" y="13441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Number 1"/>
          <p:cNvSpPr txBox="1"/>
          <p:nvPr/>
        </p:nvSpPr>
        <p:spPr>
          <a:xfrm>
            <a:off x="6309360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akeaway 1"/>
          <p:cNvSpPr txBox="1"/>
          <p:nvPr/>
        </p:nvSpPr>
        <p:spPr>
          <a:xfrm>
            <a:off x="7040880" y="12344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Win back the top customers.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Four of the top 10 customers are marked churn, about 0.92M of spend.</a:t>
            </a:r>
            <a:endParaRPr lang="en-US" sz="1500" dirty="0"/>
          </a:p>
        </p:txBody>
      </p:sp>
      <p:sp>
        <p:nvSpPr>
          <p:cNvPr id="8" name="Number badge 2"/>
          <p:cNvSpPr/>
          <p:nvPr/>
        </p:nvSpPr>
        <p:spPr>
          <a:xfrm>
            <a:off x="6309360" y="23042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Number 2"/>
          <p:cNvSpPr txBox="1"/>
          <p:nvPr/>
        </p:nvSpPr>
        <p:spPr>
          <a:xfrm>
            <a:off x="6309360" y="2304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akeaway 2"/>
          <p:cNvSpPr txBox="1"/>
          <p:nvPr/>
        </p:nvSpPr>
        <p:spPr>
          <a:xfrm>
            <a:off x="7040880" y="21945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Fix the cancellation hot spots.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Five restaurants run above 5% and December hits 4.9%, versus 2.5% overall.</a:t>
            </a:r>
            <a:endParaRPr lang="en-US" sz="1500" dirty="0"/>
          </a:p>
        </p:txBody>
      </p:sp>
      <p:sp>
        <p:nvSpPr>
          <p:cNvPr id="11" name="Number badge 3"/>
          <p:cNvSpPr/>
          <p:nvPr/>
        </p:nvSpPr>
        <p:spPr>
          <a:xfrm>
            <a:off x="6309360" y="326440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Number 3"/>
          <p:cNvSpPr txBox="1"/>
          <p:nvPr/>
        </p:nvSpPr>
        <p:spPr>
          <a:xfrm>
            <a:off x="630936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akeaway 3"/>
          <p:cNvSpPr txBox="1"/>
          <p:nvPr/>
        </p:nvSpPr>
        <p:spPr>
          <a:xfrm>
            <a:off x="7040880" y="31546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Build on the top-5 dishes.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They earn about 39% of revenue; bundle them to lift the next five.</a:t>
            </a:r>
            <a:endParaRPr lang="en-US" sz="1500" dirty="0"/>
          </a:p>
        </p:txBody>
      </p:sp>
      <p:sp>
        <p:nvSpPr>
          <p:cNvPr id="14" name="Number badge 4"/>
          <p:cNvSpPr/>
          <p:nvPr/>
        </p:nvSpPr>
        <p:spPr>
          <a:xfrm>
            <a:off x="6309360" y="422452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Number 4"/>
          <p:cNvSpPr txBox="1"/>
          <p:nvPr/>
        </p:nvSpPr>
        <p:spPr>
          <a:xfrm>
            <a:off x="6309360" y="4224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akeaway 4"/>
          <p:cNvSpPr txBox="1"/>
          <p:nvPr/>
        </p:nvSpPr>
        <p:spPr>
          <a:xfrm>
            <a:off x="7040880" y="41148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Clean up the dashboard.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Month charts are sorted by value, not calendar; two customer charts repeat the same numbers.</a:t>
            </a:r>
            <a:endParaRPr lang="en-US" sz="1500" dirty="0"/>
          </a:p>
        </p:txBody>
      </p:sp>
      <p:sp>
        <p:nvSpPr>
          <p:cNvPr id="17" name="Data note band"/>
          <p:cNvSpPr/>
          <p:nvPr/>
        </p:nvSpPr>
        <p:spPr>
          <a:xfrm>
            <a:off x="457200" y="5440680"/>
            <a:ext cx="11247120" cy="86868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Data note accent"/>
          <p:cNvSpPr/>
          <p:nvPr/>
        </p:nvSpPr>
        <p:spPr>
          <a:xfrm>
            <a:off x="457200" y="5440680"/>
            <a:ext cx="82296" cy="86868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Data note text"/>
          <p:cNvSpPr txBox="1"/>
          <p:nvPr/>
        </p:nvSpPr>
        <p:spPr>
          <a:xfrm>
            <a:off x="777240" y="54406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Data note: </a:t>
            </a:r>
            <a:r>
              <a:rPr lang="en-US" sz="1300" dirty="0">
                <a:solidFill>
                  <a:schemeClr val="tx1"/>
                </a:solidFill>
              </a:rPr>
              <a:t>shares and totals in this deck (47% of orders, about 70% of revenue, about 39% for top-5 dishes, 0.92M at-risk spend) are computed from the dashboard’s labels, so they are approximate.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926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Summary</a:t>
            </a:r>
            <a:endParaRPr lang="en-US" sz="2800" dirty="0"/>
          </a:p>
        </p:txBody>
      </p:sp>
      <p:sp>
        <p:nvSpPr>
          <p:cNvPr id="3" name="Card 1"/>
          <p:cNvSpPr/>
          <p:nvPr/>
        </p:nvSpPr>
        <p:spPr>
          <a:xfrm>
            <a:off x="457200" y="1280160"/>
            <a:ext cx="2606040" cy="17373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Card 1 accent"/>
          <p:cNvSpPr/>
          <p:nvPr/>
        </p:nvSpPr>
        <p:spPr>
          <a:xfrm>
            <a:off x="457200" y="1280160"/>
            <a:ext cx="2606040" cy="8229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Card 1 value"/>
          <p:cNvSpPr txBox="1"/>
          <p:nvPr/>
        </p:nvSpPr>
        <p:spPr>
          <a:xfrm>
            <a:off x="640080" y="1463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2.5%</a:t>
            </a:r>
            <a:endParaRPr lang="en-US" sz="3600" dirty="0"/>
          </a:p>
        </p:txBody>
      </p:sp>
      <p:sp>
        <p:nvSpPr>
          <p:cNvPr id="6" name="Card 1 label"/>
          <p:cNvSpPr txBox="1"/>
          <p:nvPr/>
        </p:nvSpPr>
        <p:spPr>
          <a:xfrm>
            <a:off x="64008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cancellation rate</a:t>
            </a:r>
            <a:endParaRPr lang="en-US" sz="1400" dirty="0"/>
          </a:p>
        </p:txBody>
      </p:sp>
      <p:sp>
        <p:nvSpPr>
          <p:cNvPr id="7" name="Card 1 detail"/>
          <p:cNvSpPr txBox="1"/>
          <p:nvPr/>
        </p:nvSpPr>
        <p:spPr>
          <a:xfrm>
            <a:off x="64008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97.5% of orders completed</a:t>
            </a:r>
            <a:endParaRPr lang="en-US" sz="1200" dirty="0"/>
          </a:p>
        </p:txBody>
      </p:sp>
      <p:sp>
        <p:nvSpPr>
          <p:cNvPr id="8" name="Card 2"/>
          <p:cNvSpPr/>
          <p:nvPr/>
        </p:nvSpPr>
        <p:spPr>
          <a:xfrm>
            <a:off x="3337560" y="1280160"/>
            <a:ext cx="2606040" cy="17373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Card 2 accent"/>
          <p:cNvSpPr/>
          <p:nvPr/>
        </p:nvSpPr>
        <p:spPr>
          <a:xfrm>
            <a:off x="3337560" y="1280160"/>
            <a:ext cx="2606040" cy="82296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Card 2 value"/>
          <p:cNvSpPr txBox="1"/>
          <p:nvPr/>
        </p:nvSpPr>
        <p:spPr>
          <a:xfrm>
            <a:off x="3520440" y="1463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322.82</a:t>
            </a:r>
            <a:endParaRPr lang="en-US" sz="3600" dirty="0"/>
          </a:p>
        </p:txBody>
      </p:sp>
      <p:sp>
        <p:nvSpPr>
          <p:cNvPr id="11" name="Card 2 label"/>
          <p:cNvSpPr txBox="1"/>
          <p:nvPr/>
        </p:nvSpPr>
        <p:spPr>
          <a:xfrm>
            <a:off x="352044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average order value</a:t>
            </a:r>
            <a:endParaRPr lang="en-US" sz="1400" dirty="0"/>
          </a:p>
        </p:txBody>
      </p:sp>
      <p:sp>
        <p:nvSpPr>
          <p:cNvPr id="12" name="Card 2 detail"/>
          <p:cNvSpPr txBox="1"/>
          <p:nvPr/>
        </p:nvSpPr>
        <p:spPr>
          <a:xfrm>
            <a:off x="352044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across about 10K orders</a:t>
            </a:r>
            <a:endParaRPr lang="en-US" sz="1200" dirty="0"/>
          </a:p>
        </p:txBody>
      </p:sp>
      <p:sp>
        <p:nvSpPr>
          <p:cNvPr id="13" name="Card 3"/>
          <p:cNvSpPr/>
          <p:nvPr/>
        </p:nvSpPr>
        <p:spPr>
          <a:xfrm>
            <a:off x="6217920" y="1280160"/>
            <a:ext cx="2606040" cy="17373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Card 3 accent"/>
          <p:cNvSpPr/>
          <p:nvPr/>
        </p:nvSpPr>
        <p:spPr>
          <a:xfrm>
            <a:off x="6217920" y="1280160"/>
            <a:ext cx="2606040" cy="82296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Card 3 value"/>
          <p:cNvSpPr txBox="1"/>
          <p:nvPr/>
        </p:nvSpPr>
        <p:spPr>
          <a:xfrm>
            <a:off x="6400800" y="1463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~66%</a:t>
            </a:r>
            <a:endParaRPr lang="en-US" sz="3600" dirty="0"/>
          </a:p>
        </p:txBody>
      </p:sp>
      <p:sp>
        <p:nvSpPr>
          <p:cNvPr id="16" name="Card 3 label"/>
          <p:cNvSpPr txBox="1"/>
          <p:nvPr/>
        </p:nvSpPr>
        <p:spPr>
          <a:xfrm>
            <a:off x="640080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of orders from 10 customers</a:t>
            </a:r>
            <a:endParaRPr lang="en-US" sz="1400" dirty="0"/>
          </a:p>
        </p:txBody>
      </p:sp>
      <p:sp>
        <p:nvSpPr>
          <p:cNvPr id="17" name="Card 3 detail"/>
          <p:cNvSpPr txBox="1"/>
          <p:nvPr/>
        </p:nvSpPr>
        <p:spPr>
          <a:xfrm>
            <a:off x="640080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the top 10 of 33 customers</a:t>
            </a:r>
            <a:endParaRPr lang="en-US" sz="1200" dirty="0"/>
          </a:p>
        </p:txBody>
      </p:sp>
      <p:sp>
        <p:nvSpPr>
          <p:cNvPr id="18" name="Card 4"/>
          <p:cNvSpPr/>
          <p:nvPr/>
        </p:nvSpPr>
        <p:spPr>
          <a:xfrm>
            <a:off x="9098280" y="1280160"/>
            <a:ext cx="2606040" cy="17373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Card 4 accent"/>
          <p:cNvSpPr/>
          <p:nvPr/>
        </p:nvSpPr>
        <p:spPr>
          <a:xfrm>
            <a:off x="9098280" y="1280160"/>
            <a:ext cx="2606040" cy="82296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Card 4 value"/>
          <p:cNvSpPr txBox="1"/>
          <p:nvPr/>
        </p:nvSpPr>
        <p:spPr>
          <a:xfrm>
            <a:off x="9281160" y="1463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9 of 33</a:t>
            </a:r>
            <a:endParaRPr lang="en-US" sz="3600" dirty="0"/>
          </a:p>
        </p:txBody>
      </p:sp>
      <p:sp>
        <p:nvSpPr>
          <p:cNvPr id="21" name="Card 4 label"/>
          <p:cNvSpPr txBox="1"/>
          <p:nvPr/>
        </p:nvSpPr>
        <p:spPr>
          <a:xfrm>
            <a:off x="928116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customers marked churn</a:t>
            </a:r>
            <a:endParaRPr lang="en-US" sz="1400" dirty="0"/>
          </a:p>
        </p:txBody>
      </p:sp>
      <p:sp>
        <p:nvSpPr>
          <p:cNvPr id="22" name="Card 4 detail"/>
          <p:cNvSpPr txBox="1"/>
          <p:nvPr/>
        </p:nvSpPr>
        <p:spPr>
          <a:xfrm>
            <a:off x="928116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including 4 top-10 customers</a:t>
            </a:r>
            <a:endParaRPr lang="en-US" sz="1200" dirty="0"/>
          </a:p>
        </p:txBody>
      </p:sp>
      <p:sp>
        <p:nvSpPr>
          <p:cNvPr id="23" name="Summary list"/>
          <p:cNvSpPr txBox="1"/>
          <p:nvPr/>
        </p:nvSpPr>
        <p:spPr>
          <a:xfrm>
            <a:off x="457200" y="3383280"/>
            <a:ext cx="11247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Customers: </a:t>
            </a:r>
            <a:r>
              <a:rPr lang="en-US" sz="1600" dirty="0">
                <a:solidFill>
                  <a:schemeClr val="tx1"/>
                </a:solidFill>
              </a:rPr>
              <a:t>A small group drives the business. Six heavy users lead on orders and spend, and four top-10 customers are flagged as churn, about 30% of revenue.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Restaurants and dishes: </a:t>
            </a:r>
            <a:r>
              <a:rPr lang="en-US" sz="1600" dirty="0">
                <a:solidFill>
                  <a:schemeClr val="tx1"/>
                </a:solidFill>
              </a:rPr>
              <a:t>Demand is spread evenly across restaurants, but five dishes earn 230K+ each, well above the rest. Cancellations spike at five restaurants and in December.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Operations: </a:t>
            </a:r>
            <a:r>
              <a:rPr lang="en-US" sz="1600" dirty="0">
                <a:solidFill>
                  <a:schemeClr val="tx1"/>
                </a:solidFill>
              </a:rPr>
              <a:t>Orders and revenue are steady across weekdays and months, so retention and cancellation fixes are the clearest levers.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chemeClr val="accent3"/>
                </a:solidFill>
              </a:rPr>
              <a:t>FOOD DELIVERY ANALYTICS</a:t>
            </a:r>
            <a:endParaRPr lang="en-US" sz="1400" dirty="0"/>
          </a:p>
        </p:txBody>
      </p:sp>
      <p:sp>
        <p:nvSpPr>
          <p:cNvPr id="3" name="Text 3"/>
          <p:cNvSpPr>
            <a:spLocks noGrp="1"/>
          </p:cNvSpPr>
          <p:nvPr>
            <p:ph type="title" idx="103" hasCustomPrompt="1"/>
          </p:nvPr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4" name="Text 3"/>
          <p:cNvSpPr>
            <a:spLocks noGrp="1"/>
          </p:cNvSpPr>
          <p:nvPr>
            <p:ph type="body" idx="104" hasCustomPrompt="1"/>
          </p:nvPr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3"/>
                </a:solidFill>
              </a:rPr>
              <a:t>Food_delivery_heights – Dashboard Insights</a:t>
            </a:r>
            <a:endParaRPr lang="en-US" sz="2400" dirty="0"/>
          </a:p>
        </p:txBody>
      </p:sp>
      <p:sp>
        <p:nvSpPr>
          <p:cNvPr id="5" name="Closing line"/>
          <p:cNvSpPr txBox="1"/>
          <p:nvPr/>
        </p:nvSpPr>
        <p:spPr>
          <a:xfrm>
            <a:off x="82296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od Delivery">
  <a:themeElements>
    <a:clrScheme name="Food Delivery">
      <a:dk1>
        <a:srgbClr val="3A1013"/>
      </a:dk1>
      <a:lt1>
        <a:srgbClr val="FFFFFF"/>
      </a:lt1>
      <a:dk2>
        <a:srgbClr val="6D2226"/>
      </a:dk2>
      <a:lt2>
        <a:srgbClr val="FBF1EA"/>
      </a:lt2>
      <a:accent1>
        <a:srgbClr val="6D2226"/>
      </a:accent1>
      <a:accent2>
        <a:srgbClr val="E8703A"/>
      </a:accent2>
      <a:accent3>
        <a:srgbClr val="F2B544"/>
      </a:accent3>
      <a:accent4>
        <a:srgbClr val="2A9D8F"/>
      </a:accent4>
      <a:accent5>
        <a:srgbClr val="6B6B6B"/>
      </a:accent5>
      <a:accent6>
        <a:srgbClr val="3A1013"/>
      </a:accent6>
      <a:hlink>
        <a:srgbClr val="6D2226"/>
      </a:hlink>
      <a:folHlink>
        <a:srgbClr val="6B6B6B"/>
      </a:folHlink>
    </a:clrScheme>
    <a:fontScheme name="Food Deliver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849</Words>
  <Application>Microsoft Office PowerPoint</Application>
  <PresentationFormat>Widescreen</PresentationFormat>
  <Paragraphs>87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Food Delivery</vt:lpstr>
      <vt:lpstr>Food_delivery_analysis</vt:lpstr>
      <vt:lpstr>Customers: a few heavy users drive the orders</vt:lpstr>
      <vt:lpstr>Restaurants and dishes: even demand, a top-5 dish tier</vt:lpstr>
      <vt:lpstr>Cancellations: a few restaurants and December stand out</vt:lpstr>
      <vt:lpstr>Revenue and churn: steady demand, top customers at risk</vt:lpstr>
      <vt:lpstr>Key takeaways and next steps</vt:lpstr>
      <vt:lpstr>Summary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Food_delivery_heights - Dashboard Insights</dc:title>
  <dc:subject>PptxGenJS Presentation</dc:subject>
  <dc:creator>PptxGenJS</dc:creator>
  <cp:lastModifiedBy>Archi Katiyar</cp:lastModifiedBy>
  <cp:revision>4</cp:revision>
  <dcterms:created xsi:type="dcterms:W3CDTF">2026-10-11T19:21:29Z</dcterms:created>
  <dcterms:modified xsi:type="dcterms:W3CDTF">2026-10-12T11:58:52Z</dcterms:modified>
</cp:coreProperties>
</file>