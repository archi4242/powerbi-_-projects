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74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5C"/>
        </a:solidFill>
        <a:effectLst/>
      </p:bgPr>
    </p:bg>
    <p:spTree>
      <p:nvGrpSpPr>
        <p:cNvPr id="1" name=""/>
        <p:cNvGrpSpPr/>
        <p:nvPr/>
      </p:nvGrpSpPr>
      <p:grpSpPr>
        <a:xfrm>
          <a:off x="0" y="0"/>
          <a:ext cx="0" cy="0"/>
          <a:chOff x="0" y="0"/>
          <a:chExt cx="0" cy="0"/>
        </a:xfrm>
      </p:grpSpPr>
      <p:sp>
        <p:nvSpPr>
          <p:cNvPr id="2" name="Shape 0"/>
          <p:cNvSpPr/>
          <p:nvPr/>
        </p:nvSpPr>
        <p:spPr>
          <a:xfrm>
            <a:off x="6414868" y="-1353618"/>
            <a:ext cx="2729132" cy="2990088"/>
          </a:xfrm>
          <a:prstGeom prst="ellipse">
            <a:avLst/>
          </a:prstGeom>
          <a:solidFill>
            <a:srgbClr val="F59E0B">
              <a:alpha val="22000"/>
            </a:srgbClr>
          </a:solidFill>
          <a:ln w="12700">
            <a:solidFill>
              <a:srgbClr val="F59E0B">
                <a:alpha val="22000"/>
              </a:srgbClr>
            </a:solidFill>
            <a:prstDash val="solid"/>
          </a:ln>
        </p:spPr>
        <p:txBody>
          <a:bodyPr/>
          <a:lstStyle/>
          <a:p>
            <a:endParaRPr lang="en-IN"/>
          </a:p>
        </p:txBody>
      </p:sp>
      <p:sp>
        <p:nvSpPr>
          <p:cNvPr id="3" name="Shape 1"/>
          <p:cNvSpPr/>
          <p:nvPr/>
        </p:nvSpPr>
        <p:spPr>
          <a:xfrm>
            <a:off x="0" y="2916936"/>
            <a:ext cx="2926080" cy="2926080"/>
          </a:xfrm>
          <a:prstGeom prst="ellipse">
            <a:avLst/>
          </a:prstGeom>
          <a:solidFill>
            <a:srgbClr val="0891B2">
              <a:alpha val="22000"/>
            </a:srgbClr>
          </a:solidFill>
          <a:ln w="12700">
            <a:solidFill>
              <a:srgbClr val="0891B2">
                <a:alpha val="22000"/>
              </a:srgbClr>
            </a:solidFill>
            <a:prstDash val="solid"/>
          </a:ln>
        </p:spPr>
        <p:txBody>
          <a:bodyPr/>
          <a:lstStyle/>
          <a:p>
            <a:endParaRPr lang="en-IN" dirty="0"/>
          </a:p>
        </p:txBody>
      </p:sp>
      <p:sp>
        <p:nvSpPr>
          <p:cNvPr id="4" name="Text 2"/>
          <p:cNvSpPr/>
          <p:nvPr/>
        </p:nvSpPr>
        <p:spPr>
          <a:xfrm>
            <a:off x="731520" y="1097280"/>
            <a:ext cx="7680960" cy="411480"/>
          </a:xfrm>
          <a:prstGeom prst="rect">
            <a:avLst/>
          </a:prstGeom>
          <a:noFill/>
          <a:ln/>
        </p:spPr>
        <p:txBody>
          <a:bodyPr wrap="square" lIns="0" tIns="0" rIns="0" bIns="0" rtlCol="0" anchor="ctr"/>
          <a:lstStyle/>
          <a:p>
            <a:pPr marL="0" indent="0" algn="ctr">
              <a:buNone/>
            </a:pPr>
            <a:r>
              <a:rPr lang="en-US" sz="1100" b="1" kern="0" spc="500" dirty="0">
                <a:solidFill>
                  <a:srgbClr val="F59E0B"/>
                </a:solidFill>
                <a:latin typeface="Calibri" pitchFamily="34" charset="0"/>
                <a:ea typeface="Calibri" pitchFamily="34" charset="-122"/>
                <a:cs typeface="Calibri" pitchFamily="34" charset="-120"/>
              </a:rPr>
              <a:t>POWER BI PROJECT</a:t>
            </a:r>
            <a:endParaRPr lang="en-US" sz="1100" dirty="0"/>
          </a:p>
        </p:txBody>
      </p:sp>
      <p:sp>
        <p:nvSpPr>
          <p:cNvPr id="5" name="Text 3"/>
          <p:cNvSpPr/>
          <p:nvPr/>
        </p:nvSpPr>
        <p:spPr>
          <a:xfrm>
            <a:off x="731520" y="1645920"/>
            <a:ext cx="768096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Financial Analysis</a:t>
            </a:r>
            <a:endParaRPr lang="en-US" sz="4800" dirty="0"/>
          </a:p>
        </p:txBody>
      </p:sp>
      <p:sp>
        <p:nvSpPr>
          <p:cNvPr id="6" name="Text 4"/>
          <p:cNvSpPr/>
          <p:nvPr/>
        </p:nvSpPr>
        <p:spPr>
          <a:xfrm>
            <a:off x="731520" y="2560320"/>
            <a:ext cx="7680960" cy="777240"/>
          </a:xfrm>
          <a:prstGeom prst="rect">
            <a:avLst/>
          </a:prstGeom>
          <a:noFill/>
          <a:ln/>
        </p:spPr>
        <p:txBody>
          <a:bodyPr wrap="square" lIns="0" tIns="0" rIns="0" bIns="0" rtlCol="0" anchor="ctr"/>
          <a:lstStyle/>
          <a:p>
            <a:pPr marL="0" indent="0" algn="ctr">
              <a:buNone/>
            </a:pPr>
            <a:endParaRPr lang="en-US" sz="4800" dirty="0"/>
          </a:p>
        </p:txBody>
      </p:sp>
      <p:sp>
        <p:nvSpPr>
          <p:cNvPr id="7" name="Text 5"/>
          <p:cNvSpPr/>
          <p:nvPr/>
        </p:nvSpPr>
        <p:spPr>
          <a:xfrm>
            <a:off x="637920" y="2734056"/>
            <a:ext cx="7680960" cy="365760"/>
          </a:xfrm>
          <a:prstGeom prst="rect">
            <a:avLst/>
          </a:prstGeom>
          <a:noFill/>
          <a:ln/>
        </p:spPr>
        <p:txBody>
          <a:bodyPr wrap="square" lIns="0" tIns="0" rIns="0" bIns="0" rtlCol="0" anchor="ctr"/>
          <a:lstStyle/>
          <a:p>
            <a:pPr marL="0" indent="0" algn="ctr">
              <a:buNone/>
            </a:pPr>
            <a:r>
              <a:rPr lang="en-US" sz="1300" dirty="0">
                <a:solidFill>
                  <a:srgbClr val="93C5FD"/>
                </a:solidFill>
                <a:latin typeface="Calibri" pitchFamily="34" charset="0"/>
                <a:ea typeface="Calibri" pitchFamily="34" charset="-122"/>
                <a:cs typeface="Calibri" pitchFamily="34" charset="-120"/>
              </a:rPr>
              <a:t>Credit Card Customer Data  •  DAX Measures  •  Data Modelling</a:t>
            </a:r>
            <a:endParaRPr lang="en-US" sz="1300" dirty="0"/>
          </a:p>
        </p:txBody>
      </p:sp>
      <p:sp>
        <p:nvSpPr>
          <p:cNvPr id="8" name="Shape 6"/>
          <p:cNvSpPr/>
          <p:nvPr/>
        </p:nvSpPr>
        <p:spPr>
          <a:xfrm>
            <a:off x="0" y="4480560"/>
            <a:ext cx="9144000" cy="658368"/>
          </a:xfrm>
          <a:prstGeom prst="rect">
            <a:avLst/>
          </a:prstGeom>
          <a:solidFill>
            <a:srgbClr val="0891B2"/>
          </a:solidFill>
          <a:ln w="12700">
            <a:solidFill>
              <a:srgbClr val="0891B2"/>
            </a:solidFill>
            <a:prstDash val="solid"/>
          </a:ln>
        </p:spPr>
        <p:txBody>
          <a:bodyPr/>
          <a:lstStyle/>
          <a:p>
            <a:endParaRPr lang="en-IN"/>
          </a:p>
        </p:txBody>
      </p:sp>
      <p:sp>
        <p:nvSpPr>
          <p:cNvPr id="9" name="Text 7"/>
          <p:cNvSpPr/>
          <p:nvPr/>
        </p:nvSpPr>
        <p:spPr>
          <a:xfrm>
            <a:off x="457200" y="4535424"/>
            <a:ext cx="8229600" cy="53035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15 DAX Formulas  |  Data Cleaning in Power Query  |  Relationship Modelling</a:t>
            </a:r>
            <a:endParaRPr lang="en-US" sz="1200" dirty="0"/>
          </a:p>
        </p:txBody>
      </p:sp>
      <p:sp>
        <p:nvSpPr>
          <p:cNvPr id="11" name="Shape 1">
            <a:extLst>
              <a:ext uri="{FF2B5EF4-FFF2-40B4-BE49-F238E27FC236}">
                <a16:creationId xmlns:a16="http://schemas.microsoft.com/office/drawing/2014/main" id="{3184FBE9-A4F8-18ED-1562-70BAF91548F2}"/>
              </a:ext>
            </a:extLst>
          </p:cNvPr>
          <p:cNvSpPr/>
          <p:nvPr/>
        </p:nvSpPr>
        <p:spPr>
          <a:xfrm>
            <a:off x="6801840" y="3163212"/>
            <a:ext cx="2342160" cy="2268936"/>
          </a:xfrm>
          <a:prstGeom prst="ellipse">
            <a:avLst/>
          </a:prstGeom>
          <a:solidFill>
            <a:srgbClr val="0891B2">
              <a:alpha val="22000"/>
            </a:srgbClr>
          </a:solidFill>
          <a:ln w="12700">
            <a:solidFill>
              <a:srgbClr val="0891B2">
                <a:alpha val="22000"/>
              </a:srgbClr>
            </a:solidFill>
            <a:prstDash val="solid"/>
          </a:ln>
        </p:spPr>
        <p:txBody>
          <a:bodyPr/>
          <a:lstStyle/>
          <a:p>
            <a:r>
              <a:rPr lang="en-US" b="1" dirty="0">
                <a:solidFill>
                  <a:schemeClr val="bg2"/>
                </a:solidFill>
              </a:rPr>
              <a:t>  Archi Katiyar</a:t>
            </a:r>
          </a:p>
          <a:p>
            <a:r>
              <a:rPr lang="en-US" b="1" dirty="0">
                <a:solidFill>
                  <a:schemeClr val="bg2"/>
                </a:solidFill>
              </a:rPr>
              <a:t>  Cohort-12</a:t>
            </a:r>
            <a:endParaRPr lang="en-IN" b="1"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F5C"/>
          </a:solidFill>
          <a:ln w="12700">
            <a:solidFill>
              <a:srgbClr val="0D1F5C"/>
            </a:solidFill>
            <a:prstDash val="solid"/>
          </a:ln>
        </p:spPr>
        <p:txBody>
          <a:bodyPr/>
          <a:lstStyle/>
          <a:p>
            <a:endParaRPr lang="en-IN"/>
          </a:p>
        </p:txBody>
      </p:sp>
      <p:sp>
        <p:nvSpPr>
          <p:cNvPr id="3" name="Text 1"/>
          <p:cNvSpPr/>
          <p:nvPr/>
        </p:nvSpPr>
        <p:spPr>
          <a:xfrm>
            <a:off x="365760" y="91440"/>
            <a:ext cx="8412480" cy="438912"/>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PROJECT OVERVIEW  &amp;  DATA DICTIONARY</a:t>
            </a:r>
            <a:endParaRPr lang="en-US" sz="1500" dirty="0"/>
          </a:p>
        </p:txBody>
      </p:sp>
      <p:sp>
        <p:nvSpPr>
          <p:cNvPr id="4" name="Shape 2"/>
          <p:cNvSpPr/>
          <p:nvPr/>
        </p:nvSpPr>
        <p:spPr>
          <a:xfrm>
            <a:off x="256032" y="731520"/>
            <a:ext cx="8631936" cy="749808"/>
          </a:xfrm>
          <a:prstGeom prst="roundRect">
            <a:avLst>
              <a:gd name="adj" fmla="val 9756"/>
            </a:avLst>
          </a:prstGeom>
          <a:solidFill>
            <a:srgbClr val="1E3A5F"/>
          </a:solidFill>
          <a:ln w="12700">
            <a:solidFill>
              <a:srgbClr val="1E3A5F"/>
            </a:solidFill>
            <a:prstDash val="solid"/>
          </a:ln>
          <a:effectLst>
            <a:outerShdw blurRad="101600" dist="38100" dir="2700000" algn="bl" rotWithShape="0">
              <a:srgbClr val="000000">
                <a:alpha val="10000"/>
              </a:srgbClr>
            </a:outerShdw>
          </a:effectLst>
        </p:spPr>
        <p:txBody>
          <a:bodyPr/>
          <a:lstStyle/>
          <a:p>
            <a:endParaRPr lang="en-IN"/>
          </a:p>
        </p:txBody>
      </p:sp>
      <p:sp>
        <p:nvSpPr>
          <p:cNvPr id="5" name="Text 3"/>
          <p:cNvSpPr/>
          <p:nvPr/>
        </p:nvSpPr>
        <p:spPr>
          <a:xfrm>
            <a:off x="457200" y="768096"/>
            <a:ext cx="8229600" cy="676656"/>
          </a:xfrm>
          <a:prstGeom prst="rect">
            <a:avLst/>
          </a:prstGeom>
          <a:noFill/>
          <a:ln/>
        </p:spPr>
        <p:txBody>
          <a:bodyPr wrap="square" lIns="0" tIns="0" rIns="0" bIns="0" rtlCol="0" anchor="ctr"/>
          <a:lstStyle/>
          <a:p>
            <a:pPr marL="0" indent="0" algn="l">
              <a:buNone/>
            </a:pPr>
            <a:r>
              <a:rPr lang="en-US" sz="1050" b="1" dirty="0">
                <a:solidFill>
                  <a:srgbClr val="F59E0B"/>
                </a:solidFill>
                <a:latin typeface="Calibri" pitchFamily="34" charset="0"/>
                <a:ea typeface="Calibri" pitchFamily="34" charset="-122"/>
                <a:cs typeface="Calibri" pitchFamily="34" charset="-120"/>
              </a:rPr>
              <a:t>About This Project:  </a:t>
            </a:r>
            <a:r>
              <a:rPr lang="en-US" sz="1050" dirty="0">
                <a:solidFill>
                  <a:srgbClr val="DBEAFE"/>
                </a:solidFill>
                <a:latin typeface="Calibri" pitchFamily="34" charset="0"/>
                <a:ea typeface="Calibri" pitchFamily="34" charset="-122"/>
                <a:cs typeface="Calibri" pitchFamily="34" charset="-120"/>
              </a:rPr>
              <a:t>This Power BI project performs end-to-end financial analysis on credit card customer data. It covers data cleaning in Power Query, relationship modelling across four source tables, and 15 advanced DAX measures spanning risk scoring, churn detection, time intelligence, and customer segmentation — providing actionable insights into spending, delinquency, and credit utilization.</a:t>
            </a:r>
            <a:endParaRPr lang="en-US" sz="1050" dirty="0"/>
          </a:p>
        </p:txBody>
      </p:sp>
      <p:sp>
        <p:nvSpPr>
          <p:cNvPr id="6" name="Text 4"/>
          <p:cNvSpPr/>
          <p:nvPr/>
        </p:nvSpPr>
        <p:spPr>
          <a:xfrm>
            <a:off x="274320" y="1591056"/>
            <a:ext cx="5486400" cy="256032"/>
          </a:xfrm>
          <a:prstGeom prst="rect">
            <a:avLst/>
          </a:prstGeom>
          <a:noFill/>
          <a:ln/>
        </p:spPr>
        <p:txBody>
          <a:bodyPr wrap="square" lIns="0" tIns="0" rIns="0" bIns="0" rtlCol="0" anchor="ctr"/>
          <a:lstStyle/>
          <a:p>
            <a:pPr marL="0" indent="0">
              <a:buNone/>
            </a:pPr>
            <a:r>
              <a:rPr lang="en-US" sz="900" b="1" kern="0" spc="200" dirty="0">
                <a:solidFill>
                  <a:srgbClr val="0891B2"/>
                </a:solidFill>
                <a:latin typeface="Calibri" pitchFamily="34" charset="0"/>
                <a:ea typeface="Calibri" pitchFamily="34" charset="-122"/>
                <a:cs typeface="Calibri" pitchFamily="34" charset="-120"/>
              </a:rPr>
              <a:t>SOURCE TABLES  ( 4 CSVs → 2 Appended Tables )</a:t>
            </a:r>
            <a:endParaRPr lang="en-US" sz="900" dirty="0"/>
          </a:p>
        </p:txBody>
      </p:sp>
      <p:sp>
        <p:nvSpPr>
          <p:cNvPr id="7" name="Shape 5"/>
          <p:cNvSpPr/>
          <p:nvPr/>
        </p:nvSpPr>
        <p:spPr>
          <a:xfrm>
            <a:off x="256032" y="1874520"/>
            <a:ext cx="4206240" cy="2788920"/>
          </a:xfrm>
          <a:prstGeom prst="roundRect">
            <a:avLst>
              <a:gd name="adj" fmla="val 2623"/>
            </a:avLst>
          </a:prstGeom>
          <a:solidFill>
            <a:srgbClr val="FFFFFF"/>
          </a:solidFill>
          <a:ln w="12700">
            <a:solidFill>
              <a:srgbClr val="BFDBFE"/>
            </a:solidFill>
            <a:prstDash val="solid"/>
          </a:ln>
          <a:effectLst>
            <a:outerShdw blurRad="101600" dist="38100" dir="2700000" algn="bl" rotWithShape="0">
              <a:srgbClr val="000000">
                <a:alpha val="10000"/>
              </a:srgbClr>
            </a:outerShdw>
          </a:effectLst>
        </p:spPr>
        <p:txBody>
          <a:bodyPr/>
          <a:lstStyle/>
          <a:p>
            <a:endParaRPr lang="en-IN"/>
          </a:p>
        </p:txBody>
      </p:sp>
      <p:sp>
        <p:nvSpPr>
          <p:cNvPr id="8" name="Shape 6"/>
          <p:cNvSpPr/>
          <p:nvPr/>
        </p:nvSpPr>
        <p:spPr>
          <a:xfrm>
            <a:off x="256032" y="1874520"/>
            <a:ext cx="4206240" cy="365760"/>
          </a:xfrm>
          <a:prstGeom prst="roundRect">
            <a:avLst>
              <a:gd name="adj" fmla="val 20000"/>
            </a:avLst>
          </a:prstGeom>
          <a:solidFill>
            <a:srgbClr val="0D1F5C"/>
          </a:solidFill>
          <a:ln w="12700">
            <a:solidFill>
              <a:srgbClr val="0D1F5C"/>
            </a:solidFill>
            <a:prstDash val="solid"/>
          </a:ln>
        </p:spPr>
        <p:txBody>
          <a:bodyPr/>
          <a:lstStyle/>
          <a:p>
            <a:endParaRPr lang="en-IN"/>
          </a:p>
        </p:txBody>
      </p:sp>
      <p:sp>
        <p:nvSpPr>
          <p:cNvPr id="9" name="Text 7"/>
          <p:cNvSpPr/>
          <p:nvPr/>
        </p:nvSpPr>
        <p:spPr>
          <a:xfrm>
            <a:off x="329184" y="1901952"/>
            <a:ext cx="4059936" cy="301752"/>
          </a:xfrm>
          <a:prstGeom prst="rect">
            <a:avLst/>
          </a:prstGeom>
          <a:noFill/>
          <a:ln/>
        </p:spPr>
        <p:txBody>
          <a:bodyPr wrap="square" lIns="0" tIns="0" rIns="0" bIns="0" rtlCol="0" anchor="ctr"/>
          <a:lstStyle/>
          <a:p>
            <a:pPr marL="0" indent="0" algn="l">
              <a:buNone/>
            </a:pPr>
            <a:r>
              <a:rPr lang="en-US" sz="950" b="1" dirty="0">
                <a:solidFill>
                  <a:srgbClr val="F59E0B"/>
                </a:solidFill>
                <a:latin typeface="Calibri" pitchFamily="34" charset="0"/>
                <a:ea typeface="Calibri" pitchFamily="34" charset="-122"/>
                <a:cs typeface="Calibri" pitchFamily="34" charset="-120"/>
              </a:rPr>
              <a:t>🗂  CreditCard  ( credit_card + cc_add )  —  18 Columns</a:t>
            </a:r>
            <a:endParaRPr lang="en-US" sz="950" dirty="0"/>
          </a:p>
        </p:txBody>
      </p:sp>
      <p:sp>
        <p:nvSpPr>
          <p:cNvPr id="10" name="Text 8"/>
          <p:cNvSpPr/>
          <p:nvPr/>
        </p:nvSpPr>
        <p:spPr>
          <a:xfrm>
            <a:off x="329184" y="2304288"/>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Client_Num</a:t>
            </a:r>
            <a:endParaRPr lang="en-US" sz="780" dirty="0"/>
          </a:p>
        </p:txBody>
      </p:sp>
      <p:sp>
        <p:nvSpPr>
          <p:cNvPr id="11" name="Text 9"/>
          <p:cNvSpPr/>
          <p:nvPr/>
        </p:nvSpPr>
        <p:spPr>
          <a:xfrm>
            <a:off x="2048256" y="230428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Unique client identifier (PK / FK)</a:t>
            </a:r>
            <a:endParaRPr lang="en-US" sz="750" dirty="0"/>
          </a:p>
        </p:txBody>
      </p:sp>
      <p:sp>
        <p:nvSpPr>
          <p:cNvPr id="12" name="Text 10"/>
          <p:cNvSpPr/>
          <p:nvPr/>
        </p:nvSpPr>
        <p:spPr>
          <a:xfrm>
            <a:off x="329184" y="2446020"/>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Card_Category</a:t>
            </a:r>
            <a:endParaRPr lang="en-US" sz="780" dirty="0"/>
          </a:p>
        </p:txBody>
      </p:sp>
      <p:sp>
        <p:nvSpPr>
          <p:cNvPr id="13" name="Text 11"/>
          <p:cNvSpPr/>
          <p:nvPr/>
        </p:nvSpPr>
        <p:spPr>
          <a:xfrm>
            <a:off x="2048256" y="2446020"/>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Blue / Silver / Gold / Platinum</a:t>
            </a:r>
            <a:endParaRPr lang="en-US" sz="750" dirty="0"/>
          </a:p>
        </p:txBody>
      </p:sp>
      <p:sp>
        <p:nvSpPr>
          <p:cNvPr id="14" name="Text 12"/>
          <p:cNvSpPr/>
          <p:nvPr/>
        </p:nvSpPr>
        <p:spPr>
          <a:xfrm>
            <a:off x="329184" y="2587752"/>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Annual_Fees</a:t>
            </a:r>
            <a:endParaRPr lang="en-US" sz="780" dirty="0"/>
          </a:p>
        </p:txBody>
      </p:sp>
      <p:sp>
        <p:nvSpPr>
          <p:cNvPr id="15" name="Text 13"/>
          <p:cNvSpPr/>
          <p:nvPr/>
        </p:nvSpPr>
        <p:spPr>
          <a:xfrm>
            <a:off x="2048256" y="2587752"/>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Annual card fee charged</a:t>
            </a:r>
            <a:endParaRPr lang="en-US" sz="750" dirty="0"/>
          </a:p>
        </p:txBody>
      </p:sp>
      <p:sp>
        <p:nvSpPr>
          <p:cNvPr id="16" name="Text 14"/>
          <p:cNvSpPr/>
          <p:nvPr/>
        </p:nvSpPr>
        <p:spPr>
          <a:xfrm>
            <a:off x="329184" y="2729484"/>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Activation_30_Days</a:t>
            </a:r>
            <a:endParaRPr lang="en-US" sz="780" dirty="0"/>
          </a:p>
        </p:txBody>
      </p:sp>
      <p:sp>
        <p:nvSpPr>
          <p:cNvPr id="17" name="Text 15"/>
          <p:cNvSpPr/>
          <p:nvPr/>
        </p:nvSpPr>
        <p:spPr>
          <a:xfrm>
            <a:off x="2048256" y="2729484"/>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Activated within 30 days (0/1)</a:t>
            </a:r>
            <a:endParaRPr lang="en-US" sz="750" dirty="0"/>
          </a:p>
        </p:txBody>
      </p:sp>
      <p:sp>
        <p:nvSpPr>
          <p:cNvPr id="18" name="Text 16"/>
          <p:cNvSpPr/>
          <p:nvPr/>
        </p:nvSpPr>
        <p:spPr>
          <a:xfrm>
            <a:off x="329184" y="2871216"/>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Customer_Acq_Cost</a:t>
            </a:r>
            <a:endParaRPr lang="en-US" sz="780" dirty="0"/>
          </a:p>
        </p:txBody>
      </p:sp>
      <p:sp>
        <p:nvSpPr>
          <p:cNvPr id="19" name="Text 17"/>
          <p:cNvSpPr/>
          <p:nvPr/>
        </p:nvSpPr>
        <p:spPr>
          <a:xfrm>
            <a:off x="2048256" y="2871216"/>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Cost to acquire the customer</a:t>
            </a:r>
            <a:endParaRPr lang="en-US" sz="750" dirty="0"/>
          </a:p>
        </p:txBody>
      </p:sp>
      <p:sp>
        <p:nvSpPr>
          <p:cNvPr id="20" name="Text 18"/>
          <p:cNvSpPr/>
          <p:nvPr/>
        </p:nvSpPr>
        <p:spPr>
          <a:xfrm>
            <a:off x="329184" y="3012948"/>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Week_Start_Date</a:t>
            </a:r>
            <a:endParaRPr lang="en-US" sz="780" dirty="0"/>
          </a:p>
        </p:txBody>
      </p:sp>
      <p:sp>
        <p:nvSpPr>
          <p:cNvPr id="21" name="Text 19"/>
          <p:cNvSpPr/>
          <p:nvPr/>
        </p:nvSpPr>
        <p:spPr>
          <a:xfrm>
            <a:off x="2048256" y="301294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Start date of the week (Date)</a:t>
            </a:r>
            <a:endParaRPr lang="en-US" sz="750" dirty="0"/>
          </a:p>
        </p:txBody>
      </p:sp>
      <p:sp>
        <p:nvSpPr>
          <p:cNvPr id="22" name="Text 20"/>
          <p:cNvSpPr/>
          <p:nvPr/>
        </p:nvSpPr>
        <p:spPr>
          <a:xfrm>
            <a:off x="329184" y="3154680"/>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Week_Num / Qtr / current_year</a:t>
            </a:r>
            <a:endParaRPr lang="en-US" sz="780" dirty="0"/>
          </a:p>
        </p:txBody>
      </p:sp>
      <p:sp>
        <p:nvSpPr>
          <p:cNvPr id="23" name="Text 21"/>
          <p:cNvSpPr/>
          <p:nvPr/>
        </p:nvSpPr>
        <p:spPr>
          <a:xfrm>
            <a:off x="2048256" y="3154680"/>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Time dimensions</a:t>
            </a:r>
            <a:endParaRPr lang="en-US" sz="750" dirty="0"/>
          </a:p>
        </p:txBody>
      </p:sp>
      <p:sp>
        <p:nvSpPr>
          <p:cNvPr id="24" name="Text 22"/>
          <p:cNvSpPr/>
          <p:nvPr/>
        </p:nvSpPr>
        <p:spPr>
          <a:xfrm>
            <a:off x="329184" y="3296412"/>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Credit_Limit</a:t>
            </a:r>
            <a:endParaRPr lang="en-US" sz="780" dirty="0"/>
          </a:p>
        </p:txBody>
      </p:sp>
      <p:sp>
        <p:nvSpPr>
          <p:cNvPr id="25" name="Text 23"/>
          <p:cNvSpPr/>
          <p:nvPr/>
        </p:nvSpPr>
        <p:spPr>
          <a:xfrm>
            <a:off x="2048256" y="3296412"/>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Maximum credit allowed</a:t>
            </a:r>
            <a:endParaRPr lang="en-US" sz="750" dirty="0"/>
          </a:p>
        </p:txBody>
      </p:sp>
      <p:sp>
        <p:nvSpPr>
          <p:cNvPr id="26" name="Text 24"/>
          <p:cNvSpPr/>
          <p:nvPr/>
        </p:nvSpPr>
        <p:spPr>
          <a:xfrm>
            <a:off x="329184" y="3438144"/>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Total_Revolving_Bal</a:t>
            </a:r>
            <a:endParaRPr lang="en-US" sz="780" dirty="0"/>
          </a:p>
        </p:txBody>
      </p:sp>
      <p:sp>
        <p:nvSpPr>
          <p:cNvPr id="27" name="Text 25"/>
          <p:cNvSpPr/>
          <p:nvPr/>
        </p:nvSpPr>
        <p:spPr>
          <a:xfrm>
            <a:off x="2048256" y="3438144"/>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Unpaid balance carried forward</a:t>
            </a:r>
            <a:endParaRPr lang="en-US" sz="750" dirty="0"/>
          </a:p>
        </p:txBody>
      </p:sp>
      <p:sp>
        <p:nvSpPr>
          <p:cNvPr id="28" name="Text 26"/>
          <p:cNvSpPr/>
          <p:nvPr/>
        </p:nvSpPr>
        <p:spPr>
          <a:xfrm>
            <a:off x="329184" y="3579876"/>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Total_Trans_Amt</a:t>
            </a:r>
            <a:endParaRPr lang="en-US" sz="780" dirty="0"/>
          </a:p>
        </p:txBody>
      </p:sp>
      <p:sp>
        <p:nvSpPr>
          <p:cNvPr id="29" name="Text 27"/>
          <p:cNvSpPr/>
          <p:nvPr/>
        </p:nvSpPr>
        <p:spPr>
          <a:xfrm>
            <a:off x="2048256" y="3579876"/>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Total transaction amount (Sales)</a:t>
            </a:r>
            <a:endParaRPr lang="en-US" sz="750" dirty="0"/>
          </a:p>
        </p:txBody>
      </p:sp>
      <p:sp>
        <p:nvSpPr>
          <p:cNvPr id="30" name="Text 28"/>
          <p:cNvSpPr/>
          <p:nvPr/>
        </p:nvSpPr>
        <p:spPr>
          <a:xfrm>
            <a:off x="329184" y="3721608"/>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Total_Trans_Vol</a:t>
            </a:r>
            <a:endParaRPr lang="en-US" sz="780" dirty="0"/>
          </a:p>
        </p:txBody>
      </p:sp>
      <p:sp>
        <p:nvSpPr>
          <p:cNvPr id="31" name="Text 29"/>
          <p:cNvSpPr/>
          <p:nvPr/>
        </p:nvSpPr>
        <p:spPr>
          <a:xfrm>
            <a:off x="2048256" y="372160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Count of transactions</a:t>
            </a:r>
            <a:endParaRPr lang="en-US" sz="750" dirty="0"/>
          </a:p>
        </p:txBody>
      </p:sp>
      <p:sp>
        <p:nvSpPr>
          <p:cNvPr id="32" name="Text 30"/>
          <p:cNvSpPr/>
          <p:nvPr/>
        </p:nvSpPr>
        <p:spPr>
          <a:xfrm>
            <a:off x="329184" y="3863340"/>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Avg_Utilization_Ratio</a:t>
            </a:r>
            <a:endParaRPr lang="en-US" sz="780" dirty="0"/>
          </a:p>
        </p:txBody>
      </p:sp>
      <p:sp>
        <p:nvSpPr>
          <p:cNvPr id="33" name="Text 31"/>
          <p:cNvSpPr/>
          <p:nvPr/>
        </p:nvSpPr>
        <p:spPr>
          <a:xfrm>
            <a:off x="2048256" y="3863340"/>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Credit used ÷ Credit limit (0–1)</a:t>
            </a:r>
            <a:endParaRPr lang="en-US" sz="750" dirty="0"/>
          </a:p>
        </p:txBody>
      </p:sp>
      <p:sp>
        <p:nvSpPr>
          <p:cNvPr id="34" name="Text 32"/>
          <p:cNvSpPr/>
          <p:nvPr/>
        </p:nvSpPr>
        <p:spPr>
          <a:xfrm>
            <a:off x="329184" y="4005072"/>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Use Chip</a:t>
            </a:r>
            <a:endParaRPr lang="en-US" sz="780" dirty="0"/>
          </a:p>
        </p:txBody>
      </p:sp>
      <p:sp>
        <p:nvSpPr>
          <p:cNvPr id="35" name="Text 33"/>
          <p:cNvSpPr/>
          <p:nvPr/>
        </p:nvSpPr>
        <p:spPr>
          <a:xfrm>
            <a:off x="2048256" y="4005072"/>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Chip / Swipe / Online</a:t>
            </a:r>
            <a:endParaRPr lang="en-US" sz="750" dirty="0"/>
          </a:p>
        </p:txBody>
      </p:sp>
      <p:sp>
        <p:nvSpPr>
          <p:cNvPr id="36" name="Text 34"/>
          <p:cNvSpPr/>
          <p:nvPr/>
        </p:nvSpPr>
        <p:spPr>
          <a:xfrm>
            <a:off x="329184" y="4146804"/>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Exp Type</a:t>
            </a:r>
            <a:endParaRPr lang="en-US" sz="780" dirty="0"/>
          </a:p>
        </p:txBody>
      </p:sp>
      <p:sp>
        <p:nvSpPr>
          <p:cNvPr id="37" name="Text 35"/>
          <p:cNvSpPr/>
          <p:nvPr/>
        </p:nvSpPr>
        <p:spPr>
          <a:xfrm>
            <a:off x="2048256" y="4146804"/>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Expense category (Fuel, Travel…)</a:t>
            </a:r>
            <a:endParaRPr lang="en-US" sz="750" dirty="0"/>
          </a:p>
        </p:txBody>
      </p:sp>
      <p:sp>
        <p:nvSpPr>
          <p:cNvPr id="38" name="Text 36"/>
          <p:cNvSpPr/>
          <p:nvPr/>
        </p:nvSpPr>
        <p:spPr>
          <a:xfrm>
            <a:off x="329184" y="4288536"/>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Interest_Earned</a:t>
            </a:r>
            <a:endParaRPr lang="en-US" sz="780" dirty="0"/>
          </a:p>
        </p:txBody>
      </p:sp>
      <p:sp>
        <p:nvSpPr>
          <p:cNvPr id="39" name="Text 37"/>
          <p:cNvSpPr/>
          <p:nvPr/>
        </p:nvSpPr>
        <p:spPr>
          <a:xfrm>
            <a:off x="2048256" y="4288536"/>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Interest earned by the bank</a:t>
            </a:r>
            <a:endParaRPr lang="en-US" sz="750" dirty="0"/>
          </a:p>
        </p:txBody>
      </p:sp>
      <p:sp>
        <p:nvSpPr>
          <p:cNvPr id="40" name="Text 38"/>
          <p:cNvSpPr/>
          <p:nvPr/>
        </p:nvSpPr>
        <p:spPr>
          <a:xfrm>
            <a:off x="329184" y="4430268"/>
            <a:ext cx="1691640" cy="141732"/>
          </a:xfrm>
          <a:prstGeom prst="rect">
            <a:avLst/>
          </a:prstGeom>
          <a:noFill/>
          <a:ln/>
        </p:spPr>
        <p:txBody>
          <a:bodyPr wrap="square" lIns="0" tIns="0" rIns="0" bIns="0" rtlCol="0" anchor="ctr"/>
          <a:lstStyle/>
          <a:p>
            <a:pPr marL="0" indent="0">
              <a:buNone/>
            </a:pPr>
            <a:r>
              <a:rPr lang="en-US" sz="780" b="1" dirty="0">
                <a:solidFill>
                  <a:srgbClr val="0891B2"/>
                </a:solidFill>
                <a:latin typeface="Calibri" pitchFamily="34" charset="0"/>
                <a:ea typeface="Calibri" pitchFamily="34" charset="-122"/>
                <a:cs typeface="Calibri" pitchFamily="34" charset="-120"/>
              </a:rPr>
              <a:t>Delinquent_Acc</a:t>
            </a:r>
            <a:endParaRPr lang="en-US" sz="780" dirty="0"/>
          </a:p>
        </p:txBody>
      </p:sp>
      <p:sp>
        <p:nvSpPr>
          <p:cNvPr id="41" name="Text 39"/>
          <p:cNvSpPr/>
          <p:nvPr/>
        </p:nvSpPr>
        <p:spPr>
          <a:xfrm>
            <a:off x="2048256" y="443026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1 = missed payment, 0 = on time</a:t>
            </a:r>
            <a:endParaRPr lang="en-US" sz="750" dirty="0"/>
          </a:p>
        </p:txBody>
      </p:sp>
      <p:sp>
        <p:nvSpPr>
          <p:cNvPr id="42" name="Shape 40"/>
          <p:cNvSpPr/>
          <p:nvPr/>
        </p:nvSpPr>
        <p:spPr>
          <a:xfrm>
            <a:off x="4681728" y="1874520"/>
            <a:ext cx="4206240" cy="2788920"/>
          </a:xfrm>
          <a:prstGeom prst="roundRect">
            <a:avLst>
              <a:gd name="adj" fmla="val 2623"/>
            </a:avLst>
          </a:prstGeom>
          <a:solidFill>
            <a:srgbClr val="FFFFFF"/>
          </a:solidFill>
          <a:ln w="12700">
            <a:solidFill>
              <a:srgbClr val="BFDBFE"/>
            </a:solidFill>
            <a:prstDash val="solid"/>
          </a:ln>
          <a:effectLst>
            <a:outerShdw blurRad="101600" dist="38100" dir="2700000" algn="bl" rotWithShape="0">
              <a:srgbClr val="000000">
                <a:alpha val="10000"/>
              </a:srgbClr>
            </a:outerShdw>
          </a:effectLst>
        </p:spPr>
        <p:txBody>
          <a:bodyPr/>
          <a:lstStyle/>
          <a:p>
            <a:endParaRPr lang="en-IN"/>
          </a:p>
        </p:txBody>
      </p:sp>
      <p:sp>
        <p:nvSpPr>
          <p:cNvPr id="43" name="Shape 41"/>
          <p:cNvSpPr/>
          <p:nvPr/>
        </p:nvSpPr>
        <p:spPr>
          <a:xfrm>
            <a:off x="4681728" y="1874520"/>
            <a:ext cx="4206240" cy="365760"/>
          </a:xfrm>
          <a:prstGeom prst="roundRect">
            <a:avLst>
              <a:gd name="adj" fmla="val 20000"/>
            </a:avLst>
          </a:prstGeom>
          <a:solidFill>
            <a:srgbClr val="0891B2"/>
          </a:solidFill>
          <a:ln w="12700">
            <a:solidFill>
              <a:srgbClr val="0891B2"/>
            </a:solidFill>
            <a:prstDash val="solid"/>
          </a:ln>
        </p:spPr>
        <p:txBody>
          <a:bodyPr/>
          <a:lstStyle/>
          <a:p>
            <a:endParaRPr lang="en-IN"/>
          </a:p>
        </p:txBody>
      </p:sp>
      <p:sp>
        <p:nvSpPr>
          <p:cNvPr id="44" name="Text 42"/>
          <p:cNvSpPr/>
          <p:nvPr/>
        </p:nvSpPr>
        <p:spPr>
          <a:xfrm>
            <a:off x="4754880" y="1901952"/>
            <a:ext cx="4059936" cy="301752"/>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  Customer  ( customer + cust_add )  —  15 Columns</a:t>
            </a:r>
            <a:endParaRPr lang="en-US" sz="950" dirty="0"/>
          </a:p>
        </p:txBody>
      </p:sp>
      <p:sp>
        <p:nvSpPr>
          <p:cNvPr id="45" name="Text 43"/>
          <p:cNvSpPr/>
          <p:nvPr/>
        </p:nvSpPr>
        <p:spPr>
          <a:xfrm>
            <a:off x="4754880" y="2304288"/>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Client_Num</a:t>
            </a:r>
            <a:endParaRPr lang="en-US" sz="780" dirty="0"/>
          </a:p>
        </p:txBody>
      </p:sp>
      <p:sp>
        <p:nvSpPr>
          <p:cNvPr id="46" name="Text 44"/>
          <p:cNvSpPr/>
          <p:nvPr/>
        </p:nvSpPr>
        <p:spPr>
          <a:xfrm>
            <a:off x="6473952" y="230428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Unique client identifier (PK)</a:t>
            </a:r>
            <a:endParaRPr lang="en-US" sz="750" dirty="0"/>
          </a:p>
        </p:txBody>
      </p:sp>
      <p:sp>
        <p:nvSpPr>
          <p:cNvPr id="47" name="Text 45"/>
          <p:cNvSpPr/>
          <p:nvPr/>
        </p:nvSpPr>
        <p:spPr>
          <a:xfrm>
            <a:off x="4754880" y="2446020"/>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Customer_Age</a:t>
            </a:r>
            <a:endParaRPr lang="en-US" sz="780" dirty="0"/>
          </a:p>
        </p:txBody>
      </p:sp>
      <p:sp>
        <p:nvSpPr>
          <p:cNvPr id="48" name="Text 46"/>
          <p:cNvSpPr/>
          <p:nvPr/>
        </p:nvSpPr>
        <p:spPr>
          <a:xfrm>
            <a:off x="6473952" y="2446020"/>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Age of the customer</a:t>
            </a:r>
            <a:endParaRPr lang="en-US" sz="750" dirty="0"/>
          </a:p>
        </p:txBody>
      </p:sp>
      <p:sp>
        <p:nvSpPr>
          <p:cNvPr id="49" name="Text 47"/>
          <p:cNvSpPr/>
          <p:nvPr/>
        </p:nvSpPr>
        <p:spPr>
          <a:xfrm>
            <a:off x="4754880" y="2587752"/>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Gender</a:t>
            </a:r>
            <a:endParaRPr lang="en-US" sz="780" dirty="0"/>
          </a:p>
        </p:txBody>
      </p:sp>
      <p:sp>
        <p:nvSpPr>
          <p:cNvPr id="50" name="Text 48"/>
          <p:cNvSpPr/>
          <p:nvPr/>
        </p:nvSpPr>
        <p:spPr>
          <a:xfrm>
            <a:off x="6473952" y="2587752"/>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M / F</a:t>
            </a:r>
            <a:endParaRPr lang="en-US" sz="750" dirty="0"/>
          </a:p>
        </p:txBody>
      </p:sp>
      <p:sp>
        <p:nvSpPr>
          <p:cNvPr id="51" name="Text 49"/>
          <p:cNvSpPr/>
          <p:nvPr/>
        </p:nvSpPr>
        <p:spPr>
          <a:xfrm>
            <a:off x="4754880" y="2729484"/>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Dependent_Count</a:t>
            </a:r>
            <a:endParaRPr lang="en-US" sz="780" dirty="0"/>
          </a:p>
        </p:txBody>
      </p:sp>
      <p:sp>
        <p:nvSpPr>
          <p:cNvPr id="52" name="Text 50"/>
          <p:cNvSpPr/>
          <p:nvPr/>
        </p:nvSpPr>
        <p:spPr>
          <a:xfrm>
            <a:off x="6473952" y="2729484"/>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Number of dependents</a:t>
            </a:r>
            <a:endParaRPr lang="en-US" sz="750" dirty="0"/>
          </a:p>
        </p:txBody>
      </p:sp>
      <p:sp>
        <p:nvSpPr>
          <p:cNvPr id="53" name="Text 51"/>
          <p:cNvSpPr/>
          <p:nvPr/>
        </p:nvSpPr>
        <p:spPr>
          <a:xfrm>
            <a:off x="4754880" y="2871216"/>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Education_Level</a:t>
            </a:r>
            <a:endParaRPr lang="en-US" sz="780" dirty="0"/>
          </a:p>
        </p:txBody>
      </p:sp>
      <p:sp>
        <p:nvSpPr>
          <p:cNvPr id="54" name="Text 52"/>
          <p:cNvSpPr/>
          <p:nvPr/>
        </p:nvSpPr>
        <p:spPr>
          <a:xfrm>
            <a:off x="6473952" y="2871216"/>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Graduate / Doctorate etc.</a:t>
            </a:r>
            <a:endParaRPr lang="en-US" sz="750" dirty="0"/>
          </a:p>
        </p:txBody>
      </p:sp>
      <p:sp>
        <p:nvSpPr>
          <p:cNvPr id="55" name="Text 53"/>
          <p:cNvSpPr/>
          <p:nvPr/>
        </p:nvSpPr>
        <p:spPr>
          <a:xfrm>
            <a:off x="4754880" y="3012948"/>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Marital_Status</a:t>
            </a:r>
            <a:endParaRPr lang="en-US" sz="780" dirty="0"/>
          </a:p>
        </p:txBody>
      </p:sp>
      <p:sp>
        <p:nvSpPr>
          <p:cNvPr id="56" name="Text 54"/>
          <p:cNvSpPr/>
          <p:nvPr/>
        </p:nvSpPr>
        <p:spPr>
          <a:xfrm>
            <a:off x="6473952" y="301294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Single / Married / Unknown</a:t>
            </a:r>
            <a:endParaRPr lang="en-US" sz="750" dirty="0"/>
          </a:p>
        </p:txBody>
      </p:sp>
      <p:sp>
        <p:nvSpPr>
          <p:cNvPr id="57" name="Text 55"/>
          <p:cNvSpPr/>
          <p:nvPr/>
        </p:nvSpPr>
        <p:spPr>
          <a:xfrm>
            <a:off x="4754880" y="3154680"/>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state_cd</a:t>
            </a:r>
            <a:endParaRPr lang="en-US" sz="780" dirty="0"/>
          </a:p>
        </p:txBody>
      </p:sp>
      <p:sp>
        <p:nvSpPr>
          <p:cNvPr id="58" name="Text 56"/>
          <p:cNvSpPr/>
          <p:nvPr/>
        </p:nvSpPr>
        <p:spPr>
          <a:xfrm>
            <a:off x="6473952" y="3154680"/>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US state code (CA, NY, TX…)</a:t>
            </a:r>
            <a:endParaRPr lang="en-US" sz="750" dirty="0"/>
          </a:p>
        </p:txBody>
      </p:sp>
      <p:sp>
        <p:nvSpPr>
          <p:cNvPr id="59" name="Text 57"/>
          <p:cNvSpPr/>
          <p:nvPr/>
        </p:nvSpPr>
        <p:spPr>
          <a:xfrm>
            <a:off x="4754880" y="3296412"/>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Zipcode</a:t>
            </a:r>
            <a:endParaRPr lang="en-US" sz="780" dirty="0"/>
          </a:p>
        </p:txBody>
      </p:sp>
      <p:sp>
        <p:nvSpPr>
          <p:cNvPr id="60" name="Text 58"/>
          <p:cNvSpPr/>
          <p:nvPr/>
        </p:nvSpPr>
        <p:spPr>
          <a:xfrm>
            <a:off x="6473952" y="3296412"/>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Postal code</a:t>
            </a:r>
            <a:endParaRPr lang="en-US" sz="750" dirty="0"/>
          </a:p>
        </p:txBody>
      </p:sp>
      <p:sp>
        <p:nvSpPr>
          <p:cNvPr id="61" name="Text 59"/>
          <p:cNvSpPr/>
          <p:nvPr/>
        </p:nvSpPr>
        <p:spPr>
          <a:xfrm>
            <a:off x="4754880" y="3438144"/>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Car_Owner</a:t>
            </a:r>
            <a:endParaRPr lang="en-US" sz="780" dirty="0"/>
          </a:p>
        </p:txBody>
      </p:sp>
      <p:sp>
        <p:nvSpPr>
          <p:cNvPr id="62" name="Text 60"/>
          <p:cNvSpPr/>
          <p:nvPr/>
        </p:nvSpPr>
        <p:spPr>
          <a:xfrm>
            <a:off x="6473952" y="3438144"/>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yes / no</a:t>
            </a:r>
            <a:endParaRPr lang="en-US" sz="750" dirty="0"/>
          </a:p>
        </p:txBody>
      </p:sp>
      <p:sp>
        <p:nvSpPr>
          <p:cNvPr id="63" name="Text 61"/>
          <p:cNvSpPr/>
          <p:nvPr/>
        </p:nvSpPr>
        <p:spPr>
          <a:xfrm>
            <a:off x="4754880" y="3579876"/>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House_Owner</a:t>
            </a:r>
            <a:endParaRPr lang="en-US" sz="780" dirty="0"/>
          </a:p>
        </p:txBody>
      </p:sp>
      <p:sp>
        <p:nvSpPr>
          <p:cNvPr id="64" name="Text 62"/>
          <p:cNvSpPr/>
          <p:nvPr/>
        </p:nvSpPr>
        <p:spPr>
          <a:xfrm>
            <a:off x="6473952" y="3579876"/>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yes / no</a:t>
            </a:r>
            <a:endParaRPr lang="en-US" sz="750" dirty="0"/>
          </a:p>
        </p:txBody>
      </p:sp>
      <p:sp>
        <p:nvSpPr>
          <p:cNvPr id="65" name="Text 63"/>
          <p:cNvSpPr/>
          <p:nvPr/>
        </p:nvSpPr>
        <p:spPr>
          <a:xfrm>
            <a:off x="4754880" y="3721608"/>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Personal_loan</a:t>
            </a:r>
            <a:endParaRPr lang="en-US" sz="780" dirty="0"/>
          </a:p>
        </p:txBody>
      </p:sp>
      <p:sp>
        <p:nvSpPr>
          <p:cNvPr id="66" name="Text 64"/>
          <p:cNvSpPr/>
          <p:nvPr/>
        </p:nvSpPr>
        <p:spPr>
          <a:xfrm>
            <a:off x="6473952" y="3721608"/>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yes / no — loan approval flag</a:t>
            </a:r>
            <a:endParaRPr lang="en-US" sz="750" dirty="0"/>
          </a:p>
        </p:txBody>
      </p:sp>
      <p:sp>
        <p:nvSpPr>
          <p:cNvPr id="67" name="Text 65"/>
          <p:cNvSpPr/>
          <p:nvPr/>
        </p:nvSpPr>
        <p:spPr>
          <a:xfrm>
            <a:off x="4754880" y="3863340"/>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contact</a:t>
            </a:r>
            <a:endParaRPr lang="en-US" sz="780" dirty="0"/>
          </a:p>
        </p:txBody>
      </p:sp>
      <p:sp>
        <p:nvSpPr>
          <p:cNvPr id="68" name="Text 66"/>
          <p:cNvSpPr/>
          <p:nvPr/>
        </p:nvSpPr>
        <p:spPr>
          <a:xfrm>
            <a:off x="6473952" y="3863340"/>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Cellular / Unknown</a:t>
            </a:r>
            <a:endParaRPr lang="en-US" sz="750" dirty="0"/>
          </a:p>
        </p:txBody>
      </p:sp>
      <p:sp>
        <p:nvSpPr>
          <p:cNvPr id="69" name="Text 67"/>
          <p:cNvSpPr/>
          <p:nvPr/>
        </p:nvSpPr>
        <p:spPr>
          <a:xfrm>
            <a:off x="4754880" y="4005072"/>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Customer_Job</a:t>
            </a:r>
            <a:endParaRPr lang="en-US" sz="780" dirty="0"/>
          </a:p>
        </p:txBody>
      </p:sp>
      <p:sp>
        <p:nvSpPr>
          <p:cNvPr id="70" name="Text 68"/>
          <p:cNvSpPr/>
          <p:nvPr/>
        </p:nvSpPr>
        <p:spPr>
          <a:xfrm>
            <a:off x="6473952" y="4005072"/>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Govt / Businessman / Blue-collar…</a:t>
            </a:r>
            <a:endParaRPr lang="en-US" sz="750" dirty="0"/>
          </a:p>
        </p:txBody>
      </p:sp>
      <p:sp>
        <p:nvSpPr>
          <p:cNvPr id="71" name="Text 69"/>
          <p:cNvSpPr/>
          <p:nvPr/>
        </p:nvSpPr>
        <p:spPr>
          <a:xfrm>
            <a:off x="4754880" y="4146804"/>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Income</a:t>
            </a:r>
            <a:endParaRPr lang="en-US" sz="780" dirty="0"/>
          </a:p>
        </p:txBody>
      </p:sp>
      <p:sp>
        <p:nvSpPr>
          <p:cNvPr id="72" name="Text 70"/>
          <p:cNvSpPr/>
          <p:nvPr/>
        </p:nvSpPr>
        <p:spPr>
          <a:xfrm>
            <a:off x="6473952" y="4146804"/>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Annual income (₹)</a:t>
            </a:r>
            <a:endParaRPr lang="en-US" sz="750" dirty="0"/>
          </a:p>
        </p:txBody>
      </p:sp>
      <p:sp>
        <p:nvSpPr>
          <p:cNvPr id="73" name="Text 71"/>
          <p:cNvSpPr/>
          <p:nvPr/>
        </p:nvSpPr>
        <p:spPr>
          <a:xfrm>
            <a:off x="4754880" y="4288536"/>
            <a:ext cx="1691640" cy="141732"/>
          </a:xfrm>
          <a:prstGeom prst="rect">
            <a:avLst/>
          </a:prstGeom>
          <a:noFill/>
          <a:ln/>
        </p:spPr>
        <p:txBody>
          <a:bodyPr wrap="square" lIns="0" tIns="0" rIns="0" bIns="0" rtlCol="0" anchor="ctr"/>
          <a:lstStyle/>
          <a:p>
            <a:pPr marL="0" indent="0">
              <a:buNone/>
            </a:pPr>
            <a:r>
              <a:rPr lang="en-US" sz="780" b="1" dirty="0">
                <a:solidFill>
                  <a:srgbClr val="0D1F5C"/>
                </a:solidFill>
                <a:latin typeface="Calibri" pitchFamily="34" charset="0"/>
                <a:ea typeface="Calibri" pitchFamily="34" charset="-122"/>
                <a:cs typeface="Calibri" pitchFamily="34" charset="-120"/>
              </a:rPr>
              <a:t>Cust_Satisfaction_Score</a:t>
            </a:r>
            <a:endParaRPr lang="en-US" sz="780" dirty="0"/>
          </a:p>
        </p:txBody>
      </p:sp>
      <p:sp>
        <p:nvSpPr>
          <p:cNvPr id="74" name="Text 72"/>
          <p:cNvSpPr/>
          <p:nvPr/>
        </p:nvSpPr>
        <p:spPr>
          <a:xfrm>
            <a:off x="6473952" y="4288536"/>
            <a:ext cx="2286000" cy="141732"/>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1–5 satisfaction rating</a:t>
            </a:r>
            <a:endParaRPr lang="en-US" sz="750" dirty="0"/>
          </a:p>
        </p:txBody>
      </p:sp>
      <p:sp>
        <p:nvSpPr>
          <p:cNvPr id="75" name="Shape 73"/>
          <p:cNvSpPr/>
          <p:nvPr/>
        </p:nvSpPr>
        <p:spPr>
          <a:xfrm>
            <a:off x="256032" y="4736592"/>
            <a:ext cx="8631936" cy="310896"/>
          </a:xfrm>
          <a:prstGeom prst="roundRect">
            <a:avLst>
              <a:gd name="adj" fmla="val 17647"/>
            </a:avLst>
          </a:prstGeom>
          <a:solidFill>
            <a:srgbClr val="FEF3C7"/>
          </a:solidFill>
          <a:ln w="12700">
            <a:solidFill>
              <a:srgbClr val="FCD34D"/>
            </a:solidFill>
            <a:prstDash val="solid"/>
          </a:ln>
        </p:spPr>
        <p:txBody>
          <a:bodyPr/>
          <a:lstStyle/>
          <a:p>
            <a:endParaRPr lang="en-IN"/>
          </a:p>
        </p:txBody>
      </p:sp>
      <p:sp>
        <p:nvSpPr>
          <p:cNvPr id="76" name="Text 74"/>
          <p:cNvSpPr/>
          <p:nvPr/>
        </p:nvSpPr>
        <p:spPr>
          <a:xfrm>
            <a:off x="365760" y="4754880"/>
            <a:ext cx="8412480" cy="274320"/>
          </a:xfrm>
          <a:prstGeom prst="rect">
            <a:avLst/>
          </a:prstGeom>
          <a:noFill/>
          <a:ln/>
        </p:spPr>
        <p:txBody>
          <a:bodyPr wrap="square" lIns="0" tIns="0" rIns="0" bIns="0" rtlCol="0" anchor="ctr"/>
          <a:lstStyle/>
          <a:p>
            <a:pPr marL="0" indent="0" algn="ctr">
              <a:buNone/>
            </a:pPr>
            <a:r>
              <a:rPr lang="en-US" sz="900" dirty="0">
                <a:solidFill>
                  <a:srgbClr val="92400E"/>
                </a:solidFill>
                <a:latin typeface="Calibri" pitchFamily="34" charset="0"/>
                <a:ea typeface="Calibri" pitchFamily="34" charset="-122"/>
                <a:cs typeface="Calibri" pitchFamily="34" charset="-120"/>
              </a:rPr>
              <a:t>🔗  Relationship:  Customer[Client_Num]  (1)  ──────  (1)  CreditCard[Client_Num]   |   Join Key: Client_Num   |   Cardinality: One-to-One   |   Cross-filter: Both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  —  Running Total of Credit Card Transactions</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r>
              <a:rPr lang="en-US" sz="1400" i="1" dirty="0">
                <a:solidFill>
                  <a:schemeClr val="tx2"/>
                </a:solidFill>
                <a:latin typeface="Calibri" pitchFamily="34" charset="0"/>
                <a:ea typeface="Calibri" pitchFamily="34" charset="-122"/>
                <a:cs typeface="Calibri" pitchFamily="34" charset="-120"/>
              </a:rPr>
              <a:t>Calculates the cumulative sum of </a:t>
            </a:r>
            <a:r>
              <a:rPr lang="en-US" sz="1400" i="1" dirty="0" err="1">
                <a:solidFill>
                  <a:schemeClr val="tx2"/>
                </a:solidFill>
                <a:latin typeface="Calibri" pitchFamily="34" charset="0"/>
                <a:ea typeface="Calibri" pitchFamily="34" charset="-122"/>
                <a:cs typeface="Calibri" pitchFamily="34" charset="-120"/>
              </a:rPr>
              <a:t>Total_Trans_Amt</a:t>
            </a:r>
            <a:r>
              <a:rPr lang="en-US" sz="1400" i="1" dirty="0">
                <a:solidFill>
                  <a:schemeClr val="tx2"/>
                </a:solidFill>
                <a:latin typeface="Calibri" pitchFamily="34" charset="0"/>
                <a:ea typeface="Calibri" pitchFamily="34" charset="-122"/>
                <a:cs typeface="Calibri" pitchFamily="34" charset="-120"/>
              </a:rPr>
              <a:t> (</a:t>
            </a:r>
            <a:r>
              <a:rPr lang="en-US" sz="1400" i="1" dirty="0" err="1">
                <a:solidFill>
                  <a:schemeClr val="tx2"/>
                </a:solidFill>
                <a:latin typeface="Calibri" pitchFamily="34" charset="0"/>
                <a:ea typeface="Calibri" pitchFamily="34" charset="-122"/>
                <a:cs typeface="Calibri" pitchFamily="34" charset="-120"/>
              </a:rPr>
              <a:t>total_sales</a:t>
            </a:r>
            <a:r>
              <a:rPr lang="en-US" sz="1400" i="1" dirty="0">
                <a:solidFill>
                  <a:schemeClr val="tx2"/>
                </a:solidFill>
                <a:latin typeface="Calibri" pitchFamily="34" charset="0"/>
                <a:ea typeface="Calibri" pitchFamily="34" charset="-122"/>
                <a:cs typeface="Calibri" pitchFamily="34" charset="-120"/>
              </a:rPr>
              <a:t>) up to the current date, using “all” to respect slicer filters while still accumulating over time.</a:t>
            </a:r>
            <a:endParaRPr lang="en-US" sz="1400" dirty="0">
              <a:solidFill>
                <a:schemeClr val="tx2"/>
              </a:solidFill>
            </a:endParaRPr>
          </a:p>
        </p:txBody>
      </p:sp>
      <p:sp>
        <p:nvSpPr>
          <p:cNvPr id="7" name="Text 5"/>
          <p:cNvSpPr/>
          <p:nvPr/>
        </p:nvSpPr>
        <p:spPr>
          <a:xfrm>
            <a:off x="457200" y="786384"/>
            <a:ext cx="8229600" cy="585216"/>
          </a:xfrm>
          <a:prstGeom prst="rect">
            <a:avLst/>
          </a:prstGeom>
          <a:noFill/>
          <a:ln/>
        </p:spPr>
        <p:txBody>
          <a:bodyPr wrap="square" lIns="0" tIns="0" rIns="0" bIns="0" rtlCol="0" anchor="ctr"/>
          <a:lstStyle/>
          <a:p>
            <a:endParaRPr lang="en-IN" dirty="0"/>
          </a:p>
          <a:p>
            <a:pPr marL="0" indent="0" algn="l">
              <a:buNone/>
            </a:pPr>
            <a:endParaRPr lang="en-US" sz="1100" dirty="0"/>
          </a:p>
        </p:txBody>
      </p:sp>
      <p:sp>
        <p:nvSpPr>
          <p:cNvPr id="8" name="Shape 6"/>
          <p:cNvSpPr/>
          <p:nvPr/>
        </p:nvSpPr>
        <p:spPr>
          <a:xfrm>
            <a:off x="320040" y="1527048"/>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dirty="0"/>
          </a:p>
          <a:p>
            <a:endParaRPr lang="en-IN" dirty="0"/>
          </a:p>
          <a:p>
            <a:r>
              <a:rPr lang="en-IN" dirty="0" err="1">
                <a:solidFill>
                  <a:schemeClr val="bg1"/>
                </a:solidFill>
              </a:rPr>
              <a:t>running_total</a:t>
            </a:r>
            <a:r>
              <a:rPr lang="en-IN" dirty="0">
                <a:solidFill>
                  <a:schemeClr val="bg1"/>
                </a:solidFill>
              </a:rPr>
              <a:t> = </a:t>
            </a:r>
            <a:r>
              <a:rPr lang="en-IN" sz="1600" dirty="0">
                <a:solidFill>
                  <a:schemeClr val="bg1"/>
                </a:solidFill>
              </a:rPr>
              <a:t>CALCULATE([</a:t>
            </a:r>
            <a:r>
              <a:rPr lang="en-IN" sz="1600" dirty="0" err="1">
                <a:solidFill>
                  <a:schemeClr val="bg1"/>
                </a:solidFill>
              </a:rPr>
              <a:t>total_sales</a:t>
            </a:r>
            <a:r>
              <a:rPr lang="en-IN" sz="1600" dirty="0">
                <a:solidFill>
                  <a:schemeClr val="bg1"/>
                </a:solidFill>
              </a:rPr>
              <a:t>],FILTER(all(</a:t>
            </a:r>
            <a:r>
              <a:rPr lang="en-IN" sz="1600" dirty="0" err="1">
                <a:solidFill>
                  <a:schemeClr val="bg1"/>
                </a:solidFill>
              </a:rPr>
              <a:t>calender</a:t>
            </a:r>
            <a:r>
              <a:rPr lang="en-IN" sz="1600" dirty="0">
                <a:solidFill>
                  <a:schemeClr val="bg1"/>
                </a:solidFill>
              </a:rPr>
              <a:t>), </a:t>
            </a:r>
            <a:r>
              <a:rPr lang="en-IN" sz="1600" dirty="0" err="1">
                <a:solidFill>
                  <a:schemeClr val="bg1"/>
                </a:solidFill>
              </a:rPr>
              <a:t>calender</a:t>
            </a:r>
            <a:r>
              <a:rPr lang="en-IN" sz="1600" dirty="0">
                <a:solidFill>
                  <a:schemeClr val="bg1"/>
                </a:solidFill>
              </a:rPr>
              <a:t>[Date] &lt;= max(</a:t>
            </a:r>
            <a:r>
              <a:rPr lang="en-IN" sz="1600" dirty="0" err="1">
                <a:solidFill>
                  <a:schemeClr val="bg1"/>
                </a:solidFill>
              </a:rPr>
              <a:t>calender</a:t>
            </a:r>
            <a:r>
              <a:rPr lang="en-IN" sz="1600" dirty="0">
                <a:solidFill>
                  <a:schemeClr val="bg1"/>
                </a:solidFill>
              </a:rPr>
              <a:t>[Date])))</a:t>
            </a:r>
          </a:p>
          <a:p>
            <a:endParaRPr lang="en-IN" dirty="0">
              <a:solidFill>
                <a:schemeClr val="bg1"/>
              </a:solidFill>
            </a:endParaRPr>
          </a:p>
        </p:txBody>
      </p:sp>
      <p:sp>
        <p:nvSpPr>
          <p:cNvPr id="9" name="Text 7"/>
          <p:cNvSpPr/>
          <p:nvPr/>
        </p:nvSpPr>
        <p:spPr>
          <a:xfrm>
            <a:off x="457200" y="1682496"/>
            <a:ext cx="1920240" cy="256032"/>
          </a:xfrm>
          <a:prstGeom prst="rect">
            <a:avLst/>
          </a:prstGeom>
          <a:noFill/>
          <a:ln/>
        </p:spPr>
        <p:txBody>
          <a:bodyPr wrap="square" lIns="0" tIns="0" rIns="0" bIns="0" rtlCol="0" anchor="ctr"/>
          <a:lstStyle/>
          <a:p>
            <a:pPr marL="0" indent="0">
              <a:buNone/>
            </a:pPr>
            <a:r>
              <a:rPr lang="en-US" sz="1600" b="1" kern="0" spc="300" dirty="0">
                <a:solidFill>
                  <a:srgbClr val="F59E0B"/>
                </a:solidFill>
                <a:latin typeface="Calibri" pitchFamily="34" charset="0"/>
                <a:ea typeface="Calibri" pitchFamily="34" charset="-122"/>
                <a:cs typeface="Calibri" pitchFamily="34" charset="-120"/>
              </a:rPr>
              <a:t>DAX FORMULA</a:t>
            </a:r>
            <a:endParaRPr lang="en-US" sz="160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r>
              <a:rPr lang="en-US" sz="1000" b="1" kern="0" spc="300" dirty="0">
                <a:solidFill>
                  <a:srgbClr val="0891B2"/>
                </a:solidFill>
                <a:latin typeface="Calibri" pitchFamily="34" charset="0"/>
                <a:ea typeface="Calibri" pitchFamily="34" charset="-122"/>
                <a:cs typeface="Calibri" pitchFamily="34" charset="-120"/>
              </a:rPr>
              <a:t>POWER BI OUTPUT</a:t>
            </a:r>
            <a:endParaRPr lang="en-US" sz="1000" dirty="0"/>
          </a:p>
        </p:txBody>
      </p:sp>
      <p:sp>
        <p:nvSpPr>
          <p:cNvPr id="13" name="Shape 11"/>
          <p:cNvSpPr/>
          <p:nvPr/>
        </p:nvSpPr>
        <p:spPr>
          <a:xfrm>
            <a:off x="6400800" y="2724912"/>
            <a:ext cx="640080" cy="640080"/>
          </a:xfrm>
          <a:prstGeom prst="ellipse">
            <a:avLst/>
          </a:prstGeom>
          <a:solidFill>
            <a:srgbClr val="BAE6FD"/>
          </a:solidFill>
          <a:ln w="12700">
            <a:solidFill>
              <a:srgbClr val="0891B2"/>
            </a:solidFill>
            <a:prstDash val="solid"/>
          </a:ln>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  Insert Screenshot Here</a:t>
            </a: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Power BI Visual / Query Result</a:t>
            </a: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 / 15</a:t>
            </a:r>
            <a:endParaRPr lang="en-US" sz="800" dirty="0"/>
          </a:p>
        </p:txBody>
      </p:sp>
      <p:pic>
        <p:nvPicPr>
          <p:cNvPr id="22" name="Content Placeholder 4">
            <a:extLst>
              <a:ext uri="{FF2B5EF4-FFF2-40B4-BE49-F238E27FC236}">
                <a16:creationId xmlns:a16="http://schemas.microsoft.com/office/drawing/2014/main" id="{9B8B318E-060B-5135-7661-F31B212C3DD9}"/>
              </a:ext>
            </a:extLst>
          </p:cNvPr>
          <p:cNvPicPr>
            <a:picLocks noChangeAspect="1"/>
          </p:cNvPicPr>
          <p:nvPr/>
        </p:nvPicPr>
        <p:blipFill>
          <a:blip r:embed="rId3"/>
          <a:srcRect t="595" r="23355"/>
          <a:stretch>
            <a:fillRect/>
          </a:stretch>
        </p:blipFill>
        <p:spPr>
          <a:xfrm>
            <a:off x="5606724" y="1765551"/>
            <a:ext cx="2411112" cy="29801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2</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Q2  —  4-Week Moving Average of Credit Limit</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r>
              <a:rPr lang="en-US" sz="1600" i="1" dirty="0">
                <a:solidFill>
                  <a:schemeClr val="tx2"/>
                </a:solidFill>
                <a:latin typeface="Calibri" pitchFamily="34" charset="0"/>
                <a:ea typeface="Calibri" pitchFamily="34" charset="-122"/>
                <a:cs typeface="Calibri" pitchFamily="34" charset="-120"/>
              </a:rPr>
              <a:t>Calculates the average </a:t>
            </a:r>
            <a:r>
              <a:rPr lang="en-US" sz="1600" i="1" dirty="0" err="1">
                <a:solidFill>
                  <a:schemeClr val="tx2"/>
                </a:solidFill>
                <a:latin typeface="Calibri" pitchFamily="34" charset="0"/>
                <a:ea typeface="Calibri" pitchFamily="34" charset="-122"/>
                <a:cs typeface="Calibri" pitchFamily="34" charset="-120"/>
              </a:rPr>
              <a:t>Credit_Limit</a:t>
            </a:r>
            <a:r>
              <a:rPr lang="en-US" sz="1600" i="1" dirty="0">
                <a:solidFill>
                  <a:schemeClr val="tx2"/>
                </a:solidFill>
                <a:latin typeface="Calibri" pitchFamily="34" charset="0"/>
                <a:ea typeface="Calibri" pitchFamily="34" charset="-122"/>
                <a:cs typeface="Calibri" pitchFamily="34" charset="-120"/>
              </a:rPr>
              <a:t> over 4 weeks for each client.</a:t>
            </a:r>
            <a:endParaRPr lang="en-US" sz="1600" dirty="0">
              <a:solidFill>
                <a:schemeClr val="tx2"/>
              </a:solidFill>
            </a:endParaRPr>
          </a:p>
          <a:p>
            <a:endParaRPr lang="en-IN" dirty="0"/>
          </a:p>
        </p:txBody>
      </p:sp>
      <p:sp>
        <p:nvSpPr>
          <p:cNvPr id="7" name="Text 5"/>
          <p:cNvSpPr/>
          <p:nvPr/>
        </p:nvSpPr>
        <p:spPr>
          <a:xfrm>
            <a:off x="457200" y="786384"/>
            <a:ext cx="8229600" cy="585216"/>
          </a:xfrm>
          <a:prstGeom prst="rect">
            <a:avLst/>
          </a:prstGeom>
          <a:noFill/>
          <a:ln/>
        </p:spPr>
        <p:txBody>
          <a:bodyPr wrap="square" lIns="0" tIns="0" rIns="0" bIns="0" rtlCol="0" anchor="ctr"/>
          <a:lstStyle/>
          <a:p>
            <a:endParaRPr lang="en-US" sz="1100" dirty="0"/>
          </a:p>
        </p:txBody>
      </p:sp>
      <p:sp>
        <p:nvSpPr>
          <p:cNvPr id="8" name="Shape 6"/>
          <p:cNvSpPr/>
          <p:nvPr/>
        </p:nvSpPr>
        <p:spPr>
          <a:xfrm>
            <a:off x="29718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200" dirty="0">
              <a:solidFill>
                <a:schemeClr val="bg1"/>
              </a:solidFill>
            </a:endParaRPr>
          </a:p>
          <a:p>
            <a:endParaRPr lang="en-IN" sz="1200" dirty="0">
              <a:solidFill>
                <a:schemeClr val="bg1"/>
              </a:solidFill>
            </a:endParaRPr>
          </a:p>
          <a:p>
            <a:r>
              <a:rPr lang="en-IN" sz="1200" dirty="0" err="1">
                <a:solidFill>
                  <a:schemeClr val="bg1"/>
                </a:solidFill>
              </a:rPr>
              <a:t>Moving_average_four_weeks</a:t>
            </a:r>
            <a:r>
              <a:rPr lang="en-IN" sz="1200" dirty="0">
                <a:solidFill>
                  <a:schemeClr val="bg1"/>
                </a:solidFill>
              </a:rPr>
              <a:t> = </a:t>
            </a:r>
          </a:p>
          <a:p>
            <a:endParaRPr lang="en-IN" sz="1200" dirty="0">
              <a:solidFill>
                <a:schemeClr val="bg1"/>
              </a:solidFill>
            </a:endParaRPr>
          </a:p>
          <a:p>
            <a:r>
              <a:rPr lang="en-IN" sz="1200" dirty="0">
                <a:solidFill>
                  <a:schemeClr val="bg1"/>
                </a:solidFill>
              </a:rPr>
              <a:t>var </a:t>
            </a:r>
            <a:r>
              <a:rPr lang="en-IN" sz="1200" dirty="0" err="1">
                <a:solidFill>
                  <a:schemeClr val="bg1"/>
                </a:solidFill>
              </a:rPr>
              <a:t>four_weeks_dates</a:t>
            </a:r>
            <a:r>
              <a:rPr lang="en-IN" sz="1200" dirty="0">
                <a:solidFill>
                  <a:schemeClr val="bg1"/>
                </a:solidFill>
              </a:rPr>
              <a:t> = filter(all(</a:t>
            </a:r>
            <a:r>
              <a:rPr lang="en-IN" sz="1200" dirty="0" err="1">
                <a:solidFill>
                  <a:schemeClr val="bg1"/>
                </a:solidFill>
              </a:rPr>
              <a:t>calender</a:t>
            </a:r>
            <a:r>
              <a:rPr lang="en-IN" sz="1200" dirty="0">
                <a:solidFill>
                  <a:schemeClr val="bg1"/>
                </a:solidFill>
              </a:rPr>
              <a:t>), </a:t>
            </a:r>
            <a:r>
              <a:rPr lang="en-IN" sz="1200" dirty="0" err="1">
                <a:solidFill>
                  <a:schemeClr val="bg1"/>
                </a:solidFill>
              </a:rPr>
              <a:t>calender</a:t>
            </a:r>
            <a:r>
              <a:rPr lang="en-IN" sz="1200" dirty="0">
                <a:solidFill>
                  <a:schemeClr val="bg1"/>
                </a:solidFill>
              </a:rPr>
              <a:t>[</a:t>
            </a:r>
            <a:r>
              <a:rPr lang="en-IN" sz="1200" dirty="0" err="1">
                <a:solidFill>
                  <a:schemeClr val="bg1"/>
                </a:solidFill>
              </a:rPr>
              <a:t>weeknum</a:t>
            </a:r>
            <a:r>
              <a:rPr lang="en-IN" sz="1200" dirty="0">
                <a:solidFill>
                  <a:schemeClr val="bg1"/>
                </a:solidFill>
              </a:rPr>
              <a:t>] &gt;= MAX(</a:t>
            </a:r>
            <a:r>
              <a:rPr lang="en-IN" sz="1200" dirty="0" err="1">
                <a:solidFill>
                  <a:schemeClr val="bg1"/>
                </a:solidFill>
              </a:rPr>
              <a:t>calender</a:t>
            </a:r>
            <a:r>
              <a:rPr lang="en-IN" sz="1200" dirty="0">
                <a:solidFill>
                  <a:schemeClr val="bg1"/>
                </a:solidFill>
              </a:rPr>
              <a:t>[</a:t>
            </a:r>
            <a:r>
              <a:rPr lang="en-IN" sz="1200" dirty="0" err="1">
                <a:solidFill>
                  <a:schemeClr val="bg1"/>
                </a:solidFill>
              </a:rPr>
              <a:t>weeknum</a:t>
            </a:r>
            <a:r>
              <a:rPr lang="en-IN" sz="1200" dirty="0">
                <a:solidFill>
                  <a:schemeClr val="bg1"/>
                </a:solidFill>
              </a:rPr>
              <a:t>]) -3 &amp;&amp; </a:t>
            </a:r>
            <a:r>
              <a:rPr lang="en-IN" sz="1200" dirty="0" err="1">
                <a:solidFill>
                  <a:schemeClr val="bg1"/>
                </a:solidFill>
              </a:rPr>
              <a:t>calender</a:t>
            </a:r>
            <a:r>
              <a:rPr lang="en-IN" sz="1200" dirty="0">
                <a:solidFill>
                  <a:schemeClr val="bg1"/>
                </a:solidFill>
              </a:rPr>
              <a:t>[</a:t>
            </a:r>
            <a:r>
              <a:rPr lang="en-IN" sz="1200" dirty="0" err="1">
                <a:solidFill>
                  <a:schemeClr val="bg1"/>
                </a:solidFill>
              </a:rPr>
              <a:t>weeknum</a:t>
            </a:r>
            <a:r>
              <a:rPr lang="en-IN" sz="1200" dirty="0">
                <a:solidFill>
                  <a:schemeClr val="bg1"/>
                </a:solidFill>
              </a:rPr>
              <a:t>] &lt;= MAX(</a:t>
            </a:r>
            <a:r>
              <a:rPr lang="en-IN" sz="1200" dirty="0" err="1">
                <a:solidFill>
                  <a:schemeClr val="bg1"/>
                </a:solidFill>
              </a:rPr>
              <a:t>calender</a:t>
            </a:r>
            <a:r>
              <a:rPr lang="en-IN" sz="1200" dirty="0">
                <a:solidFill>
                  <a:schemeClr val="bg1"/>
                </a:solidFill>
              </a:rPr>
              <a:t>[</a:t>
            </a:r>
            <a:r>
              <a:rPr lang="en-IN" sz="1200" dirty="0" err="1">
                <a:solidFill>
                  <a:schemeClr val="bg1"/>
                </a:solidFill>
              </a:rPr>
              <a:t>weeknum</a:t>
            </a:r>
            <a:r>
              <a:rPr lang="en-IN" sz="1200" dirty="0">
                <a:solidFill>
                  <a:schemeClr val="bg1"/>
                </a:solidFill>
              </a:rPr>
              <a:t>]) &amp;&amp; </a:t>
            </a:r>
            <a:r>
              <a:rPr lang="en-IN" sz="1200" dirty="0" err="1">
                <a:solidFill>
                  <a:schemeClr val="bg1"/>
                </a:solidFill>
              </a:rPr>
              <a:t>calender</a:t>
            </a:r>
            <a:r>
              <a:rPr lang="en-IN" sz="1200" dirty="0">
                <a:solidFill>
                  <a:schemeClr val="bg1"/>
                </a:solidFill>
              </a:rPr>
              <a:t>[year]= max(</a:t>
            </a:r>
            <a:r>
              <a:rPr lang="en-IN" sz="1200" dirty="0" err="1">
                <a:solidFill>
                  <a:schemeClr val="bg1"/>
                </a:solidFill>
              </a:rPr>
              <a:t>calender</a:t>
            </a:r>
            <a:r>
              <a:rPr lang="en-IN" sz="1200" dirty="0">
                <a:solidFill>
                  <a:schemeClr val="bg1"/>
                </a:solidFill>
              </a:rPr>
              <a:t>[year]))</a:t>
            </a:r>
            <a:br>
              <a:rPr lang="en-IN" sz="1200" dirty="0">
                <a:solidFill>
                  <a:schemeClr val="bg1"/>
                </a:solidFill>
              </a:rPr>
            </a:br>
            <a:endParaRPr lang="en-IN" sz="1200" dirty="0">
              <a:solidFill>
                <a:schemeClr val="bg1"/>
              </a:solidFill>
            </a:endParaRPr>
          </a:p>
          <a:p>
            <a:r>
              <a:rPr lang="en-IN" sz="1200" dirty="0">
                <a:solidFill>
                  <a:schemeClr val="bg1"/>
                </a:solidFill>
              </a:rPr>
              <a:t>var </a:t>
            </a:r>
            <a:r>
              <a:rPr lang="en-IN" sz="1200" dirty="0" err="1">
                <a:solidFill>
                  <a:schemeClr val="bg1"/>
                </a:solidFill>
              </a:rPr>
              <a:t>rev_four_weeks_dates</a:t>
            </a:r>
            <a:r>
              <a:rPr lang="en-IN" sz="1200" dirty="0">
                <a:solidFill>
                  <a:schemeClr val="bg1"/>
                </a:solidFill>
              </a:rPr>
              <a:t> = CALCULATE([</a:t>
            </a:r>
            <a:r>
              <a:rPr lang="en-IN" sz="1200" dirty="0" err="1">
                <a:solidFill>
                  <a:schemeClr val="bg1"/>
                </a:solidFill>
              </a:rPr>
              <a:t>total_sales</a:t>
            </a:r>
            <a:r>
              <a:rPr lang="en-IN" sz="1200" dirty="0">
                <a:solidFill>
                  <a:schemeClr val="bg1"/>
                </a:solidFill>
              </a:rPr>
              <a:t>],</a:t>
            </a:r>
            <a:r>
              <a:rPr lang="en-IN" sz="1200" dirty="0" err="1">
                <a:solidFill>
                  <a:schemeClr val="bg1"/>
                </a:solidFill>
              </a:rPr>
              <a:t>four_weeks_dates</a:t>
            </a:r>
            <a:r>
              <a:rPr lang="en-IN" sz="1200" dirty="0">
                <a:solidFill>
                  <a:schemeClr val="bg1"/>
                </a:solidFill>
              </a:rPr>
              <a:t>)</a:t>
            </a:r>
          </a:p>
          <a:p>
            <a:endParaRPr lang="en-IN" sz="1200" dirty="0">
              <a:solidFill>
                <a:schemeClr val="bg1"/>
              </a:solidFill>
            </a:endParaRPr>
          </a:p>
          <a:p>
            <a:r>
              <a:rPr lang="en-IN" sz="1200" dirty="0">
                <a:solidFill>
                  <a:schemeClr val="bg1"/>
                </a:solidFill>
              </a:rPr>
              <a:t>var </a:t>
            </a:r>
            <a:r>
              <a:rPr lang="en-IN" sz="1200" dirty="0" err="1">
                <a:solidFill>
                  <a:schemeClr val="bg1"/>
                </a:solidFill>
              </a:rPr>
              <a:t>distinct_weeks</a:t>
            </a:r>
            <a:r>
              <a:rPr lang="en-IN" sz="1200" dirty="0">
                <a:solidFill>
                  <a:schemeClr val="bg1"/>
                </a:solidFill>
              </a:rPr>
              <a:t> = CALCULATE(DISTINCTCOUNT(</a:t>
            </a:r>
            <a:r>
              <a:rPr lang="en-IN" sz="1200" dirty="0" err="1">
                <a:solidFill>
                  <a:schemeClr val="bg1"/>
                </a:solidFill>
              </a:rPr>
              <a:t>calender</a:t>
            </a:r>
            <a:r>
              <a:rPr lang="en-IN" sz="1200" dirty="0">
                <a:solidFill>
                  <a:schemeClr val="bg1"/>
                </a:solidFill>
              </a:rPr>
              <a:t>[</a:t>
            </a:r>
            <a:r>
              <a:rPr lang="en-IN" sz="1200" dirty="0" err="1">
                <a:solidFill>
                  <a:schemeClr val="bg1"/>
                </a:solidFill>
              </a:rPr>
              <a:t>weeknum</a:t>
            </a:r>
            <a:r>
              <a:rPr lang="en-IN" sz="1200" dirty="0">
                <a:solidFill>
                  <a:schemeClr val="bg1"/>
                </a:solidFill>
              </a:rPr>
              <a:t>]),</a:t>
            </a:r>
            <a:r>
              <a:rPr lang="en-IN" sz="1200" dirty="0" err="1">
                <a:solidFill>
                  <a:schemeClr val="bg1"/>
                </a:solidFill>
              </a:rPr>
              <a:t>four_weeks_dates</a:t>
            </a:r>
            <a:r>
              <a:rPr lang="en-IN" sz="1200" dirty="0">
                <a:solidFill>
                  <a:schemeClr val="bg1"/>
                </a:solidFill>
              </a:rPr>
              <a:t>)</a:t>
            </a:r>
          </a:p>
          <a:p>
            <a:br>
              <a:rPr lang="en-IN" sz="1200" dirty="0">
                <a:solidFill>
                  <a:schemeClr val="bg1"/>
                </a:solidFill>
              </a:rPr>
            </a:br>
            <a:r>
              <a:rPr lang="en-IN" sz="1200" dirty="0">
                <a:solidFill>
                  <a:schemeClr val="bg1"/>
                </a:solidFill>
              </a:rPr>
              <a:t>return divide(</a:t>
            </a:r>
            <a:r>
              <a:rPr lang="en-IN" sz="1200" dirty="0" err="1">
                <a:solidFill>
                  <a:schemeClr val="bg1"/>
                </a:solidFill>
              </a:rPr>
              <a:t>rev_four_weeks_dates</a:t>
            </a:r>
            <a:r>
              <a:rPr lang="en-IN" sz="1200" dirty="0">
                <a:solidFill>
                  <a:schemeClr val="bg1"/>
                </a:solidFill>
              </a:rPr>
              <a:t> ,distinct_weeks,0)</a:t>
            </a:r>
          </a:p>
        </p:txBody>
      </p:sp>
      <p:sp>
        <p:nvSpPr>
          <p:cNvPr id="9" name="Text 7"/>
          <p:cNvSpPr/>
          <p:nvPr/>
        </p:nvSpPr>
        <p:spPr>
          <a:xfrm>
            <a:off x="365760" y="1542060"/>
            <a:ext cx="1828800" cy="256032"/>
          </a:xfrm>
          <a:prstGeom prst="rect">
            <a:avLst/>
          </a:prstGeom>
          <a:noFill/>
          <a:ln/>
        </p:spPr>
        <p:txBody>
          <a:bodyPr wrap="square" lIns="0" tIns="0" rIns="0" bIns="0" rtlCol="0" anchor="ctr"/>
          <a:lstStyle/>
          <a:p>
            <a:pPr marL="0" indent="0">
              <a:buNone/>
            </a:pPr>
            <a:r>
              <a:rPr lang="en-US" sz="1050" b="1" kern="0" spc="300" dirty="0">
                <a:solidFill>
                  <a:srgbClr val="F59E0B"/>
                </a:solidFill>
                <a:latin typeface="Calibri" pitchFamily="34" charset="0"/>
                <a:ea typeface="Calibri" pitchFamily="34" charset="-122"/>
                <a:cs typeface="Calibri" pitchFamily="34" charset="-120"/>
              </a:rPr>
              <a:t>DAX FORMULA</a:t>
            </a:r>
            <a:endParaRPr lang="en-US" sz="105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24754"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r>
              <a:rPr lang="en-US" sz="900" b="1" kern="0" spc="300" dirty="0">
                <a:solidFill>
                  <a:srgbClr val="0891B2"/>
                </a:solidFill>
                <a:latin typeface="Calibri" pitchFamily="34" charset="0"/>
                <a:ea typeface="Calibri" pitchFamily="34" charset="-122"/>
                <a:cs typeface="Calibri" pitchFamily="34" charset="-120"/>
              </a:rPr>
              <a:t>POWER BI OUTPUT</a:t>
            </a:r>
            <a:endParaRPr lang="en-US" sz="900" dirty="0"/>
          </a:p>
        </p:txBody>
      </p:sp>
      <p:sp>
        <p:nvSpPr>
          <p:cNvPr id="13" name="Shape 11"/>
          <p:cNvSpPr/>
          <p:nvPr/>
        </p:nvSpPr>
        <p:spPr>
          <a:xfrm>
            <a:off x="6400800" y="2724912"/>
            <a:ext cx="640080" cy="640080"/>
          </a:xfrm>
          <a:prstGeom prst="ellipse">
            <a:avLst/>
          </a:prstGeom>
          <a:solidFill>
            <a:srgbClr val="BAE6FD"/>
          </a:solidFill>
          <a:ln w="12700">
            <a:solidFill>
              <a:srgbClr val="0891B2"/>
            </a:solidFill>
            <a:prstDash val="solid"/>
          </a:ln>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  Insert Screenshot Here</a:t>
            </a: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Power BI Visual / Query Result</a:t>
            </a: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2 / 15</a:t>
            </a:r>
            <a:endParaRPr lang="en-US" sz="800" dirty="0"/>
          </a:p>
        </p:txBody>
      </p:sp>
      <p:pic>
        <p:nvPicPr>
          <p:cNvPr id="21" name="Picture 20">
            <a:extLst>
              <a:ext uri="{FF2B5EF4-FFF2-40B4-BE49-F238E27FC236}">
                <a16:creationId xmlns:a16="http://schemas.microsoft.com/office/drawing/2014/main" id="{C1B590A8-886D-21A7-C8C0-FF461660044B}"/>
              </a:ext>
            </a:extLst>
          </p:cNvPr>
          <p:cNvPicPr>
            <a:picLocks noChangeAspect="1"/>
          </p:cNvPicPr>
          <p:nvPr/>
        </p:nvPicPr>
        <p:blipFill>
          <a:blip r:embed="rId3"/>
          <a:srcRect l="7105" t="6168" r="14093"/>
          <a:stretch>
            <a:fillRect/>
          </a:stretch>
        </p:blipFill>
        <p:spPr>
          <a:xfrm>
            <a:off x="5577840" y="1741792"/>
            <a:ext cx="2855034" cy="30452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3</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Q3  —  MoM% and WoW% Growth on Transaction Amount</a:t>
            </a:r>
            <a:endParaRPr lang="en-US" sz="1400" dirty="0"/>
          </a:p>
        </p:txBody>
      </p:sp>
      <p:sp>
        <p:nvSpPr>
          <p:cNvPr id="6" name="Shape 4"/>
          <p:cNvSpPr/>
          <p:nvPr/>
        </p:nvSpPr>
        <p:spPr>
          <a:xfrm>
            <a:off x="298080" y="709145"/>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r>
              <a:rPr lang="en-US" sz="1400" i="1" dirty="0">
                <a:solidFill>
                  <a:schemeClr val="tx2"/>
                </a:solidFill>
                <a:latin typeface="Calibri" pitchFamily="34" charset="0"/>
                <a:ea typeface="Calibri" pitchFamily="34" charset="-122"/>
                <a:cs typeface="Calibri" pitchFamily="34" charset="-120"/>
              </a:rPr>
              <a:t>Uses “filter”, “all” and “max” function to compare current period transaction amounts against the previous month and previous week, returning the percentage change.</a:t>
            </a:r>
            <a:endParaRPr lang="en-US" sz="1400" dirty="0">
              <a:solidFill>
                <a:schemeClr val="tx2"/>
              </a:solidFill>
            </a:endParaRPr>
          </a:p>
          <a:p>
            <a:endParaRPr lang="en-IN" dirty="0"/>
          </a:p>
        </p:txBody>
      </p:sp>
      <p:sp>
        <p:nvSpPr>
          <p:cNvPr id="7" name="Text 5"/>
          <p:cNvSpPr/>
          <p:nvPr/>
        </p:nvSpPr>
        <p:spPr>
          <a:xfrm>
            <a:off x="320040" y="736022"/>
            <a:ext cx="8229600" cy="585216"/>
          </a:xfrm>
          <a:prstGeom prst="rect">
            <a:avLst/>
          </a:prstGeom>
          <a:noFill/>
          <a:ln/>
        </p:spPr>
        <p:txBody>
          <a:bodyPr wrap="square" lIns="0" tIns="0" rIns="0" bIns="0" rtlCol="0" anchor="ctr"/>
          <a:lstStyle/>
          <a:p>
            <a:endParaRPr lang="en-US" sz="1100" dirty="0"/>
          </a:p>
        </p:txBody>
      </p:sp>
      <p:sp>
        <p:nvSpPr>
          <p:cNvPr id="8" name="Shape 6"/>
          <p:cNvSpPr/>
          <p:nvPr/>
        </p:nvSpPr>
        <p:spPr>
          <a:xfrm>
            <a:off x="320040" y="1430551"/>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100" dirty="0">
              <a:solidFill>
                <a:schemeClr val="bg1"/>
              </a:solidFill>
            </a:endParaRPr>
          </a:p>
          <a:p>
            <a:endParaRPr lang="en-IN" sz="1100" dirty="0">
              <a:solidFill>
                <a:schemeClr val="bg1"/>
              </a:solidFill>
            </a:endParaRPr>
          </a:p>
          <a:p>
            <a:r>
              <a:rPr lang="en-IN" sz="1100" dirty="0">
                <a:solidFill>
                  <a:schemeClr val="bg1"/>
                </a:solidFill>
              </a:rPr>
              <a:t>1. </a:t>
            </a:r>
            <a:r>
              <a:rPr lang="en-IN" sz="1100" dirty="0" err="1">
                <a:solidFill>
                  <a:schemeClr val="bg1"/>
                </a:solidFill>
              </a:rPr>
              <a:t>total_sales</a:t>
            </a:r>
            <a:r>
              <a:rPr lang="en-IN" sz="1100" dirty="0">
                <a:solidFill>
                  <a:schemeClr val="bg1"/>
                </a:solidFill>
              </a:rPr>
              <a:t> = SUMX('</a:t>
            </a:r>
            <a:r>
              <a:rPr lang="en-IN" sz="1100" dirty="0" err="1">
                <a:solidFill>
                  <a:schemeClr val="bg1"/>
                </a:solidFill>
              </a:rPr>
              <a:t>Creditcard</a:t>
            </a:r>
            <a:r>
              <a:rPr lang="en-IN" sz="1100" dirty="0">
                <a:solidFill>
                  <a:schemeClr val="bg1"/>
                </a:solidFill>
              </a:rPr>
              <a:t> (New)','</a:t>
            </a:r>
            <a:r>
              <a:rPr lang="en-IN" sz="1100" dirty="0" err="1">
                <a:solidFill>
                  <a:schemeClr val="bg1"/>
                </a:solidFill>
              </a:rPr>
              <a:t>Creditcard</a:t>
            </a:r>
            <a:r>
              <a:rPr lang="en-IN" sz="1100" dirty="0">
                <a:solidFill>
                  <a:schemeClr val="bg1"/>
                </a:solidFill>
              </a:rPr>
              <a:t> (New)'[</a:t>
            </a:r>
            <a:r>
              <a:rPr lang="en-IN" sz="1100" dirty="0" err="1">
                <a:solidFill>
                  <a:schemeClr val="bg1"/>
                </a:solidFill>
              </a:rPr>
              <a:t>Total_Trans_Amt</a:t>
            </a:r>
            <a:r>
              <a:rPr lang="en-IN" sz="1100" dirty="0">
                <a:solidFill>
                  <a:schemeClr val="bg1"/>
                </a:solidFill>
              </a:rPr>
              <a:t>])</a:t>
            </a:r>
          </a:p>
          <a:p>
            <a:endParaRPr lang="en-IN" sz="1100" dirty="0">
              <a:solidFill>
                <a:schemeClr val="bg1"/>
              </a:solidFill>
            </a:endParaRPr>
          </a:p>
          <a:p>
            <a:r>
              <a:rPr lang="en-IN" sz="1050" dirty="0" err="1">
                <a:solidFill>
                  <a:schemeClr val="bg1"/>
                </a:solidFill>
              </a:rPr>
              <a:t>previous_month_revenue</a:t>
            </a:r>
            <a:r>
              <a:rPr lang="en-IN" sz="1050" dirty="0">
                <a:solidFill>
                  <a:schemeClr val="bg1"/>
                </a:solidFill>
              </a:rPr>
              <a:t> = CALCULATE([</a:t>
            </a:r>
            <a:r>
              <a:rPr lang="en-IN" sz="1050" dirty="0" err="1">
                <a:solidFill>
                  <a:schemeClr val="bg1"/>
                </a:solidFill>
              </a:rPr>
              <a:t>total_sales</a:t>
            </a:r>
            <a:r>
              <a:rPr lang="en-IN" sz="1050" dirty="0">
                <a:solidFill>
                  <a:schemeClr val="bg1"/>
                </a:solidFill>
              </a:rPr>
              <a:t>],FILTER(all(</a:t>
            </a:r>
            <a:r>
              <a:rPr lang="en-IN" sz="1050" dirty="0" err="1">
                <a:solidFill>
                  <a:schemeClr val="bg1"/>
                </a:solidFill>
              </a:rPr>
              <a:t>calender</a:t>
            </a:r>
            <a:r>
              <a:rPr lang="en-IN" sz="1050" dirty="0">
                <a:solidFill>
                  <a:schemeClr val="bg1"/>
                </a:solidFill>
              </a:rPr>
              <a:t>), </a:t>
            </a:r>
            <a:r>
              <a:rPr lang="en-IN" sz="1050" dirty="0" err="1">
                <a:solidFill>
                  <a:schemeClr val="bg1"/>
                </a:solidFill>
              </a:rPr>
              <a:t>calender</a:t>
            </a:r>
            <a:r>
              <a:rPr lang="en-IN" sz="1050" dirty="0">
                <a:solidFill>
                  <a:schemeClr val="bg1"/>
                </a:solidFill>
              </a:rPr>
              <a:t>[month] = max(</a:t>
            </a:r>
            <a:r>
              <a:rPr lang="en-IN" sz="1050" dirty="0" err="1">
                <a:solidFill>
                  <a:schemeClr val="bg1"/>
                </a:solidFill>
              </a:rPr>
              <a:t>calender</a:t>
            </a:r>
            <a:r>
              <a:rPr lang="en-IN" sz="1050" dirty="0">
                <a:solidFill>
                  <a:schemeClr val="bg1"/>
                </a:solidFill>
              </a:rPr>
              <a:t>[month]) -1), </a:t>
            </a:r>
            <a:r>
              <a:rPr lang="en-IN" sz="1050" dirty="0" err="1">
                <a:solidFill>
                  <a:schemeClr val="bg1"/>
                </a:solidFill>
              </a:rPr>
              <a:t>calender</a:t>
            </a:r>
            <a:r>
              <a:rPr lang="en-IN" sz="1050" dirty="0">
                <a:solidFill>
                  <a:schemeClr val="bg1"/>
                </a:solidFill>
              </a:rPr>
              <a:t>[year] = MAX(</a:t>
            </a:r>
            <a:r>
              <a:rPr lang="en-IN" sz="1050" dirty="0" err="1">
                <a:solidFill>
                  <a:schemeClr val="bg1"/>
                </a:solidFill>
              </a:rPr>
              <a:t>calender</a:t>
            </a:r>
            <a:r>
              <a:rPr lang="en-IN" sz="1050" dirty="0">
                <a:solidFill>
                  <a:schemeClr val="bg1"/>
                </a:solidFill>
              </a:rPr>
              <a:t>[year]))</a:t>
            </a:r>
          </a:p>
          <a:p>
            <a:endParaRPr lang="en-IN" sz="1050" dirty="0">
              <a:solidFill>
                <a:schemeClr val="bg1"/>
              </a:solidFill>
            </a:endParaRPr>
          </a:p>
          <a:p>
            <a:r>
              <a:rPr lang="en-IN" sz="1100" dirty="0" err="1">
                <a:solidFill>
                  <a:schemeClr val="bg1"/>
                </a:solidFill>
              </a:rPr>
              <a:t>mom_growth</a:t>
            </a:r>
            <a:r>
              <a:rPr lang="en-IN" sz="1100" dirty="0">
                <a:solidFill>
                  <a:schemeClr val="bg1"/>
                </a:solidFill>
              </a:rPr>
              <a:t> = DIVIDE([</a:t>
            </a:r>
            <a:r>
              <a:rPr lang="en-IN" sz="1100" dirty="0" err="1">
                <a:solidFill>
                  <a:schemeClr val="bg1"/>
                </a:solidFill>
              </a:rPr>
              <a:t>total_sales</a:t>
            </a:r>
            <a:r>
              <a:rPr lang="en-IN" sz="1100" dirty="0">
                <a:solidFill>
                  <a:schemeClr val="bg1"/>
                </a:solidFill>
              </a:rPr>
              <a:t>]-[</a:t>
            </a:r>
            <a:r>
              <a:rPr lang="en-IN" sz="1100" dirty="0" err="1">
                <a:solidFill>
                  <a:schemeClr val="bg1"/>
                </a:solidFill>
              </a:rPr>
              <a:t>previous_month_revenue</a:t>
            </a:r>
            <a:r>
              <a:rPr lang="en-IN" sz="1100" dirty="0">
                <a:solidFill>
                  <a:schemeClr val="bg1"/>
                </a:solidFill>
              </a:rPr>
              <a:t>],[</a:t>
            </a:r>
            <a:r>
              <a:rPr lang="en-IN" sz="1100" dirty="0" err="1">
                <a:solidFill>
                  <a:schemeClr val="bg1"/>
                </a:solidFill>
              </a:rPr>
              <a:t>previous_month_revenue</a:t>
            </a:r>
            <a:r>
              <a:rPr lang="en-IN" sz="1100" dirty="0">
                <a:solidFill>
                  <a:schemeClr val="bg1"/>
                </a:solidFill>
              </a:rPr>
              <a:t>],0)</a:t>
            </a:r>
          </a:p>
          <a:p>
            <a:endParaRPr lang="en-IN" sz="1100" dirty="0">
              <a:solidFill>
                <a:schemeClr val="bg1"/>
              </a:solidFill>
            </a:endParaRPr>
          </a:p>
          <a:p>
            <a:r>
              <a:rPr lang="en-IN" sz="1100" dirty="0">
                <a:solidFill>
                  <a:schemeClr val="bg1"/>
                </a:solidFill>
              </a:rPr>
              <a:t>2. </a:t>
            </a:r>
            <a:r>
              <a:rPr lang="en-IN" sz="1050" dirty="0" err="1">
                <a:solidFill>
                  <a:schemeClr val="bg1"/>
                </a:solidFill>
              </a:rPr>
              <a:t>wow_growth</a:t>
            </a:r>
            <a:r>
              <a:rPr lang="en-IN" sz="1050" dirty="0">
                <a:solidFill>
                  <a:schemeClr val="bg1"/>
                </a:solidFill>
              </a:rPr>
              <a:t> = </a:t>
            </a:r>
          </a:p>
          <a:p>
            <a:endParaRPr lang="en-IN" sz="1050" dirty="0">
              <a:solidFill>
                <a:schemeClr val="bg1"/>
              </a:solidFill>
            </a:endParaRPr>
          </a:p>
          <a:p>
            <a:r>
              <a:rPr lang="en-IN" sz="1050" dirty="0">
                <a:solidFill>
                  <a:schemeClr val="bg1"/>
                </a:solidFill>
              </a:rPr>
              <a:t>var </a:t>
            </a:r>
            <a:r>
              <a:rPr lang="en-IN" sz="1050" dirty="0" err="1">
                <a:solidFill>
                  <a:schemeClr val="bg1"/>
                </a:solidFill>
              </a:rPr>
              <a:t>previous_week</a:t>
            </a:r>
            <a:r>
              <a:rPr lang="en-IN" sz="1050" dirty="0">
                <a:solidFill>
                  <a:schemeClr val="bg1"/>
                </a:solidFill>
              </a:rPr>
              <a:t> = CALCULATE([</a:t>
            </a:r>
            <a:r>
              <a:rPr lang="en-IN" sz="1050" dirty="0" err="1">
                <a:solidFill>
                  <a:schemeClr val="bg1"/>
                </a:solidFill>
              </a:rPr>
              <a:t>total_sales</a:t>
            </a:r>
            <a:r>
              <a:rPr lang="en-IN" sz="1050" dirty="0">
                <a:solidFill>
                  <a:schemeClr val="bg1"/>
                </a:solidFill>
              </a:rPr>
              <a:t>], FILTER(all(</a:t>
            </a:r>
            <a:r>
              <a:rPr lang="en-IN" sz="1050" dirty="0" err="1">
                <a:solidFill>
                  <a:schemeClr val="bg1"/>
                </a:solidFill>
              </a:rPr>
              <a:t>calender</a:t>
            </a:r>
            <a:r>
              <a:rPr lang="en-IN" sz="1050" dirty="0">
                <a:solidFill>
                  <a:schemeClr val="bg1"/>
                </a:solidFill>
              </a:rPr>
              <a:t>), </a:t>
            </a:r>
            <a:r>
              <a:rPr lang="en-IN" sz="1050" dirty="0" err="1">
                <a:solidFill>
                  <a:schemeClr val="bg1"/>
                </a:solidFill>
              </a:rPr>
              <a:t>calender</a:t>
            </a:r>
            <a:r>
              <a:rPr lang="en-IN" sz="1050" dirty="0">
                <a:solidFill>
                  <a:schemeClr val="bg1"/>
                </a:solidFill>
              </a:rPr>
              <a:t>[</a:t>
            </a:r>
            <a:r>
              <a:rPr lang="en-IN" sz="1050" dirty="0" err="1">
                <a:solidFill>
                  <a:schemeClr val="bg1"/>
                </a:solidFill>
              </a:rPr>
              <a:t>weeknum</a:t>
            </a:r>
            <a:r>
              <a:rPr lang="en-IN" sz="1050" dirty="0">
                <a:solidFill>
                  <a:schemeClr val="bg1"/>
                </a:solidFill>
              </a:rPr>
              <a:t>] = max(</a:t>
            </a:r>
            <a:r>
              <a:rPr lang="en-IN" sz="1050" dirty="0" err="1">
                <a:solidFill>
                  <a:schemeClr val="bg1"/>
                </a:solidFill>
              </a:rPr>
              <a:t>calender</a:t>
            </a:r>
            <a:r>
              <a:rPr lang="en-IN" sz="1050" dirty="0">
                <a:solidFill>
                  <a:schemeClr val="bg1"/>
                </a:solidFill>
              </a:rPr>
              <a:t>[</a:t>
            </a:r>
            <a:r>
              <a:rPr lang="en-IN" sz="1050" dirty="0" err="1">
                <a:solidFill>
                  <a:schemeClr val="bg1"/>
                </a:solidFill>
              </a:rPr>
              <a:t>weeknum</a:t>
            </a:r>
            <a:r>
              <a:rPr lang="en-IN" sz="1050" dirty="0">
                <a:solidFill>
                  <a:schemeClr val="bg1"/>
                </a:solidFill>
              </a:rPr>
              <a:t>]) -1), </a:t>
            </a:r>
            <a:r>
              <a:rPr lang="en-IN" sz="1050" dirty="0" err="1">
                <a:solidFill>
                  <a:schemeClr val="bg1"/>
                </a:solidFill>
              </a:rPr>
              <a:t>calender</a:t>
            </a:r>
            <a:r>
              <a:rPr lang="en-IN" sz="1050" dirty="0">
                <a:solidFill>
                  <a:schemeClr val="bg1"/>
                </a:solidFill>
              </a:rPr>
              <a:t>[year] = MAX(</a:t>
            </a:r>
            <a:r>
              <a:rPr lang="en-IN" sz="1050" dirty="0" err="1">
                <a:solidFill>
                  <a:schemeClr val="bg1"/>
                </a:solidFill>
              </a:rPr>
              <a:t>calender</a:t>
            </a:r>
            <a:r>
              <a:rPr lang="en-IN" sz="1050" dirty="0">
                <a:solidFill>
                  <a:schemeClr val="bg1"/>
                </a:solidFill>
              </a:rPr>
              <a:t>[year]))</a:t>
            </a:r>
          </a:p>
          <a:p>
            <a:endParaRPr lang="en-IN" sz="1050" dirty="0">
              <a:solidFill>
                <a:schemeClr val="bg1"/>
              </a:solidFill>
            </a:endParaRPr>
          </a:p>
          <a:p>
            <a:r>
              <a:rPr lang="en-IN" sz="1050" dirty="0">
                <a:solidFill>
                  <a:schemeClr val="bg1"/>
                </a:solidFill>
              </a:rPr>
              <a:t>return DIVIDE([</a:t>
            </a:r>
            <a:r>
              <a:rPr lang="en-IN" sz="1050" dirty="0" err="1">
                <a:solidFill>
                  <a:schemeClr val="bg1"/>
                </a:solidFill>
              </a:rPr>
              <a:t>total_sales</a:t>
            </a:r>
            <a:r>
              <a:rPr lang="en-IN" sz="1050" dirty="0">
                <a:solidFill>
                  <a:schemeClr val="bg1"/>
                </a:solidFill>
              </a:rPr>
              <a:t>]-</a:t>
            </a:r>
            <a:r>
              <a:rPr lang="en-IN" sz="1050" dirty="0" err="1">
                <a:solidFill>
                  <a:schemeClr val="bg1"/>
                </a:solidFill>
              </a:rPr>
              <a:t>previous_week</a:t>
            </a:r>
            <a:r>
              <a:rPr lang="en-IN" sz="1050" dirty="0">
                <a:solidFill>
                  <a:schemeClr val="bg1"/>
                </a:solidFill>
              </a:rPr>
              <a:t>, previous_week,0)</a:t>
            </a:r>
          </a:p>
          <a:p>
            <a:endParaRPr lang="en-IN" sz="1100" dirty="0">
              <a:solidFill>
                <a:schemeClr val="bg1"/>
              </a:solidFill>
            </a:endParaRPr>
          </a:p>
          <a:p>
            <a:endParaRPr lang="en-IN" sz="700" dirty="0">
              <a:solidFill>
                <a:schemeClr val="bg1"/>
              </a:solidFill>
            </a:endParaRPr>
          </a:p>
          <a:p>
            <a:endParaRPr lang="en-IN" sz="1100" dirty="0">
              <a:solidFill>
                <a:schemeClr val="bg1"/>
              </a:solidFill>
            </a:endParaRPr>
          </a:p>
        </p:txBody>
      </p:sp>
      <p:sp>
        <p:nvSpPr>
          <p:cNvPr id="9" name="Text 7"/>
          <p:cNvSpPr/>
          <p:nvPr/>
        </p:nvSpPr>
        <p:spPr>
          <a:xfrm>
            <a:off x="457200" y="1528018"/>
            <a:ext cx="1828800" cy="256032"/>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DAX FORMULA</a:t>
            </a:r>
            <a:endParaRPr lang="en-US" sz="11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491990" y="1437805"/>
            <a:ext cx="43662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sz="1400" dirty="0"/>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  Insert Screenshot Here</a:t>
            </a: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Power BI Visual / Query Result</a:t>
            </a: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3 / 15</a:t>
            </a:r>
            <a:endParaRPr lang="en-US" sz="800" dirty="0"/>
          </a:p>
        </p:txBody>
      </p:sp>
      <p:pic>
        <p:nvPicPr>
          <p:cNvPr id="21" name="Picture 20">
            <a:extLst>
              <a:ext uri="{FF2B5EF4-FFF2-40B4-BE49-F238E27FC236}">
                <a16:creationId xmlns:a16="http://schemas.microsoft.com/office/drawing/2014/main" id="{91E2CF91-6CBA-EE31-83CE-B263CFB388F1}"/>
              </a:ext>
            </a:extLst>
          </p:cNvPr>
          <p:cNvPicPr>
            <a:picLocks noChangeAspect="1"/>
          </p:cNvPicPr>
          <p:nvPr/>
        </p:nvPicPr>
        <p:blipFill>
          <a:blip r:embed="rId3"/>
          <a:stretch>
            <a:fillRect/>
          </a:stretch>
        </p:blipFill>
        <p:spPr>
          <a:xfrm>
            <a:off x="5231491" y="1468097"/>
            <a:ext cx="2978697" cy="1608374"/>
          </a:xfrm>
          <a:prstGeom prst="rect">
            <a:avLst/>
          </a:prstGeom>
        </p:spPr>
      </p:pic>
      <p:pic>
        <p:nvPicPr>
          <p:cNvPr id="23" name="Picture 22">
            <a:extLst>
              <a:ext uri="{FF2B5EF4-FFF2-40B4-BE49-F238E27FC236}">
                <a16:creationId xmlns:a16="http://schemas.microsoft.com/office/drawing/2014/main" id="{63489B79-5581-9554-BCDE-954E1158F7B6}"/>
              </a:ext>
            </a:extLst>
          </p:cNvPr>
          <p:cNvPicPr>
            <a:picLocks noChangeAspect="1"/>
          </p:cNvPicPr>
          <p:nvPr/>
        </p:nvPicPr>
        <p:blipFill>
          <a:blip r:embed="rId4"/>
          <a:srcRect l="7779" t="6999" r="18275" b="4303"/>
          <a:stretch>
            <a:fillRect/>
          </a:stretch>
        </p:blipFill>
        <p:spPr>
          <a:xfrm>
            <a:off x="5909529" y="3093482"/>
            <a:ext cx="1607271" cy="1546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4</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Q4  —  Customer Acquisition Cost (CAC) as a Ratio of Transaction Amount</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Divides the total acquisition cost by total transaction amount to show how much is spent acquiring customers relative to revenue generated.</a:t>
            </a:r>
            <a:endParaRPr lang="en-US" sz="1400" dirty="0"/>
          </a:p>
        </p:txBody>
      </p:sp>
      <p:sp>
        <p:nvSpPr>
          <p:cNvPr id="8" name="Shape 6"/>
          <p:cNvSpPr/>
          <p:nvPr/>
        </p:nvSpPr>
        <p:spPr>
          <a:xfrm>
            <a:off x="274320" y="1527048"/>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600" dirty="0"/>
          </a:p>
          <a:p>
            <a:endParaRPr lang="en-IN" sz="1600" dirty="0"/>
          </a:p>
          <a:p>
            <a:endParaRPr lang="en-IN" sz="1600" dirty="0"/>
          </a:p>
          <a:p>
            <a:r>
              <a:rPr lang="en-IN" sz="1600" dirty="0" err="1">
                <a:solidFill>
                  <a:schemeClr val="bg1"/>
                </a:solidFill>
              </a:rPr>
              <a:t>ratio_CAC_TA</a:t>
            </a:r>
            <a:r>
              <a:rPr lang="en-IN" sz="1600" dirty="0">
                <a:solidFill>
                  <a:schemeClr val="bg1"/>
                </a:solidFill>
              </a:rPr>
              <a:t> = DIVIDE(SUM('</a:t>
            </a:r>
            <a:r>
              <a:rPr lang="en-IN" sz="1600" dirty="0" err="1">
                <a:solidFill>
                  <a:schemeClr val="bg1"/>
                </a:solidFill>
              </a:rPr>
              <a:t>Creditcard</a:t>
            </a:r>
            <a:r>
              <a:rPr lang="en-IN" sz="1600" dirty="0">
                <a:solidFill>
                  <a:schemeClr val="bg1"/>
                </a:solidFill>
              </a:rPr>
              <a:t> (New)'[</a:t>
            </a:r>
            <a:r>
              <a:rPr lang="en-IN" sz="1600" dirty="0" err="1">
                <a:solidFill>
                  <a:schemeClr val="bg1"/>
                </a:solidFill>
              </a:rPr>
              <a:t>Customer_Acq_Cost</a:t>
            </a:r>
            <a:r>
              <a:rPr lang="en-IN" sz="1600" dirty="0">
                <a:solidFill>
                  <a:schemeClr val="bg1"/>
                </a:solidFill>
              </a:rPr>
              <a:t>]), [</a:t>
            </a:r>
            <a:r>
              <a:rPr lang="en-IN" sz="1600" dirty="0" err="1">
                <a:solidFill>
                  <a:schemeClr val="bg1"/>
                </a:solidFill>
              </a:rPr>
              <a:t>total_sales</a:t>
            </a:r>
            <a:r>
              <a:rPr lang="en-IN" sz="1600" dirty="0">
                <a:solidFill>
                  <a:schemeClr val="bg1"/>
                </a:solidFill>
              </a:rPr>
              <a:t>])</a:t>
            </a:r>
          </a:p>
        </p:txBody>
      </p:sp>
      <p:sp>
        <p:nvSpPr>
          <p:cNvPr id="9" name="Text 7"/>
          <p:cNvSpPr/>
          <p:nvPr/>
        </p:nvSpPr>
        <p:spPr>
          <a:xfrm>
            <a:off x="365760" y="1878740"/>
            <a:ext cx="1920240" cy="256032"/>
          </a:xfrm>
          <a:prstGeom prst="rect">
            <a:avLst/>
          </a:prstGeom>
          <a:noFill/>
          <a:ln/>
        </p:spPr>
        <p:txBody>
          <a:bodyPr wrap="square" lIns="0" tIns="0" rIns="0" bIns="0" rtlCol="0" anchor="ctr"/>
          <a:lstStyle/>
          <a:p>
            <a:pPr marL="0" indent="0">
              <a:buNone/>
            </a:pPr>
            <a:r>
              <a:rPr lang="en-US" sz="1600" b="1" kern="0" spc="300" dirty="0">
                <a:solidFill>
                  <a:srgbClr val="F59E0B"/>
                </a:solidFill>
                <a:latin typeface="Calibri" pitchFamily="34" charset="0"/>
                <a:ea typeface="Calibri" pitchFamily="34" charset="-122"/>
                <a:cs typeface="Calibri" pitchFamily="34" charset="-120"/>
              </a:rPr>
              <a:t>DAX FORMULA</a:t>
            </a:r>
          </a:p>
          <a:p>
            <a:pPr marL="0" indent="0">
              <a:buNone/>
            </a:pPr>
            <a:endParaRPr lang="en-US" sz="10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549140" y="1545336"/>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r>
              <a:rPr lang="en-US" sz="1200" b="1" kern="0" spc="300" dirty="0">
                <a:solidFill>
                  <a:srgbClr val="0891B2"/>
                </a:solidFill>
                <a:latin typeface="Calibri" pitchFamily="34" charset="0"/>
                <a:ea typeface="Calibri" pitchFamily="34" charset="-122"/>
                <a:cs typeface="Calibri" pitchFamily="34" charset="-120"/>
              </a:rPr>
              <a:t>POWER BI OUTPUT</a:t>
            </a:r>
            <a:endParaRPr lang="en-US" sz="1200" dirty="0"/>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4 / 15</a:t>
            </a:r>
            <a:endParaRPr lang="en-US" sz="800" dirty="0"/>
          </a:p>
        </p:txBody>
      </p:sp>
      <p:pic>
        <p:nvPicPr>
          <p:cNvPr id="21" name="Picture 20">
            <a:extLst>
              <a:ext uri="{FF2B5EF4-FFF2-40B4-BE49-F238E27FC236}">
                <a16:creationId xmlns:a16="http://schemas.microsoft.com/office/drawing/2014/main" id="{37C8823B-F6D3-B09A-5C0D-7BB472803CAD}"/>
              </a:ext>
            </a:extLst>
          </p:cNvPr>
          <p:cNvPicPr>
            <a:picLocks noChangeAspect="1"/>
          </p:cNvPicPr>
          <p:nvPr/>
        </p:nvPicPr>
        <p:blipFill>
          <a:blip r:embed="rId3"/>
          <a:srcRect l="9069" t="22736"/>
          <a:stretch>
            <a:fillRect/>
          </a:stretch>
        </p:blipFill>
        <p:spPr>
          <a:xfrm>
            <a:off x="5985803" y="2441448"/>
            <a:ext cx="1060216" cy="10421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5</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Q5  —  Yearly Average of Avg_Utilization_Ratio</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200" i="1" dirty="0">
                <a:solidFill>
                  <a:srgbClr val="1E293B"/>
                </a:solidFill>
                <a:latin typeface="Calibri" pitchFamily="34" charset="0"/>
                <a:ea typeface="Calibri" pitchFamily="34" charset="-122"/>
                <a:cs typeface="Calibri" pitchFamily="34" charset="-120"/>
              </a:rPr>
              <a:t>Calculates the average utilization ratio across all clients for each year, using ALLEXCEPT to preserve the year filter context only.</a:t>
            </a:r>
            <a:endParaRPr lang="en-US" sz="1200" dirty="0"/>
          </a:p>
        </p:txBody>
      </p:sp>
      <p:sp>
        <p:nvSpPr>
          <p:cNvPr id="8" name="Shape 6"/>
          <p:cNvSpPr/>
          <p:nvPr/>
        </p:nvSpPr>
        <p:spPr>
          <a:xfrm>
            <a:off x="27432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400" dirty="0">
              <a:solidFill>
                <a:schemeClr val="bg1"/>
              </a:solidFill>
            </a:endParaRPr>
          </a:p>
          <a:p>
            <a:endParaRPr lang="en-IN" sz="1400" dirty="0">
              <a:solidFill>
                <a:schemeClr val="bg1"/>
              </a:solidFill>
            </a:endParaRPr>
          </a:p>
          <a:p>
            <a:endParaRPr lang="en-IN" sz="1400" dirty="0">
              <a:solidFill>
                <a:schemeClr val="bg1"/>
              </a:solidFill>
            </a:endParaRPr>
          </a:p>
          <a:p>
            <a:r>
              <a:rPr lang="en-IN" sz="1400" dirty="0" err="1">
                <a:solidFill>
                  <a:schemeClr val="bg1"/>
                </a:solidFill>
              </a:rPr>
              <a:t>avg_utilization_ratio</a:t>
            </a:r>
            <a:r>
              <a:rPr lang="en-IN" sz="1400" dirty="0">
                <a:solidFill>
                  <a:schemeClr val="bg1"/>
                </a:solidFill>
              </a:rPr>
              <a:t> = </a:t>
            </a:r>
          </a:p>
          <a:p>
            <a:endParaRPr lang="en-IN" sz="1400" dirty="0">
              <a:solidFill>
                <a:schemeClr val="bg1"/>
              </a:solidFill>
            </a:endParaRPr>
          </a:p>
          <a:p>
            <a:r>
              <a:rPr lang="en-IN" sz="1200" dirty="0">
                <a:solidFill>
                  <a:schemeClr val="bg1"/>
                </a:solidFill>
              </a:rPr>
              <a:t>CALCULATE(AVERAGE('</a:t>
            </a:r>
            <a:r>
              <a:rPr lang="en-IN" sz="1200" dirty="0" err="1">
                <a:solidFill>
                  <a:schemeClr val="bg1"/>
                </a:solidFill>
              </a:rPr>
              <a:t>Creditcard</a:t>
            </a:r>
            <a:r>
              <a:rPr lang="en-IN" sz="1200" dirty="0">
                <a:solidFill>
                  <a:schemeClr val="bg1"/>
                </a:solidFill>
              </a:rPr>
              <a:t> (New)'[</a:t>
            </a:r>
            <a:r>
              <a:rPr lang="en-IN" sz="1200" dirty="0" err="1">
                <a:solidFill>
                  <a:schemeClr val="bg1"/>
                </a:solidFill>
              </a:rPr>
              <a:t>Avg_Utilization_Ratio</a:t>
            </a:r>
            <a:r>
              <a:rPr lang="en-IN" sz="1200" dirty="0">
                <a:solidFill>
                  <a:schemeClr val="bg1"/>
                </a:solidFill>
              </a:rPr>
              <a:t>]),ALLEXCEPT('</a:t>
            </a:r>
            <a:r>
              <a:rPr lang="en-IN" sz="1200" dirty="0" err="1">
                <a:solidFill>
                  <a:schemeClr val="bg1"/>
                </a:solidFill>
              </a:rPr>
              <a:t>Creditcard</a:t>
            </a:r>
            <a:r>
              <a:rPr lang="en-IN" sz="1200" dirty="0">
                <a:solidFill>
                  <a:schemeClr val="bg1"/>
                </a:solidFill>
              </a:rPr>
              <a:t> (New)','</a:t>
            </a:r>
            <a:r>
              <a:rPr lang="en-IN" sz="1200" dirty="0" err="1">
                <a:solidFill>
                  <a:schemeClr val="bg1"/>
                </a:solidFill>
              </a:rPr>
              <a:t>Creditcard</a:t>
            </a:r>
            <a:r>
              <a:rPr lang="en-IN" sz="1200" dirty="0">
                <a:solidFill>
                  <a:schemeClr val="bg1"/>
                </a:solidFill>
              </a:rPr>
              <a:t> (New)'[</a:t>
            </a:r>
            <a:r>
              <a:rPr lang="en-IN" sz="1200" dirty="0" err="1">
                <a:solidFill>
                  <a:schemeClr val="bg1"/>
                </a:solidFill>
              </a:rPr>
              <a:t>current_year</a:t>
            </a:r>
            <a:r>
              <a:rPr lang="en-IN" sz="1200" dirty="0">
                <a:solidFill>
                  <a:schemeClr val="bg1"/>
                </a:solidFill>
              </a:rPr>
              <a:t>]))</a:t>
            </a:r>
          </a:p>
          <a:p>
            <a:endParaRPr lang="en-IN" dirty="0"/>
          </a:p>
        </p:txBody>
      </p:sp>
      <p:sp>
        <p:nvSpPr>
          <p:cNvPr id="9" name="Text 7"/>
          <p:cNvSpPr/>
          <p:nvPr/>
        </p:nvSpPr>
        <p:spPr>
          <a:xfrm>
            <a:off x="457200" y="1769716"/>
            <a:ext cx="1828800" cy="256032"/>
          </a:xfrm>
          <a:prstGeom prst="rect">
            <a:avLst/>
          </a:prstGeom>
          <a:noFill/>
          <a:ln/>
        </p:spPr>
        <p:txBody>
          <a:bodyPr wrap="square" lIns="0" tIns="0" rIns="0" bIns="0"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DAX FORMULA</a:t>
            </a:r>
            <a:endParaRPr lang="en-US" sz="12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r>
              <a:rPr lang="en-US" sz="1200" b="1" kern="0" spc="300" dirty="0">
                <a:solidFill>
                  <a:srgbClr val="0891B2"/>
                </a:solidFill>
                <a:latin typeface="Calibri" pitchFamily="34" charset="0"/>
                <a:ea typeface="Calibri" pitchFamily="34" charset="-122"/>
                <a:cs typeface="Calibri" pitchFamily="34" charset="-120"/>
              </a:rPr>
              <a:t>POWER BI OUTPUT</a:t>
            </a:r>
            <a:endParaRPr lang="en-US" sz="1200" dirty="0"/>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5 / 15</a:t>
            </a:r>
            <a:endParaRPr lang="en-US" sz="800" dirty="0"/>
          </a:p>
        </p:txBody>
      </p:sp>
      <p:pic>
        <p:nvPicPr>
          <p:cNvPr id="21" name="Picture 20">
            <a:extLst>
              <a:ext uri="{FF2B5EF4-FFF2-40B4-BE49-F238E27FC236}">
                <a16:creationId xmlns:a16="http://schemas.microsoft.com/office/drawing/2014/main" id="{38270216-EA8B-D79A-D218-E891C154D40A}"/>
              </a:ext>
            </a:extLst>
          </p:cNvPr>
          <p:cNvPicPr>
            <a:picLocks noChangeAspect="1"/>
          </p:cNvPicPr>
          <p:nvPr/>
        </p:nvPicPr>
        <p:blipFill>
          <a:blip r:embed="rId3"/>
          <a:stretch>
            <a:fillRect/>
          </a:stretch>
        </p:blipFill>
        <p:spPr>
          <a:xfrm>
            <a:off x="5595928" y="2441448"/>
            <a:ext cx="1905165" cy="8382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6</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Q6  —  Interest Earned vs Total Revolving Balance (%)</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Shows what percentage of the revolving balance has been earned as interest, helping identify high-yield client segments.</a:t>
            </a:r>
            <a:endParaRPr lang="en-US" sz="1400" dirty="0"/>
          </a:p>
        </p:txBody>
      </p:sp>
      <p:sp>
        <p:nvSpPr>
          <p:cNvPr id="8" name="Shape 6"/>
          <p:cNvSpPr/>
          <p:nvPr/>
        </p:nvSpPr>
        <p:spPr>
          <a:xfrm>
            <a:off x="274320" y="1515794"/>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365760" y="1554480"/>
            <a:ext cx="1828800" cy="256032"/>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DAX FORMULA</a:t>
            </a:r>
            <a:endParaRPr lang="en-US" sz="1100" dirty="0"/>
          </a:p>
        </p:txBody>
      </p:sp>
      <p:sp>
        <p:nvSpPr>
          <p:cNvPr id="10" name="Text 8"/>
          <p:cNvSpPr/>
          <p:nvPr/>
        </p:nvSpPr>
        <p:spPr>
          <a:xfrm>
            <a:off x="365760" y="2122815"/>
            <a:ext cx="3840480" cy="2834640"/>
          </a:xfrm>
          <a:prstGeom prst="rect">
            <a:avLst/>
          </a:prstGeom>
          <a:noFill/>
          <a:ln/>
        </p:spPr>
        <p:txBody>
          <a:bodyPr wrap="square" lIns="0" tIns="0" rIns="0" bIns="0" rtlCol="0" anchor="t"/>
          <a:lstStyle/>
          <a:p>
            <a:pPr marL="0" indent="0" algn="l">
              <a:buNone/>
            </a:pPr>
            <a:r>
              <a:rPr lang="en-US" sz="1400" dirty="0" err="1">
                <a:solidFill>
                  <a:schemeClr val="bg1"/>
                </a:solidFill>
                <a:latin typeface="Calibri" panose="020F0502020204030204" pitchFamily="34" charset="0"/>
                <a:ea typeface="Calibri" panose="020F0502020204030204" pitchFamily="34" charset="0"/>
                <a:cs typeface="Calibri" panose="020F0502020204030204" pitchFamily="34" charset="0"/>
              </a:rPr>
              <a:t>Percentage_of_interest_to_RevolvingBal</a:t>
            </a: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0" indent="0" algn="l">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DIVIDE(</a:t>
            </a:r>
          </a:p>
          <a:p>
            <a:pPr marL="0" indent="0" algn="l">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    SUM(CreditCard[Interest_Earned]),</a:t>
            </a:r>
          </a:p>
          <a:p>
            <a:pPr marL="0" indent="0" algn="l">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    SUM(CreditCard[Total_Revolving_Bal])</a:t>
            </a:r>
          </a:p>
          <a:p>
            <a:pPr marL="0" indent="0" algn="l">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a:t>
            </a:r>
          </a:p>
        </p:txBody>
      </p:sp>
      <p:sp>
        <p:nvSpPr>
          <p:cNvPr id="11" name="Shape 9"/>
          <p:cNvSpPr/>
          <p:nvPr/>
        </p:nvSpPr>
        <p:spPr>
          <a:xfrm>
            <a:off x="4549140" y="1517904"/>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617720" y="1572768"/>
            <a:ext cx="210312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6 / 15</a:t>
            </a:r>
            <a:endParaRPr lang="en-US" sz="800" dirty="0"/>
          </a:p>
        </p:txBody>
      </p:sp>
      <p:pic>
        <p:nvPicPr>
          <p:cNvPr id="21" name="Picture 20">
            <a:extLst>
              <a:ext uri="{FF2B5EF4-FFF2-40B4-BE49-F238E27FC236}">
                <a16:creationId xmlns:a16="http://schemas.microsoft.com/office/drawing/2014/main" id="{6BDCEABB-51D4-895E-3470-F83DB7C54D9E}"/>
              </a:ext>
            </a:extLst>
          </p:cNvPr>
          <p:cNvPicPr>
            <a:picLocks noChangeAspect="1"/>
          </p:cNvPicPr>
          <p:nvPr/>
        </p:nvPicPr>
        <p:blipFill>
          <a:blip r:embed="rId3"/>
          <a:srcRect l="4261" t="10889" r="7010" b="10130"/>
          <a:stretch>
            <a:fillRect/>
          </a:stretch>
        </p:blipFill>
        <p:spPr>
          <a:xfrm>
            <a:off x="5866228" y="2286000"/>
            <a:ext cx="1223889" cy="950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7</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Q7  —  Top 5 Clients by Total Transaction Amount</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Uses TOPN to isolate the 5 highest-spending clients by transaction amount, then filters the measure to show only those clients' totals.</a:t>
            </a:r>
            <a:endParaRPr lang="en-US" sz="1400" dirty="0"/>
          </a:p>
        </p:txBody>
      </p:sp>
      <p:sp>
        <p:nvSpPr>
          <p:cNvPr id="8" name="Shape 6"/>
          <p:cNvSpPr/>
          <p:nvPr/>
        </p:nvSpPr>
        <p:spPr>
          <a:xfrm>
            <a:off x="274320" y="1515794"/>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365760" y="1554480"/>
            <a:ext cx="1828800" cy="256032"/>
          </a:xfrm>
          <a:prstGeom prst="rect">
            <a:avLst/>
          </a:prstGeom>
          <a:noFill/>
          <a:ln/>
        </p:spPr>
        <p:txBody>
          <a:bodyPr wrap="square" lIns="0" tIns="0" rIns="0" bIns="0" rtlCol="0" anchor="ctr"/>
          <a:lstStyle/>
          <a:p>
            <a:pPr marL="0" indent="0">
              <a:buNone/>
            </a:pPr>
            <a:r>
              <a:rPr lang="en-US" sz="1400" b="1" kern="0" spc="300" dirty="0">
                <a:solidFill>
                  <a:srgbClr val="F59E0B"/>
                </a:solidFill>
                <a:latin typeface="Calibri" pitchFamily="34" charset="0"/>
                <a:ea typeface="Calibri" pitchFamily="34" charset="-122"/>
                <a:cs typeface="Calibri" pitchFamily="34" charset="-120"/>
              </a:rPr>
              <a:t>DAX FORMULA</a:t>
            </a:r>
            <a:endParaRPr lang="en-US" sz="1400" dirty="0"/>
          </a:p>
        </p:txBody>
      </p:sp>
      <p:sp>
        <p:nvSpPr>
          <p:cNvPr id="10" name="Text 8"/>
          <p:cNvSpPr/>
          <p:nvPr/>
        </p:nvSpPr>
        <p:spPr>
          <a:xfrm>
            <a:off x="320040" y="2066544"/>
            <a:ext cx="3840480" cy="2834640"/>
          </a:xfrm>
          <a:prstGeom prst="rect">
            <a:avLst/>
          </a:prstGeom>
          <a:noFill/>
          <a:ln/>
        </p:spPr>
        <p:txBody>
          <a:bodyPr wrap="square" lIns="0" tIns="0" rIns="0" bIns="0" rtlCol="0" anchor="t"/>
          <a:lstStyle/>
          <a:p>
            <a:r>
              <a:rPr lang="en-IN" sz="1400" dirty="0">
                <a:solidFill>
                  <a:schemeClr val="bg1"/>
                </a:solidFill>
              </a:rPr>
              <a:t>Top5_clients = TOPN(5,SUMMARIZE('</a:t>
            </a:r>
            <a:r>
              <a:rPr lang="en-IN" sz="1400" dirty="0" err="1">
                <a:solidFill>
                  <a:schemeClr val="bg1"/>
                </a:solidFill>
              </a:rPr>
              <a:t>Creditcard</a:t>
            </a:r>
            <a:r>
              <a:rPr lang="en-IN" sz="1400" dirty="0">
                <a:solidFill>
                  <a:schemeClr val="bg1"/>
                </a:solidFill>
              </a:rPr>
              <a:t> (New)','</a:t>
            </a:r>
            <a:r>
              <a:rPr lang="en-IN" sz="1400" dirty="0" err="1">
                <a:solidFill>
                  <a:schemeClr val="bg1"/>
                </a:solidFill>
              </a:rPr>
              <a:t>Creditcard</a:t>
            </a:r>
            <a:r>
              <a:rPr lang="en-IN" sz="1400" dirty="0">
                <a:solidFill>
                  <a:schemeClr val="bg1"/>
                </a:solidFill>
              </a:rPr>
              <a:t> (New)'[</a:t>
            </a:r>
            <a:r>
              <a:rPr lang="en-IN" sz="1400" dirty="0" err="1">
                <a:solidFill>
                  <a:schemeClr val="bg1"/>
                </a:solidFill>
              </a:rPr>
              <a:t>Client_Num</a:t>
            </a:r>
            <a:r>
              <a:rPr lang="en-IN" sz="1400" dirty="0">
                <a:solidFill>
                  <a:schemeClr val="bg1"/>
                </a:solidFill>
              </a:rPr>
              <a:t>],"</a:t>
            </a:r>
            <a:r>
              <a:rPr lang="en-IN" sz="1400" dirty="0" err="1">
                <a:solidFill>
                  <a:schemeClr val="bg1"/>
                </a:solidFill>
              </a:rPr>
              <a:t>total_amount",SUM</a:t>
            </a:r>
            <a:r>
              <a:rPr lang="en-IN" sz="1400" dirty="0">
                <a:solidFill>
                  <a:schemeClr val="bg1"/>
                </a:solidFill>
              </a:rPr>
              <a:t>('</a:t>
            </a:r>
            <a:r>
              <a:rPr lang="en-IN" sz="1400" dirty="0" err="1">
                <a:solidFill>
                  <a:schemeClr val="bg1"/>
                </a:solidFill>
              </a:rPr>
              <a:t>Creditcard</a:t>
            </a:r>
            <a:r>
              <a:rPr lang="en-IN" sz="1400" dirty="0">
                <a:solidFill>
                  <a:schemeClr val="bg1"/>
                </a:solidFill>
              </a:rPr>
              <a:t> (New)'[</a:t>
            </a:r>
            <a:r>
              <a:rPr lang="en-IN" sz="1400" dirty="0" err="1">
                <a:solidFill>
                  <a:schemeClr val="bg1"/>
                </a:solidFill>
              </a:rPr>
              <a:t>Total_Trans_Amt</a:t>
            </a:r>
            <a:r>
              <a:rPr lang="en-IN" sz="1400" dirty="0">
                <a:solidFill>
                  <a:schemeClr val="bg1"/>
                </a:solidFill>
              </a:rPr>
              <a:t>])),[</a:t>
            </a:r>
            <a:r>
              <a:rPr lang="en-IN" sz="1400" dirty="0" err="1">
                <a:solidFill>
                  <a:schemeClr val="bg1"/>
                </a:solidFill>
              </a:rPr>
              <a:t>total_amount</a:t>
            </a:r>
            <a:r>
              <a:rPr lang="en-IN" sz="1400" dirty="0">
                <a:solidFill>
                  <a:schemeClr val="bg1"/>
                </a:solidFill>
              </a:rPr>
              <a:t>],DESC)</a:t>
            </a:r>
          </a:p>
          <a:p>
            <a:pPr marL="0" indent="0" algn="l">
              <a:buNone/>
            </a:pPr>
            <a:endParaRPr lang="en-US" sz="850" dirty="0"/>
          </a:p>
        </p:txBody>
      </p:sp>
      <p:sp>
        <p:nvSpPr>
          <p:cNvPr id="11" name="Shape 9"/>
          <p:cNvSpPr/>
          <p:nvPr/>
        </p:nvSpPr>
        <p:spPr>
          <a:xfrm>
            <a:off x="4526280" y="1517904"/>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7 / 15</a:t>
            </a:r>
            <a:endParaRPr lang="en-US" sz="800" dirty="0"/>
          </a:p>
        </p:txBody>
      </p:sp>
      <p:pic>
        <p:nvPicPr>
          <p:cNvPr id="21" name="Picture 20">
            <a:extLst>
              <a:ext uri="{FF2B5EF4-FFF2-40B4-BE49-F238E27FC236}">
                <a16:creationId xmlns:a16="http://schemas.microsoft.com/office/drawing/2014/main" id="{6C5675B1-1711-D280-A3EB-F9F9A615B4ED}"/>
              </a:ext>
            </a:extLst>
          </p:cNvPr>
          <p:cNvPicPr>
            <a:picLocks noChangeAspect="1"/>
          </p:cNvPicPr>
          <p:nvPr/>
        </p:nvPicPr>
        <p:blipFill>
          <a:blip r:embed="rId3"/>
          <a:srcRect l="4489" t="7008" r="8555" b="9962"/>
          <a:stretch>
            <a:fillRect/>
          </a:stretch>
        </p:blipFill>
        <p:spPr>
          <a:xfrm>
            <a:off x="5317588" y="2157984"/>
            <a:ext cx="2180494" cy="16241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8</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Q8  —  Identify Clients with Avg_Utilization_Ratio &gt; 80%</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chemeClr val="tx2"/>
                </a:solidFill>
                <a:latin typeface="Calibri" pitchFamily="34" charset="0"/>
                <a:ea typeface="Calibri" pitchFamily="34" charset="-122"/>
                <a:cs typeface="Calibri" pitchFamily="34" charset="-120"/>
              </a:rPr>
              <a:t>Flags clients as 'High Utilization' when their average utilization ratio exceeds 0.8 (80%), helping identify clients at risk of over-leveraging</a:t>
            </a:r>
            <a:r>
              <a:rPr lang="en-US" sz="1100" i="1" dirty="0">
                <a:solidFill>
                  <a:srgbClr val="1E293B"/>
                </a:solidFill>
                <a:latin typeface="Calibri" pitchFamily="34" charset="0"/>
                <a:ea typeface="Calibri" pitchFamily="34" charset="-122"/>
                <a:cs typeface="Calibri" pitchFamily="34" charset="-120"/>
              </a:rPr>
              <a:t>.</a:t>
            </a:r>
            <a:endParaRPr lang="en-US" sz="1100" dirty="0"/>
          </a:p>
        </p:txBody>
      </p:sp>
      <p:sp>
        <p:nvSpPr>
          <p:cNvPr id="8" name="Shape 6"/>
          <p:cNvSpPr/>
          <p:nvPr/>
        </p:nvSpPr>
        <p:spPr>
          <a:xfrm>
            <a:off x="27432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dirty="0"/>
          </a:p>
          <a:p>
            <a:endParaRPr lang="en-IN" dirty="0"/>
          </a:p>
          <a:p>
            <a:endParaRPr lang="en-IN" dirty="0"/>
          </a:p>
          <a:p>
            <a:r>
              <a:rPr lang="en-IN" sz="1600" dirty="0" err="1">
                <a:solidFill>
                  <a:schemeClr val="bg1"/>
                </a:solidFill>
              </a:rPr>
              <a:t>high_utilization_rate</a:t>
            </a:r>
            <a:r>
              <a:rPr lang="en-IN" sz="1600" dirty="0">
                <a:solidFill>
                  <a:schemeClr val="bg1"/>
                </a:solidFill>
              </a:rPr>
              <a:t> = </a:t>
            </a:r>
          </a:p>
          <a:p>
            <a:r>
              <a:rPr lang="en-IN" sz="1600" dirty="0">
                <a:solidFill>
                  <a:schemeClr val="bg1"/>
                </a:solidFill>
              </a:rPr>
              <a:t>IF([</a:t>
            </a:r>
            <a:r>
              <a:rPr lang="en-IN" sz="1600" dirty="0" err="1">
                <a:solidFill>
                  <a:schemeClr val="bg1"/>
                </a:solidFill>
              </a:rPr>
              <a:t>avg_utilization_ratio</a:t>
            </a:r>
            <a:r>
              <a:rPr lang="en-IN" sz="1600" dirty="0">
                <a:solidFill>
                  <a:schemeClr val="bg1"/>
                </a:solidFill>
              </a:rPr>
              <a:t>] &gt; 0.8, "high </a:t>
            </a:r>
            <a:r>
              <a:rPr lang="en-IN" sz="1600" dirty="0" err="1">
                <a:solidFill>
                  <a:schemeClr val="bg1"/>
                </a:solidFill>
              </a:rPr>
              <a:t>utilization","low</a:t>
            </a:r>
            <a:r>
              <a:rPr lang="en-IN" sz="1600" dirty="0">
                <a:solidFill>
                  <a:schemeClr val="bg1"/>
                </a:solidFill>
              </a:rPr>
              <a:t> utilization")</a:t>
            </a:r>
          </a:p>
          <a:p>
            <a:endParaRPr lang="en-IN" dirty="0"/>
          </a:p>
        </p:txBody>
      </p:sp>
      <p:sp>
        <p:nvSpPr>
          <p:cNvPr id="9" name="Text 7"/>
          <p:cNvSpPr/>
          <p:nvPr/>
        </p:nvSpPr>
        <p:spPr>
          <a:xfrm>
            <a:off x="457200" y="1833372"/>
            <a:ext cx="1943100" cy="256032"/>
          </a:xfrm>
          <a:prstGeom prst="rect">
            <a:avLst/>
          </a:prstGeom>
          <a:noFill/>
          <a:ln/>
        </p:spPr>
        <p:txBody>
          <a:bodyPr wrap="square" lIns="0" tIns="0" rIns="0" bIns="0" rtlCol="0" anchor="ctr"/>
          <a:lstStyle/>
          <a:p>
            <a:pPr marL="0" indent="0">
              <a:buNone/>
            </a:pPr>
            <a:r>
              <a:rPr lang="en-US" sz="1400" b="1" kern="0" spc="300" dirty="0">
                <a:solidFill>
                  <a:srgbClr val="F59E0B"/>
                </a:solidFill>
                <a:latin typeface="Calibri" pitchFamily="34" charset="0"/>
                <a:ea typeface="Calibri" pitchFamily="34" charset="-122"/>
                <a:cs typeface="Calibri" pitchFamily="34" charset="-120"/>
              </a:rPr>
              <a:t>DAX FORMULA</a:t>
            </a:r>
            <a:endParaRPr lang="en-US" sz="1400" dirty="0"/>
          </a:p>
        </p:txBody>
      </p:sp>
      <p:sp>
        <p:nvSpPr>
          <p:cNvPr id="10" name="Text 8"/>
          <p:cNvSpPr/>
          <p:nvPr/>
        </p:nvSpPr>
        <p:spPr>
          <a:xfrm>
            <a:off x="320040" y="1847088"/>
            <a:ext cx="388620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8 / 15</a:t>
            </a:r>
            <a:endParaRPr lang="en-US" sz="800" dirty="0"/>
          </a:p>
        </p:txBody>
      </p:sp>
      <p:pic>
        <p:nvPicPr>
          <p:cNvPr id="20" name="Content Placeholder 6">
            <a:extLst>
              <a:ext uri="{FF2B5EF4-FFF2-40B4-BE49-F238E27FC236}">
                <a16:creationId xmlns:a16="http://schemas.microsoft.com/office/drawing/2014/main" id="{39CF1602-22A2-D0E5-340E-6DCC75A8B966}"/>
              </a:ext>
            </a:extLst>
          </p:cNvPr>
          <p:cNvPicPr>
            <a:picLocks noChangeAspect="1"/>
          </p:cNvPicPr>
          <p:nvPr/>
        </p:nvPicPr>
        <p:blipFill>
          <a:blip r:embed="rId3"/>
          <a:stretch>
            <a:fillRect/>
          </a:stretch>
        </p:blipFill>
        <p:spPr>
          <a:xfrm>
            <a:off x="6239021" y="1648448"/>
            <a:ext cx="2325769" cy="3079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9</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Q9  —  Customer Churn Indicator (No Transactions in Last 6 Months)</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chemeClr val="tx2"/>
                </a:solidFill>
                <a:latin typeface="Calibri" pitchFamily="34" charset="0"/>
                <a:ea typeface="Calibri" pitchFamily="34" charset="-122"/>
                <a:cs typeface="Calibri" pitchFamily="34" charset="-120"/>
              </a:rPr>
              <a:t>Identifies clients with no recent activity by comparing their last transaction date against 6 months ago, flagging them as 'Churned' or 'Active'.</a:t>
            </a:r>
            <a:endParaRPr lang="en-US" sz="1400" dirty="0">
              <a:solidFill>
                <a:schemeClr val="tx2"/>
              </a:solidFill>
            </a:endParaRPr>
          </a:p>
        </p:txBody>
      </p:sp>
      <p:sp>
        <p:nvSpPr>
          <p:cNvPr id="8" name="Shape 6"/>
          <p:cNvSpPr/>
          <p:nvPr/>
        </p:nvSpPr>
        <p:spPr>
          <a:xfrm>
            <a:off x="27432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365760" y="1554480"/>
            <a:ext cx="1828800" cy="256032"/>
          </a:xfrm>
          <a:prstGeom prst="rect">
            <a:avLst/>
          </a:prstGeom>
          <a:noFill/>
          <a:ln/>
        </p:spPr>
        <p:txBody>
          <a:bodyPr wrap="square" lIns="0" tIns="0" rIns="0" bIns="0" rtlCol="0" anchor="ctr"/>
          <a:lstStyle/>
          <a:p>
            <a:pPr marL="0" indent="0">
              <a:buNone/>
            </a:pPr>
            <a:r>
              <a:rPr lang="en-US" sz="1400" b="1" kern="0" spc="300" dirty="0">
                <a:solidFill>
                  <a:srgbClr val="F59E0B"/>
                </a:solidFill>
                <a:latin typeface="Calibri" pitchFamily="34" charset="0"/>
                <a:ea typeface="Calibri" pitchFamily="34" charset="-122"/>
                <a:cs typeface="Calibri" pitchFamily="34" charset="-120"/>
              </a:rPr>
              <a:t>DAX FORMULA</a:t>
            </a:r>
            <a:endParaRPr lang="en-US" sz="1400" dirty="0"/>
          </a:p>
        </p:txBody>
      </p:sp>
      <p:sp>
        <p:nvSpPr>
          <p:cNvPr id="10" name="Text 8"/>
          <p:cNvSpPr/>
          <p:nvPr/>
        </p:nvSpPr>
        <p:spPr>
          <a:xfrm>
            <a:off x="365760" y="2043684"/>
            <a:ext cx="3840480" cy="2834640"/>
          </a:xfrm>
          <a:prstGeom prst="rect">
            <a:avLst/>
          </a:prstGeom>
          <a:noFill/>
          <a:ln/>
        </p:spPr>
        <p:txBody>
          <a:bodyPr wrap="square" lIns="0" tIns="0" rIns="0" bIns="0" rtlCol="0" anchor="t"/>
          <a:lstStyle/>
          <a:p>
            <a:r>
              <a:rPr lang="en-IN" sz="1400" dirty="0" err="1">
                <a:solidFill>
                  <a:schemeClr val="bg1"/>
                </a:solidFill>
              </a:rPr>
              <a:t>churn_client</a:t>
            </a:r>
            <a:r>
              <a:rPr lang="en-IN" sz="1400" dirty="0">
                <a:solidFill>
                  <a:schemeClr val="bg1"/>
                </a:solidFill>
              </a:rPr>
              <a:t> = </a:t>
            </a:r>
            <a:r>
              <a:rPr lang="en-IN" sz="1200" dirty="0">
                <a:solidFill>
                  <a:schemeClr val="bg1"/>
                </a:solidFill>
              </a:rPr>
              <a:t>SUMMARIZE</a:t>
            </a:r>
            <a:r>
              <a:rPr lang="en-IN" sz="1400" dirty="0">
                <a:solidFill>
                  <a:schemeClr val="bg1"/>
                </a:solidFill>
              </a:rPr>
              <a:t>('</a:t>
            </a:r>
            <a:r>
              <a:rPr lang="en-IN" sz="1400" dirty="0" err="1">
                <a:solidFill>
                  <a:schemeClr val="bg1"/>
                </a:solidFill>
              </a:rPr>
              <a:t>Creditcard</a:t>
            </a:r>
            <a:r>
              <a:rPr lang="en-IN" sz="1400" dirty="0">
                <a:solidFill>
                  <a:schemeClr val="bg1"/>
                </a:solidFill>
              </a:rPr>
              <a:t> (New)','</a:t>
            </a:r>
            <a:r>
              <a:rPr lang="en-IN" sz="1400" dirty="0" err="1">
                <a:solidFill>
                  <a:schemeClr val="bg1"/>
                </a:solidFill>
              </a:rPr>
              <a:t>Creditcard</a:t>
            </a:r>
            <a:r>
              <a:rPr lang="en-IN" sz="1400" dirty="0">
                <a:solidFill>
                  <a:schemeClr val="bg1"/>
                </a:solidFill>
              </a:rPr>
              <a:t> (New)'[</a:t>
            </a:r>
            <a:r>
              <a:rPr lang="en-IN" sz="1400" dirty="0" err="1">
                <a:solidFill>
                  <a:schemeClr val="bg1"/>
                </a:solidFill>
              </a:rPr>
              <a:t>Client_Num</a:t>
            </a:r>
            <a:r>
              <a:rPr lang="en-IN" sz="1400" dirty="0">
                <a:solidFill>
                  <a:schemeClr val="bg1"/>
                </a:solidFill>
              </a:rPr>
              <a:t>],"</a:t>
            </a:r>
            <a:r>
              <a:rPr lang="en-IN" sz="1400" dirty="0" err="1">
                <a:solidFill>
                  <a:schemeClr val="bg1"/>
                </a:solidFill>
              </a:rPr>
              <a:t>last_purchase_date",max</a:t>
            </a:r>
            <a:r>
              <a:rPr lang="en-IN" sz="1400" dirty="0">
                <a:solidFill>
                  <a:schemeClr val="bg1"/>
                </a:solidFill>
              </a:rPr>
              <a:t>('</a:t>
            </a:r>
            <a:r>
              <a:rPr lang="en-IN" sz="1400" dirty="0" err="1">
                <a:solidFill>
                  <a:schemeClr val="bg1"/>
                </a:solidFill>
              </a:rPr>
              <a:t>Creditcard</a:t>
            </a:r>
            <a:r>
              <a:rPr lang="en-IN" sz="1400" dirty="0">
                <a:solidFill>
                  <a:schemeClr val="bg1"/>
                </a:solidFill>
              </a:rPr>
              <a:t> (New)'[</a:t>
            </a:r>
            <a:r>
              <a:rPr lang="en-IN" sz="1400" dirty="0" err="1">
                <a:solidFill>
                  <a:schemeClr val="bg1"/>
                </a:solidFill>
              </a:rPr>
              <a:t>Week_Start_Date</a:t>
            </a:r>
            <a:r>
              <a:rPr lang="en-IN" sz="1400" dirty="0">
                <a:solidFill>
                  <a:schemeClr val="bg1"/>
                </a:solidFill>
              </a:rPr>
              <a:t>]))</a:t>
            </a:r>
          </a:p>
          <a:p>
            <a:endParaRPr lang="en-IN" sz="1200" dirty="0">
              <a:solidFill>
                <a:schemeClr val="bg1"/>
              </a:solidFill>
            </a:endParaRPr>
          </a:p>
          <a:p>
            <a:r>
              <a:rPr lang="en-IN" sz="1600" dirty="0" err="1">
                <a:solidFill>
                  <a:schemeClr val="bg1"/>
                </a:solidFill>
              </a:rPr>
              <a:t>last_date</a:t>
            </a:r>
            <a:r>
              <a:rPr lang="en-IN" sz="1600" dirty="0">
                <a:solidFill>
                  <a:schemeClr val="bg1"/>
                </a:solidFill>
              </a:rPr>
              <a:t> </a:t>
            </a:r>
            <a:r>
              <a:rPr lang="en-IN" sz="1200" dirty="0">
                <a:solidFill>
                  <a:schemeClr val="bg1"/>
                </a:solidFill>
              </a:rPr>
              <a:t>= MAX</a:t>
            </a:r>
            <a:r>
              <a:rPr lang="en-IN" sz="1400" dirty="0">
                <a:solidFill>
                  <a:schemeClr val="bg1"/>
                </a:solidFill>
              </a:rPr>
              <a:t>('</a:t>
            </a:r>
            <a:r>
              <a:rPr lang="en-IN" sz="1400" dirty="0" err="1">
                <a:solidFill>
                  <a:schemeClr val="bg1"/>
                </a:solidFill>
              </a:rPr>
              <a:t>Creditcard</a:t>
            </a:r>
            <a:r>
              <a:rPr lang="en-IN" sz="1400" dirty="0">
                <a:solidFill>
                  <a:schemeClr val="bg1"/>
                </a:solidFill>
              </a:rPr>
              <a:t> (New)'[</a:t>
            </a:r>
            <a:r>
              <a:rPr lang="en-IN" sz="1400" dirty="0" err="1">
                <a:solidFill>
                  <a:schemeClr val="bg1"/>
                </a:solidFill>
              </a:rPr>
              <a:t>Week_Start_Date</a:t>
            </a:r>
            <a:r>
              <a:rPr lang="en-IN" sz="1400" dirty="0">
                <a:solidFill>
                  <a:schemeClr val="bg1"/>
                </a:solidFill>
              </a:rPr>
              <a:t>])</a:t>
            </a:r>
          </a:p>
          <a:p>
            <a:endParaRPr lang="en-IN" sz="1100" dirty="0">
              <a:solidFill>
                <a:schemeClr val="bg1"/>
              </a:solidFill>
            </a:endParaRPr>
          </a:p>
          <a:p>
            <a:r>
              <a:rPr lang="en-IN" sz="1400" dirty="0" err="1">
                <a:solidFill>
                  <a:schemeClr val="bg1"/>
                </a:solidFill>
              </a:rPr>
              <a:t>churn_status</a:t>
            </a:r>
            <a:r>
              <a:rPr lang="en-IN" sz="1400" dirty="0">
                <a:solidFill>
                  <a:schemeClr val="bg1"/>
                </a:solidFill>
              </a:rPr>
              <a:t> = IF(</a:t>
            </a:r>
            <a:r>
              <a:rPr lang="en-IN" sz="1400" dirty="0" err="1">
                <a:solidFill>
                  <a:schemeClr val="bg1"/>
                </a:solidFill>
              </a:rPr>
              <a:t>churn_client</a:t>
            </a:r>
            <a:r>
              <a:rPr lang="en-IN" sz="1400" dirty="0">
                <a:solidFill>
                  <a:schemeClr val="bg1"/>
                </a:solidFill>
              </a:rPr>
              <a:t>[</a:t>
            </a:r>
            <a:r>
              <a:rPr lang="en-IN" sz="1400" dirty="0" err="1">
                <a:solidFill>
                  <a:schemeClr val="bg1"/>
                </a:solidFill>
              </a:rPr>
              <a:t>last_date</a:t>
            </a:r>
            <a:r>
              <a:rPr lang="en-IN" sz="1400" dirty="0">
                <a:solidFill>
                  <a:schemeClr val="bg1"/>
                </a:solidFill>
              </a:rPr>
              <a:t>]-</a:t>
            </a:r>
            <a:r>
              <a:rPr lang="en-IN" sz="1400" dirty="0" err="1">
                <a:solidFill>
                  <a:schemeClr val="bg1"/>
                </a:solidFill>
              </a:rPr>
              <a:t>churn_client</a:t>
            </a:r>
            <a:r>
              <a:rPr lang="en-IN" sz="1400" dirty="0">
                <a:solidFill>
                  <a:schemeClr val="bg1"/>
                </a:solidFill>
              </a:rPr>
              <a:t>[</a:t>
            </a:r>
            <a:r>
              <a:rPr lang="en-IN" sz="1400" dirty="0" err="1">
                <a:solidFill>
                  <a:schemeClr val="bg1"/>
                </a:solidFill>
              </a:rPr>
              <a:t>last_purchase_date</a:t>
            </a:r>
            <a:r>
              <a:rPr lang="en-IN" sz="1400" dirty="0">
                <a:solidFill>
                  <a:schemeClr val="bg1"/>
                </a:solidFill>
              </a:rPr>
              <a:t>] &gt;=180, "churned", "</a:t>
            </a:r>
            <a:r>
              <a:rPr lang="en-IN" sz="1400" dirty="0" err="1">
                <a:solidFill>
                  <a:schemeClr val="bg1"/>
                </a:solidFill>
              </a:rPr>
              <a:t>not_churned</a:t>
            </a:r>
            <a:r>
              <a:rPr lang="en-IN" sz="1400" dirty="0">
                <a:solidFill>
                  <a:schemeClr val="bg1"/>
                </a:solidFill>
              </a:rPr>
              <a:t>")</a:t>
            </a:r>
          </a:p>
          <a:p>
            <a:endParaRPr lang="en-IN" sz="1100" dirty="0">
              <a:solidFill>
                <a:schemeClr val="bg1"/>
              </a:solidFill>
            </a:endParaRPr>
          </a:p>
          <a:p>
            <a:endParaRPr lang="en-IN" sz="1200" dirty="0">
              <a:solidFill>
                <a:schemeClr val="bg1"/>
              </a:solidFill>
            </a:endParaRPr>
          </a:p>
          <a:p>
            <a:pPr marL="0" indent="0" algn="l">
              <a:buNone/>
            </a:pPr>
            <a:endParaRPr lang="en-US" sz="850" dirty="0"/>
          </a:p>
        </p:txBody>
      </p:sp>
      <p:sp>
        <p:nvSpPr>
          <p:cNvPr id="11" name="Shape 9"/>
          <p:cNvSpPr/>
          <p:nvPr/>
        </p:nvSpPr>
        <p:spPr>
          <a:xfrm>
            <a:off x="4526280" y="1522828"/>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Result</a:t>
            </a: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9 / 15</a:t>
            </a:r>
            <a:endParaRPr lang="en-US" sz="800" dirty="0"/>
          </a:p>
        </p:txBody>
      </p:sp>
      <p:pic>
        <p:nvPicPr>
          <p:cNvPr id="21" name="Picture 20">
            <a:extLst>
              <a:ext uri="{FF2B5EF4-FFF2-40B4-BE49-F238E27FC236}">
                <a16:creationId xmlns:a16="http://schemas.microsoft.com/office/drawing/2014/main" id="{EAAB5FDD-0DBB-340B-2F89-85B621D0064A}"/>
              </a:ext>
            </a:extLst>
          </p:cNvPr>
          <p:cNvPicPr>
            <a:picLocks noChangeAspect="1"/>
          </p:cNvPicPr>
          <p:nvPr/>
        </p:nvPicPr>
        <p:blipFill>
          <a:blip r:embed="rId3"/>
          <a:stretch>
            <a:fillRect/>
          </a:stretch>
        </p:blipFill>
        <p:spPr>
          <a:xfrm>
            <a:off x="5410982" y="1828800"/>
            <a:ext cx="2579467" cy="28320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10</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Q10  —  Delinquency Rate</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Calculates the percentage of clients with at least one delinquent account by dividing the count of delinquent clients by total unique clients.</a:t>
            </a:r>
            <a:endParaRPr lang="en-US" sz="1400" dirty="0"/>
          </a:p>
        </p:txBody>
      </p:sp>
      <p:sp>
        <p:nvSpPr>
          <p:cNvPr id="8" name="Shape 6"/>
          <p:cNvSpPr/>
          <p:nvPr/>
        </p:nvSpPr>
        <p:spPr>
          <a:xfrm>
            <a:off x="27432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a:p>
        </p:txBody>
      </p:sp>
      <p:sp>
        <p:nvSpPr>
          <p:cNvPr id="9" name="Text 7"/>
          <p:cNvSpPr/>
          <p:nvPr/>
        </p:nvSpPr>
        <p:spPr>
          <a:xfrm>
            <a:off x="365760" y="1554480"/>
            <a:ext cx="1828800" cy="256032"/>
          </a:xfrm>
          <a:prstGeom prst="rect">
            <a:avLst/>
          </a:prstGeom>
          <a:noFill/>
          <a:ln/>
        </p:spPr>
        <p:txBody>
          <a:bodyPr wrap="square" lIns="0" tIns="0" rIns="0" bIns="0" rtlCol="0" anchor="ctr"/>
          <a:lstStyle/>
          <a:p>
            <a:pPr marL="0" indent="0">
              <a:buNone/>
            </a:pPr>
            <a:r>
              <a:rPr lang="en-US" sz="1600" b="1" kern="0" spc="300" dirty="0">
                <a:solidFill>
                  <a:srgbClr val="F59E0B"/>
                </a:solidFill>
                <a:latin typeface="Calibri" pitchFamily="34" charset="0"/>
                <a:ea typeface="Calibri" pitchFamily="34" charset="-122"/>
                <a:cs typeface="Calibri" pitchFamily="34" charset="-120"/>
              </a:rPr>
              <a:t>DAX FORMULA</a:t>
            </a:r>
            <a:endParaRPr lang="en-US" sz="1600" dirty="0"/>
          </a:p>
        </p:txBody>
      </p:sp>
      <p:sp>
        <p:nvSpPr>
          <p:cNvPr id="10" name="Text 8"/>
          <p:cNvSpPr/>
          <p:nvPr/>
        </p:nvSpPr>
        <p:spPr>
          <a:xfrm>
            <a:off x="438912" y="2019767"/>
            <a:ext cx="3840480" cy="2543439"/>
          </a:xfrm>
          <a:prstGeom prst="rect">
            <a:avLst/>
          </a:prstGeom>
          <a:noFill/>
          <a:ln/>
        </p:spPr>
        <p:txBody>
          <a:bodyPr wrap="square" lIns="0" tIns="0" rIns="0" bIns="0" rtlCol="0" anchor="t"/>
          <a:lstStyle/>
          <a:p>
            <a:pPr marL="0" indent="0" algn="l">
              <a:buNone/>
            </a:pPr>
            <a:r>
              <a:rPr lang="en-US" sz="1400" dirty="0">
                <a:solidFill>
                  <a:schemeClr val="bg1"/>
                </a:solidFill>
                <a:ea typeface="Courier New" pitchFamily="34" charset="-122"/>
                <a:cs typeface="Courier New" pitchFamily="34" charset="-120"/>
              </a:rPr>
              <a:t>Delinquency Rate =</a:t>
            </a:r>
          </a:p>
          <a:p>
            <a:pPr marL="0" indent="0" algn="l">
              <a:buNone/>
            </a:pPr>
            <a:endParaRPr lang="en-US" sz="14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DIVIDE(</a:t>
            </a:r>
            <a:endParaRPr lang="en-US" sz="12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    CALCULATE(</a:t>
            </a:r>
            <a:endParaRPr lang="en-US" sz="12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        DISTINCTCOUNT (</a:t>
            </a:r>
            <a:r>
              <a:rPr lang="en-US" sz="1200" dirty="0" err="1">
                <a:solidFill>
                  <a:schemeClr val="bg1"/>
                </a:solidFill>
                <a:ea typeface="Courier New" pitchFamily="34" charset="-122"/>
                <a:cs typeface="Courier New" pitchFamily="34" charset="-120"/>
              </a:rPr>
              <a:t>CreditCard</a:t>
            </a:r>
            <a:r>
              <a:rPr lang="en-US" sz="1200" dirty="0">
                <a:solidFill>
                  <a:schemeClr val="bg1"/>
                </a:solidFill>
                <a:ea typeface="Courier New" pitchFamily="34" charset="-122"/>
                <a:cs typeface="Courier New" pitchFamily="34" charset="-120"/>
              </a:rPr>
              <a:t> [Client_Num]),</a:t>
            </a:r>
            <a:endParaRPr lang="en-US" sz="12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        CreditCard[Delinquent_Acc] &gt; 0</a:t>
            </a:r>
            <a:endParaRPr lang="en-US" sz="12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    ),</a:t>
            </a:r>
            <a:endParaRPr lang="en-US" sz="12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    DISTINCTCOUNT (CreditCard[Client_Num])</a:t>
            </a:r>
            <a:endParaRPr lang="en-US" sz="1200" dirty="0">
              <a:solidFill>
                <a:schemeClr val="bg1"/>
              </a:solidFill>
            </a:endParaRPr>
          </a:p>
          <a:p>
            <a:pPr marL="0" indent="0" algn="l">
              <a:buNone/>
            </a:pPr>
            <a:r>
              <a:rPr lang="en-US" sz="1200" dirty="0">
                <a:solidFill>
                  <a:schemeClr val="bg1"/>
                </a:solidFill>
                <a:ea typeface="Courier New" pitchFamily="34" charset="-122"/>
                <a:cs typeface="Courier New" pitchFamily="34" charset="-120"/>
              </a:rPr>
              <a:t>)</a:t>
            </a:r>
            <a:endParaRPr lang="en-US" sz="800" dirty="0">
              <a:solidFill>
                <a:schemeClr val="bg1"/>
              </a:solidFill>
            </a:endParaRPr>
          </a:p>
        </p:txBody>
      </p:sp>
      <p:sp>
        <p:nvSpPr>
          <p:cNvPr id="11" name="Shape 9"/>
          <p:cNvSpPr/>
          <p:nvPr/>
        </p:nvSpPr>
        <p:spPr>
          <a:xfrm>
            <a:off x="4617720" y="1515794"/>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10 / 15</a:t>
            </a:r>
            <a:endParaRPr lang="en-US" sz="800" dirty="0"/>
          </a:p>
        </p:txBody>
      </p:sp>
      <p:pic>
        <p:nvPicPr>
          <p:cNvPr id="23" name="Picture 22">
            <a:extLst>
              <a:ext uri="{FF2B5EF4-FFF2-40B4-BE49-F238E27FC236}">
                <a16:creationId xmlns:a16="http://schemas.microsoft.com/office/drawing/2014/main" id="{2929D593-96AF-D847-84D9-88CBBFDAF12D}"/>
              </a:ext>
            </a:extLst>
          </p:cNvPr>
          <p:cNvPicPr>
            <a:picLocks noChangeAspect="1"/>
          </p:cNvPicPr>
          <p:nvPr/>
        </p:nvPicPr>
        <p:blipFill>
          <a:blip r:embed="rId3"/>
          <a:srcRect l="6920" t="13665" r="6237" b="3658"/>
          <a:stretch>
            <a:fillRect/>
          </a:stretch>
        </p:blipFill>
        <p:spPr>
          <a:xfrm>
            <a:off x="5950634" y="2532888"/>
            <a:ext cx="1343464" cy="10332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11</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Q11  —  Credit Risk Score (Composite)</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Combines three weighted risk signals into a 0–100 score: utilization ratio (50pts), delinquency penalty (30pts), and revolving balance ratio (20pts).</a:t>
            </a:r>
            <a:endParaRPr lang="en-US" sz="1400" dirty="0"/>
          </a:p>
        </p:txBody>
      </p:sp>
      <p:sp>
        <p:nvSpPr>
          <p:cNvPr id="8" name="Shape 6"/>
          <p:cNvSpPr/>
          <p:nvPr/>
        </p:nvSpPr>
        <p:spPr>
          <a:xfrm>
            <a:off x="365760" y="1481328"/>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200" dirty="0">
              <a:solidFill>
                <a:schemeClr val="bg1"/>
              </a:solidFill>
            </a:endParaRPr>
          </a:p>
          <a:p>
            <a:endParaRPr lang="en-IN" sz="1200" dirty="0">
              <a:solidFill>
                <a:schemeClr val="bg1"/>
              </a:solidFill>
            </a:endParaRPr>
          </a:p>
          <a:p>
            <a:endParaRPr lang="en-IN" sz="1200" dirty="0">
              <a:solidFill>
                <a:schemeClr val="bg1"/>
              </a:solidFill>
            </a:endParaRPr>
          </a:p>
          <a:p>
            <a:r>
              <a:rPr lang="en-IN" sz="1400" dirty="0" err="1">
                <a:solidFill>
                  <a:schemeClr val="bg1"/>
                </a:solidFill>
              </a:rPr>
              <a:t>credit_risk_score</a:t>
            </a:r>
            <a:r>
              <a:rPr lang="en-IN" sz="1400" dirty="0">
                <a:solidFill>
                  <a:schemeClr val="bg1"/>
                </a:solidFill>
              </a:rPr>
              <a:t> = </a:t>
            </a:r>
          </a:p>
          <a:p>
            <a:r>
              <a:rPr lang="en-IN" sz="1400" dirty="0">
                <a:solidFill>
                  <a:schemeClr val="bg1"/>
                </a:solidFill>
              </a:rPr>
              <a:t>var </a:t>
            </a:r>
            <a:r>
              <a:rPr lang="en-IN" sz="1400" dirty="0" err="1">
                <a:solidFill>
                  <a:schemeClr val="bg1"/>
                </a:solidFill>
              </a:rPr>
              <a:t>util_score</a:t>
            </a:r>
            <a:r>
              <a:rPr lang="en-IN" sz="1400" dirty="0">
                <a:solidFill>
                  <a:schemeClr val="bg1"/>
                </a:solidFill>
              </a:rPr>
              <a:t> = 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Avg_Utilization_Ratio</a:t>
            </a:r>
            <a:r>
              <a:rPr lang="en-IN" sz="1400" dirty="0">
                <a:solidFill>
                  <a:schemeClr val="bg1"/>
                </a:solidFill>
              </a:rPr>
              <a:t>]) * 50</a:t>
            </a:r>
          </a:p>
          <a:p>
            <a:endParaRPr lang="en-IN" sz="1400" dirty="0">
              <a:solidFill>
                <a:schemeClr val="bg1"/>
              </a:solidFill>
            </a:endParaRPr>
          </a:p>
          <a:p>
            <a:r>
              <a:rPr lang="en-IN" sz="1400" dirty="0">
                <a:solidFill>
                  <a:schemeClr val="bg1"/>
                </a:solidFill>
              </a:rPr>
              <a:t>var </a:t>
            </a:r>
            <a:r>
              <a:rPr lang="en-IN" sz="1400" dirty="0" err="1">
                <a:solidFill>
                  <a:schemeClr val="bg1"/>
                </a:solidFill>
              </a:rPr>
              <a:t>delinq_score</a:t>
            </a:r>
            <a:r>
              <a:rPr lang="en-IN" sz="1400" dirty="0">
                <a:solidFill>
                  <a:schemeClr val="bg1"/>
                </a:solidFill>
              </a:rPr>
              <a:t> = IF(sum('</a:t>
            </a:r>
            <a:r>
              <a:rPr lang="en-IN" sz="1400" dirty="0" err="1">
                <a:solidFill>
                  <a:schemeClr val="bg1"/>
                </a:solidFill>
              </a:rPr>
              <a:t>Creditcard</a:t>
            </a:r>
            <a:r>
              <a:rPr lang="en-IN" sz="1400" dirty="0">
                <a:solidFill>
                  <a:schemeClr val="bg1"/>
                </a:solidFill>
              </a:rPr>
              <a:t> (New)'[</a:t>
            </a:r>
            <a:r>
              <a:rPr lang="en-IN" sz="1400" dirty="0" err="1">
                <a:solidFill>
                  <a:schemeClr val="bg1"/>
                </a:solidFill>
              </a:rPr>
              <a:t>Delinquent_Acc</a:t>
            </a:r>
            <a:r>
              <a:rPr lang="en-IN" sz="1400" dirty="0">
                <a:solidFill>
                  <a:schemeClr val="bg1"/>
                </a:solidFill>
              </a:rPr>
              <a:t>]) &gt; 0,30,0)</a:t>
            </a:r>
          </a:p>
          <a:p>
            <a:endParaRPr lang="en-IN" sz="1400" dirty="0">
              <a:solidFill>
                <a:schemeClr val="bg1"/>
              </a:solidFill>
            </a:endParaRPr>
          </a:p>
          <a:p>
            <a:r>
              <a:rPr lang="en-IN" sz="1400" dirty="0">
                <a:solidFill>
                  <a:schemeClr val="bg1"/>
                </a:solidFill>
              </a:rPr>
              <a:t>var </a:t>
            </a:r>
            <a:r>
              <a:rPr lang="en-IN" sz="1400" dirty="0" err="1">
                <a:solidFill>
                  <a:schemeClr val="bg1"/>
                </a:solidFill>
              </a:rPr>
              <a:t>Revolvingscore</a:t>
            </a:r>
            <a:r>
              <a:rPr lang="en-IN" sz="1400" dirty="0">
                <a:solidFill>
                  <a:schemeClr val="bg1"/>
                </a:solidFill>
              </a:rPr>
              <a:t> = DIVIDE(AVERAGE('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Total_Revolving_Bal</a:t>
            </a:r>
            <a:r>
              <a:rPr lang="en-IN" sz="1400" dirty="0">
                <a:solidFill>
                  <a:schemeClr val="bg1"/>
                </a:solidFill>
              </a:rPr>
              <a:t>]),AVERAGE('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Credit_Limit</a:t>
            </a:r>
            <a:r>
              <a:rPr lang="en-IN" sz="1400" dirty="0">
                <a:solidFill>
                  <a:schemeClr val="bg1"/>
                </a:solidFill>
              </a:rPr>
              <a:t>]))*20</a:t>
            </a:r>
          </a:p>
          <a:p>
            <a:endParaRPr lang="en-IN" sz="1400" dirty="0">
              <a:solidFill>
                <a:schemeClr val="bg1"/>
              </a:solidFill>
            </a:endParaRPr>
          </a:p>
          <a:p>
            <a:r>
              <a:rPr lang="en-IN" sz="1400" dirty="0">
                <a:solidFill>
                  <a:schemeClr val="bg1"/>
                </a:solidFill>
              </a:rPr>
              <a:t>RETURN </a:t>
            </a:r>
            <a:r>
              <a:rPr lang="en-IN" sz="1400" dirty="0" err="1">
                <a:solidFill>
                  <a:schemeClr val="bg1"/>
                </a:solidFill>
              </a:rPr>
              <a:t>util_score</a:t>
            </a:r>
            <a:r>
              <a:rPr lang="en-IN" sz="1400" dirty="0">
                <a:solidFill>
                  <a:schemeClr val="bg1"/>
                </a:solidFill>
              </a:rPr>
              <a:t> + </a:t>
            </a:r>
            <a:r>
              <a:rPr lang="en-IN" sz="1400" dirty="0" err="1">
                <a:solidFill>
                  <a:schemeClr val="bg1"/>
                </a:solidFill>
              </a:rPr>
              <a:t>delinq_score</a:t>
            </a:r>
            <a:r>
              <a:rPr lang="en-IN" sz="1400" dirty="0">
                <a:solidFill>
                  <a:schemeClr val="bg1"/>
                </a:solidFill>
              </a:rPr>
              <a:t> + </a:t>
            </a:r>
            <a:r>
              <a:rPr lang="en-IN" sz="1400" dirty="0" err="1">
                <a:solidFill>
                  <a:schemeClr val="bg1"/>
                </a:solidFill>
              </a:rPr>
              <a:t>Revolvingscore</a:t>
            </a:r>
            <a:endParaRPr lang="en-IN" sz="1400" dirty="0">
              <a:solidFill>
                <a:schemeClr val="bg1"/>
              </a:solidFill>
            </a:endParaRPr>
          </a:p>
          <a:p>
            <a:endParaRPr lang="en-IN" dirty="0"/>
          </a:p>
        </p:txBody>
      </p:sp>
      <p:sp>
        <p:nvSpPr>
          <p:cNvPr id="9" name="Text 7"/>
          <p:cNvSpPr/>
          <p:nvPr/>
        </p:nvSpPr>
        <p:spPr>
          <a:xfrm>
            <a:off x="426251" y="1682496"/>
            <a:ext cx="1828800" cy="256032"/>
          </a:xfrm>
          <a:prstGeom prst="rect">
            <a:avLst/>
          </a:prstGeom>
          <a:noFill/>
          <a:ln/>
        </p:spPr>
        <p:txBody>
          <a:bodyPr wrap="square" lIns="0" tIns="0" rIns="0" bIns="0" rtlCol="0" anchor="ctr"/>
          <a:lstStyle/>
          <a:p>
            <a:pPr marL="0" indent="0">
              <a:buNone/>
            </a:pPr>
            <a:r>
              <a:rPr lang="en-US" sz="1400" b="1" kern="0" spc="300" dirty="0">
                <a:solidFill>
                  <a:srgbClr val="F59E0B"/>
                </a:solidFill>
                <a:latin typeface="Calibri" pitchFamily="34" charset="0"/>
                <a:ea typeface="Calibri" pitchFamily="34" charset="-122"/>
                <a:cs typeface="Calibri" pitchFamily="34" charset="-120"/>
              </a:rPr>
              <a:t>DAX FORMULA</a:t>
            </a:r>
            <a:endParaRPr lang="en-US" sz="14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11 / 15</a:t>
            </a:r>
            <a:endParaRPr lang="en-US" sz="800" dirty="0"/>
          </a:p>
        </p:txBody>
      </p:sp>
      <p:pic>
        <p:nvPicPr>
          <p:cNvPr id="21" name="Picture 20">
            <a:extLst>
              <a:ext uri="{FF2B5EF4-FFF2-40B4-BE49-F238E27FC236}">
                <a16:creationId xmlns:a16="http://schemas.microsoft.com/office/drawing/2014/main" id="{E983BDF1-280C-4458-A200-D61429E5878C}"/>
              </a:ext>
            </a:extLst>
          </p:cNvPr>
          <p:cNvPicPr>
            <a:picLocks noChangeAspect="1"/>
          </p:cNvPicPr>
          <p:nvPr/>
        </p:nvPicPr>
        <p:blipFill>
          <a:blip r:embed="rId3"/>
          <a:srcRect l="5228" t="5225" r="8791"/>
          <a:stretch>
            <a:fillRect/>
          </a:stretch>
        </p:blipFill>
        <p:spPr>
          <a:xfrm>
            <a:off x="6407833" y="1572769"/>
            <a:ext cx="1772529" cy="32278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12</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Q12  —  Income vs Credit Limit Correlation</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Manually implements the Pearson correlation coefficient (DAX has no CORREL function) to measure how strongly Income and Credit_Limit move together.</a:t>
            </a:r>
            <a:endParaRPr lang="en-US" sz="1400" dirty="0"/>
          </a:p>
        </p:txBody>
      </p:sp>
      <p:sp>
        <p:nvSpPr>
          <p:cNvPr id="8" name="Shape 6"/>
          <p:cNvSpPr/>
          <p:nvPr/>
        </p:nvSpPr>
        <p:spPr>
          <a:xfrm>
            <a:off x="297180" y="1467612"/>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100" dirty="0">
              <a:solidFill>
                <a:schemeClr val="bg1"/>
              </a:solidFill>
            </a:endParaRPr>
          </a:p>
          <a:p>
            <a:endParaRPr lang="en-IN" sz="1100" dirty="0">
              <a:solidFill>
                <a:schemeClr val="bg1"/>
              </a:solidFill>
            </a:endParaRPr>
          </a:p>
          <a:p>
            <a:r>
              <a:rPr lang="en-IN" sz="900" dirty="0" err="1">
                <a:solidFill>
                  <a:schemeClr val="bg1"/>
                </a:solidFill>
              </a:rPr>
              <a:t>creditlimit_income_correlation</a:t>
            </a:r>
            <a:r>
              <a:rPr lang="en-IN" sz="900" dirty="0">
                <a:solidFill>
                  <a:schemeClr val="bg1"/>
                </a:solidFill>
              </a:rPr>
              <a:t> = </a:t>
            </a:r>
          </a:p>
          <a:p>
            <a:endParaRPr lang="en-IN" sz="900" dirty="0">
              <a:solidFill>
                <a:schemeClr val="bg1"/>
              </a:solidFill>
            </a:endParaRPr>
          </a:p>
          <a:p>
            <a:r>
              <a:rPr lang="en-IN" sz="900" dirty="0">
                <a:solidFill>
                  <a:schemeClr val="bg1"/>
                </a:solidFill>
              </a:rPr>
              <a:t>VAR N = COUNTROWS('Customer (new)’)</a:t>
            </a:r>
          </a:p>
          <a:p>
            <a:endParaRPr lang="en-IN" sz="900" dirty="0">
              <a:solidFill>
                <a:schemeClr val="bg1"/>
              </a:solidFill>
            </a:endParaRPr>
          </a:p>
          <a:p>
            <a:r>
              <a:rPr lang="en-IN" sz="900" dirty="0">
                <a:solidFill>
                  <a:schemeClr val="bg1"/>
                </a:solidFill>
              </a:rPr>
              <a:t>var </a:t>
            </a:r>
            <a:r>
              <a:rPr lang="en-IN" sz="900" dirty="0" err="1">
                <a:solidFill>
                  <a:schemeClr val="bg1"/>
                </a:solidFill>
              </a:rPr>
              <a:t>sum_x</a:t>
            </a:r>
            <a:r>
              <a:rPr lang="en-IN" sz="900" dirty="0">
                <a:solidFill>
                  <a:schemeClr val="bg1"/>
                </a:solidFill>
              </a:rPr>
              <a:t> = SUMX('Customer (new)',RELATED('</a:t>
            </a:r>
            <a:r>
              <a:rPr lang="en-IN" sz="900" dirty="0" err="1">
                <a:solidFill>
                  <a:schemeClr val="bg1"/>
                </a:solidFill>
              </a:rPr>
              <a:t>Creditcard</a:t>
            </a:r>
            <a:r>
              <a:rPr lang="en-IN" sz="900" dirty="0">
                <a:solidFill>
                  <a:schemeClr val="bg1"/>
                </a:solidFill>
              </a:rPr>
              <a:t> (New)'[</a:t>
            </a:r>
            <a:r>
              <a:rPr lang="en-IN" sz="900" dirty="0" err="1">
                <a:solidFill>
                  <a:schemeClr val="bg1"/>
                </a:solidFill>
              </a:rPr>
              <a:t>Credit_Limit</a:t>
            </a:r>
            <a:r>
              <a:rPr lang="en-IN" sz="900" dirty="0">
                <a:solidFill>
                  <a:schemeClr val="bg1"/>
                </a:solidFill>
              </a:rPr>
              <a:t>]))</a:t>
            </a:r>
          </a:p>
          <a:p>
            <a:endParaRPr lang="en-IN" sz="900" dirty="0">
              <a:solidFill>
                <a:schemeClr val="bg1"/>
              </a:solidFill>
            </a:endParaRPr>
          </a:p>
          <a:p>
            <a:r>
              <a:rPr lang="en-IN" sz="900" dirty="0">
                <a:solidFill>
                  <a:schemeClr val="bg1"/>
                </a:solidFill>
              </a:rPr>
              <a:t>var </a:t>
            </a:r>
            <a:r>
              <a:rPr lang="en-IN" sz="900" dirty="0" err="1">
                <a:solidFill>
                  <a:schemeClr val="bg1"/>
                </a:solidFill>
              </a:rPr>
              <a:t>sumy</a:t>
            </a:r>
            <a:r>
              <a:rPr lang="en-IN" sz="900" dirty="0">
                <a:solidFill>
                  <a:schemeClr val="bg1"/>
                </a:solidFill>
              </a:rPr>
              <a:t> = SUM('Customer (new)'[Income])</a:t>
            </a:r>
          </a:p>
          <a:p>
            <a:endParaRPr lang="en-IN" sz="900" dirty="0">
              <a:solidFill>
                <a:schemeClr val="bg1"/>
              </a:solidFill>
            </a:endParaRPr>
          </a:p>
          <a:p>
            <a:r>
              <a:rPr lang="en-IN" sz="900" dirty="0">
                <a:solidFill>
                  <a:schemeClr val="bg1"/>
                </a:solidFill>
              </a:rPr>
              <a:t>VAR </a:t>
            </a:r>
            <a:r>
              <a:rPr lang="en-IN" sz="900" dirty="0" err="1">
                <a:solidFill>
                  <a:schemeClr val="bg1"/>
                </a:solidFill>
              </a:rPr>
              <a:t>sumxy</a:t>
            </a:r>
            <a:r>
              <a:rPr lang="en-IN" sz="900" dirty="0">
                <a:solidFill>
                  <a:schemeClr val="bg1"/>
                </a:solidFill>
              </a:rPr>
              <a:t> = SUMX('Customer (new)',RELATED('</a:t>
            </a:r>
            <a:r>
              <a:rPr lang="en-IN" sz="900" dirty="0" err="1">
                <a:solidFill>
                  <a:schemeClr val="bg1"/>
                </a:solidFill>
              </a:rPr>
              <a:t>Creditcard</a:t>
            </a:r>
            <a:r>
              <a:rPr lang="en-IN" sz="900" dirty="0">
                <a:solidFill>
                  <a:schemeClr val="bg1"/>
                </a:solidFill>
              </a:rPr>
              <a:t> (New)'[</a:t>
            </a:r>
            <a:r>
              <a:rPr lang="en-IN" sz="900" dirty="0" err="1">
                <a:solidFill>
                  <a:schemeClr val="bg1"/>
                </a:solidFill>
              </a:rPr>
              <a:t>Credit_Limit</a:t>
            </a:r>
            <a:r>
              <a:rPr lang="en-IN" sz="900" dirty="0">
                <a:solidFill>
                  <a:schemeClr val="bg1"/>
                </a:solidFill>
              </a:rPr>
              <a:t>])*'Customer (new)'[Income])</a:t>
            </a:r>
          </a:p>
          <a:p>
            <a:endParaRPr lang="en-IN" sz="900" dirty="0">
              <a:solidFill>
                <a:schemeClr val="bg1"/>
              </a:solidFill>
            </a:endParaRPr>
          </a:p>
          <a:p>
            <a:r>
              <a:rPr lang="en-IN" sz="900" dirty="0">
                <a:solidFill>
                  <a:schemeClr val="bg1"/>
                </a:solidFill>
              </a:rPr>
              <a:t>var sumx2 = SUMX('Customer (new)',RELATED('</a:t>
            </a:r>
            <a:r>
              <a:rPr lang="en-IN" sz="900" dirty="0" err="1">
                <a:solidFill>
                  <a:schemeClr val="bg1"/>
                </a:solidFill>
              </a:rPr>
              <a:t>Creditcard</a:t>
            </a:r>
            <a:r>
              <a:rPr lang="en-IN" sz="900" dirty="0">
                <a:solidFill>
                  <a:schemeClr val="bg1"/>
                </a:solidFill>
              </a:rPr>
              <a:t> (New)'[</a:t>
            </a:r>
            <a:r>
              <a:rPr lang="en-IN" sz="900" dirty="0" err="1">
                <a:solidFill>
                  <a:schemeClr val="bg1"/>
                </a:solidFill>
              </a:rPr>
              <a:t>Credit_Limit</a:t>
            </a:r>
            <a:r>
              <a:rPr lang="en-IN" sz="900" dirty="0">
                <a:solidFill>
                  <a:schemeClr val="bg1"/>
                </a:solidFill>
              </a:rPr>
              <a:t>])^2)</a:t>
            </a:r>
          </a:p>
          <a:p>
            <a:endParaRPr lang="en-IN" sz="900" dirty="0">
              <a:solidFill>
                <a:schemeClr val="bg1"/>
              </a:solidFill>
            </a:endParaRPr>
          </a:p>
          <a:p>
            <a:r>
              <a:rPr lang="en-IN" sz="900" dirty="0">
                <a:solidFill>
                  <a:schemeClr val="bg1"/>
                </a:solidFill>
              </a:rPr>
              <a:t>var sumy2 = SUMX('Customer (new)','Customer (new)'[Income]^2)</a:t>
            </a:r>
          </a:p>
          <a:p>
            <a:endParaRPr lang="en-IN" sz="900" dirty="0">
              <a:solidFill>
                <a:schemeClr val="bg1"/>
              </a:solidFill>
            </a:endParaRPr>
          </a:p>
          <a:p>
            <a:r>
              <a:rPr lang="en-IN" sz="900" dirty="0">
                <a:solidFill>
                  <a:schemeClr val="bg1"/>
                </a:solidFill>
              </a:rPr>
              <a:t>var numerator = (N*</a:t>
            </a:r>
            <a:r>
              <a:rPr lang="en-IN" sz="900" dirty="0" err="1">
                <a:solidFill>
                  <a:schemeClr val="bg1"/>
                </a:solidFill>
              </a:rPr>
              <a:t>sumxy</a:t>
            </a:r>
            <a:r>
              <a:rPr lang="en-IN" sz="900" dirty="0">
                <a:solidFill>
                  <a:schemeClr val="bg1"/>
                </a:solidFill>
              </a:rPr>
              <a:t>)-(</a:t>
            </a:r>
            <a:r>
              <a:rPr lang="en-IN" sz="900" dirty="0" err="1">
                <a:solidFill>
                  <a:schemeClr val="bg1"/>
                </a:solidFill>
              </a:rPr>
              <a:t>sum_x</a:t>
            </a:r>
            <a:r>
              <a:rPr lang="en-IN" sz="900" dirty="0">
                <a:solidFill>
                  <a:schemeClr val="bg1"/>
                </a:solidFill>
              </a:rPr>
              <a:t>*</a:t>
            </a:r>
            <a:r>
              <a:rPr lang="en-IN" sz="900" dirty="0" err="1">
                <a:solidFill>
                  <a:schemeClr val="bg1"/>
                </a:solidFill>
              </a:rPr>
              <a:t>sumy</a:t>
            </a:r>
            <a:r>
              <a:rPr lang="en-IN" sz="900" dirty="0">
                <a:solidFill>
                  <a:schemeClr val="bg1"/>
                </a:solidFill>
              </a:rPr>
              <a:t>)</a:t>
            </a:r>
          </a:p>
          <a:p>
            <a:endParaRPr lang="en-IN" sz="900" dirty="0">
              <a:solidFill>
                <a:schemeClr val="bg1"/>
              </a:solidFill>
            </a:endParaRPr>
          </a:p>
          <a:p>
            <a:r>
              <a:rPr lang="en-IN" sz="900" dirty="0">
                <a:solidFill>
                  <a:schemeClr val="bg1"/>
                </a:solidFill>
              </a:rPr>
              <a:t>var denominator = SQRT((N*sumx2-sum_x^2)*(N*sumy2-sumy^2))</a:t>
            </a:r>
          </a:p>
          <a:p>
            <a:endParaRPr lang="en-IN" sz="900" dirty="0">
              <a:solidFill>
                <a:schemeClr val="bg1"/>
              </a:solidFill>
            </a:endParaRPr>
          </a:p>
          <a:p>
            <a:r>
              <a:rPr lang="en-IN" sz="900" dirty="0">
                <a:solidFill>
                  <a:schemeClr val="bg1"/>
                </a:solidFill>
              </a:rPr>
              <a:t>RETURN DIVIDE(</a:t>
            </a:r>
            <a:r>
              <a:rPr lang="en-IN" sz="900" dirty="0" err="1">
                <a:solidFill>
                  <a:schemeClr val="bg1"/>
                </a:solidFill>
              </a:rPr>
              <a:t>numerator,denominator</a:t>
            </a:r>
            <a:r>
              <a:rPr lang="en-IN" sz="900" dirty="0">
                <a:solidFill>
                  <a:schemeClr val="bg1"/>
                </a:solidFill>
              </a:rPr>
              <a:t>)</a:t>
            </a:r>
          </a:p>
          <a:p>
            <a:endParaRPr lang="en-IN" dirty="0"/>
          </a:p>
        </p:txBody>
      </p:sp>
      <p:sp>
        <p:nvSpPr>
          <p:cNvPr id="9" name="Text 7"/>
          <p:cNvSpPr/>
          <p:nvPr/>
        </p:nvSpPr>
        <p:spPr>
          <a:xfrm>
            <a:off x="400226" y="1576637"/>
            <a:ext cx="1828800" cy="256032"/>
          </a:xfrm>
          <a:prstGeom prst="rect">
            <a:avLst/>
          </a:prstGeom>
          <a:noFill/>
          <a:ln/>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DAX FORMULA</a:t>
            </a:r>
            <a:endParaRPr lang="en-US" sz="9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12 / 15</a:t>
            </a:r>
            <a:endParaRPr lang="en-US" sz="800" dirty="0"/>
          </a:p>
        </p:txBody>
      </p:sp>
      <p:pic>
        <p:nvPicPr>
          <p:cNvPr id="21" name="Picture 20">
            <a:extLst>
              <a:ext uri="{FF2B5EF4-FFF2-40B4-BE49-F238E27FC236}">
                <a16:creationId xmlns:a16="http://schemas.microsoft.com/office/drawing/2014/main" id="{2363A530-3F8C-B38F-86C1-7D1D1093BC81}"/>
              </a:ext>
            </a:extLst>
          </p:cNvPr>
          <p:cNvPicPr>
            <a:picLocks noChangeAspect="1"/>
          </p:cNvPicPr>
          <p:nvPr/>
        </p:nvPicPr>
        <p:blipFill>
          <a:blip r:embed="rId3"/>
          <a:stretch>
            <a:fillRect/>
          </a:stretch>
        </p:blipFill>
        <p:spPr>
          <a:xfrm>
            <a:off x="5823618" y="2380168"/>
            <a:ext cx="1750278" cy="10488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13</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Q13  —  Avg Customer Satisfaction Score by Card Category</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200" i="1" dirty="0">
                <a:solidFill>
                  <a:srgbClr val="1E293B"/>
                </a:solidFill>
                <a:latin typeface="Calibri" pitchFamily="34" charset="0"/>
                <a:ea typeface="Calibri" pitchFamily="34" charset="-122"/>
                <a:cs typeface="Calibri" pitchFamily="34" charset="-120"/>
              </a:rPr>
              <a:t>Uses ALLEXCEPT to calculate the average satisfaction score within each Card_Category group, bridging the Customer and CreditCard tables via the 1:1 relationship.</a:t>
            </a:r>
            <a:endParaRPr lang="en-US" sz="1200" dirty="0"/>
          </a:p>
        </p:txBody>
      </p:sp>
      <p:sp>
        <p:nvSpPr>
          <p:cNvPr id="8" name="Shape 6"/>
          <p:cNvSpPr/>
          <p:nvPr/>
        </p:nvSpPr>
        <p:spPr>
          <a:xfrm>
            <a:off x="274320" y="1517904"/>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400" dirty="0">
              <a:solidFill>
                <a:schemeClr val="bg1"/>
              </a:solidFill>
            </a:endParaRPr>
          </a:p>
          <a:p>
            <a:endParaRPr lang="en-IN" sz="1400" dirty="0">
              <a:solidFill>
                <a:schemeClr val="bg1"/>
              </a:solidFill>
            </a:endParaRPr>
          </a:p>
          <a:p>
            <a:endParaRPr lang="en-IN" sz="1400" dirty="0">
              <a:solidFill>
                <a:schemeClr val="bg1"/>
              </a:solidFill>
            </a:endParaRPr>
          </a:p>
          <a:p>
            <a:r>
              <a:rPr lang="en-IN" sz="1600" dirty="0" err="1">
                <a:solidFill>
                  <a:schemeClr val="bg1"/>
                </a:solidFill>
              </a:rPr>
              <a:t>customer_satisfaction_score</a:t>
            </a:r>
            <a:r>
              <a:rPr lang="en-IN" sz="1600" dirty="0">
                <a:solidFill>
                  <a:schemeClr val="bg1"/>
                </a:solidFill>
              </a:rPr>
              <a:t> =</a:t>
            </a:r>
          </a:p>
          <a:p>
            <a:endParaRPr lang="en-IN" sz="1600" dirty="0">
              <a:solidFill>
                <a:schemeClr val="bg1"/>
              </a:solidFill>
            </a:endParaRPr>
          </a:p>
          <a:p>
            <a:r>
              <a:rPr lang="en-IN" sz="1400" dirty="0">
                <a:solidFill>
                  <a:schemeClr val="bg1"/>
                </a:solidFill>
              </a:rPr>
              <a:t>CALCULATE(AVERAGE('Customer (new)'[</a:t>
            </a:r>
            <a:r>
              <a:rPr lang="en-IN" sz="1400" dirty="0" err="1">
                <a:solidFill>
                  <a:schemeClr val="bg1"/>
                </a:solidFill>
              </a:rPr>
              <a:t>Cust_Satisfaction_Score</a:t>
            </a:r>
            <a:r>
              <a:rPr lang="en-IN" sz="1400" dirty="0">
                <a:solidFill>
                  <a:schemeClr val="bg1"/>
                </a:solidFill>
              </a:rPr>
              <a:t>]),</a:t>
            </a:r>
          </a:p>
          <a:p>
            <a:r>
              <a:rPr lang="en-IN" sz="1400" dirty="0">
                <a:solidFill>
                  <a:schemeClr val="bg1"/>
                </a:solidFill>
              </a:rPr>
              <a:t>ALLEXCEPT('</a:t>
            </a:r>
            <a:r>
              <a:rPr lang="en-IN" sz="1400" dirty="0" err="1">
                <a:solidFill>
                  <a:schemeClr val="bg1"/>
                </a:solidFill>
              </a:rPr>
              <a:t>Creditcard</a:t>
            </a:r>
            <a:r>
              <a:rPr lang="en-IN" sz="1400" dirty="0">
                <a:solidFill>
                  <a:schemeClr val="bg1"/>
                </a:solidFill>
              </a:rPr>
              <a:t> (New)','</a:t>
            </a:r>
            <a:r>
              <a:rPr lang="en-IN" sz="1400" dirty="0" err="1">
                <a:solidFill>
                  <a:schemeClr val="bg1"/>
                </a:solidFill>
              </a:rPr>
              <a:t>Creditcard</a:t>
            </a:r>
            <a:r>
              <a:rPr lang="en-IN" sz="1400" dirty="0">
                <a:solidFill>
                  <a:schemeClr val="bg1"/>
                </a:solidFill>
              </a:rPr>
              <a:t> (New)'[</a:t>
            </a:r>
            <a:r>
              <a:rPr lang="en-IN" sz="1400" dirty="0" err="1">
                <a:solidFill>
                  <a:schemeClr val="bg1"/>
                </a:solidFill>
              </a:rPr>
              <a:t>Card_Category</a:t>
            </a:r>
            <a:r>
              <a:rPr lang="en-IN" sz="1400" dirty="0">
                <a:solidFill>
                  <a:schemeClr val="bg1"/>
                </a:solidFill>
              </a:rPr>
              <a:t>]))</a:t>
            </a:r>
          </a:p>
          <a:p>
            <a:endParaRPr lang="en-IN" dirty="0"/>
          </a:p>
        </p:txBody>
      </p:sp>
      <p:sp>
        <p:nvSpPr>
          <p:cNvPr id="9" name="Text 7"/>
          <p:cNvSpPr/>
          <p:nvPr/>
        </p:nvSpPr>
        <p:spPr>
          <a:xfrm>
            <a:off x="457200" y="1640645"/>
            <a:ext cx="1828800" cy="256032"/>
          </a:xfrm>
          <a:prstGeom prst="rect">
            <a:avLst/>
          </a:prstGeom>
          <a:noFill/>
          <a:ln/>
        </p:spPr>
        <p:txBody>
          <a:bodyPr wrap="square" lIns="0" tIns="0" rIns="0" bIns="0" rtlCol="0" anchor="ctr"/>
          <a:lstStyle/>
          <a:p>
            <a:pPr marL="0" indent="0">
              <a:buNone/>
            </a:pPr>
            <a:r>
              <a:rPr lang="en-US" sz="1400" b="1" kern="0" spc="300" dirty="0">
                <a:solidFill>
                  <a:srgbClr val="F59E0B"/>
                </a:solidFill>
                <a:latin typeface="Calibri" pitchFamily="34" charset="0"/>
                <a:ea typeface="Calibri" pitchFamily="34" charset="-122"/>
                <a:cs typeface="Calibri" pitchFamily="34" charset="-120"/>
              </a:rPr>
              <a:t>DAX FORMULA</a:t>
            </a:r>
            <a:endParaRPr lang="en-US" sz="14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13 / 15</a:t>
            </a:r>
            <a:endParaRPr lang="en-US" sz="800" dirty="0"/>
          </a:p>
        </p:txBody>
      </p:sp>
      <p:pic>
        <p:nvPicPr>
          <p:cNvPr id="22" name="Content Placeholder 6">
            <a:extLst>
              <a:ext uri="{FF2B5EF4-FFF2-40B4-BE49-F238E27FC236}">
                <a16:creationId xmlns:a16="http://schemas.microsoft.com/office/drawing/2014/main" id="{024D6210-0878-8AE5-18A8-D0E248D3083C}"/>
              </a:ext>
            </a:extLst>
          </p:cNvPr>
          <p:cNvPicPr>
            <a:picLocks noChangeAspect="1"/>
          </p:cNvPicPr>
          <p:nvPr/>
        </p:nvPicPr>
        <p:blipFill>
          <a:blip r:embed="rId3"/>
          <a:srcRect l="2613" t="6104" r="2613" b="7743"/>
          <a:stretch>
            <a:fillRect/>
          </a:stretch>
        </p:blipFill>
        <p:spPr>
          <a:xfrm>
            <a:off x="5219115" y="2185945"/>
            <a:ext cx="2672861" cy="14259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14</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Q14  —  Loan Approval vs Credit Limit Analysis</a:t>
            </a:r>
            <a:endParaRPr lang="en-US" sz="1400" dirty="0"/>
          </a:p>
        </p:txBody>
      </p:sp>
      <p:sp>
        <p:nvSpPr>
          <p:cNvPr id="6" name="Shape 4"/>
          <p:cNvSpPr/>
          <p:nvPr/>
        </p:nvSpPr>
        <p:spPr>
          <a:xfrm>
            <a:off x="274320" y="749808"/>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Compares the average credit limit for clients who have a personal loan versus those who don't, revealing how credit limit affects loan approval decisions.</a:t>
            </a:r>
            <a:endParaRPr lang="en-US" sz="1400" dirty="0"/>
          </a:p>
        </p:txBody>
      </p:sp>
      <p:sp>
        <p:nvSpPr>
          <p:cNvPr id="8" name="Shape 6"/>
          <p:cNvSpPr/>
          <p:nvPr/>
        </p:nvSpPr>
        <p:spPr>
          <a:xfrm>
            <a:off x="27432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600" dirty="0">
              <a:solidFill>
                <a:schemeClr val="bg1"/>
              </a:solidFill>
            </a:endParaRPr>
          </a:p>
          <a:p>
            <a:endParaRPr lang="en-IN" sz="1600" dirty="0">
              <a:solidFill>
                <a:schemeClr val="bg1"/>
              </a:solidFill>
            </a:endParaRPr>
          </a:p>
          <a:p>
            <a:endParaRPr lang="en-IN" sz="1600" dirty="0">
              <a:solidFill>
                <a:schemeClr val="bg1"/>
              </a:solidFill>
            </a:endParaRPr>
          </a:p>
          <a:p>
            <a:r>
              <a:rPr lang="en-IN" sz="1600" dirty="0" err="1">
                <a:solidFill>
                  <a:schemeClr val="bg1"/>
                </a:solidFill>
              </a:rPr>
              <a:t>loanapproval_vs_creditlimit</a:t>
            </a:r>
            <a:r>
              <a:rPr lang="en-IN" sz="1600" dirty="0">
                <a:solidFill>
                  <a:schemeClr val="bg1"/>
                </a:solidFill>
              </a:rPr>
              <a:t> =</a:t>
            </a:r>
          </a:p>
          <a:p>
            <a:endParaRPr lang="en-IN" sz="1600" dirty="0">
              <a:solidFill>
                <a:schemeClr val="bg1"/>
              </a:solidFill>
            </a:endParaRPr>
          </a:p>
          <a:p>
            <a:r>
              <a:rPr lang="en-IN" sz="1400" dirty="0">
                <a:solidFill>
                  <a:schemeClr val="bg1"/>
                </a:solidFill>
              </a:rPr>
              <a:t>CALCULATE(AVERAGE('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Credit_Limit</a:t>
            </a:r>
            <a:r>
              <a:rPr lang="en-IN" sz="1400" dirty="0">
                <a:solidFill>
                  <a:schemeClr val="bg1"/>
                </a:solidFill>
              </a:rPr>
              <a:t>]), ALLEXCEPT('Customer (new)','Customer (new)'[</a:t>
            </a:r>
            <a:r>
              <a:rPr lang="en-IN" sz="1400" dirty="0" err="1">
                <a:solidFill>
                  <a:schemeClr val="bg1"/>
                </a:solidFill>
              </a:rPr>
              <a:t>Personal_loan</a:t>
            </a:r>
            <a:r>
              <a:rPr lang="en-IN" sz="1400" dirty="0">
                <a:solidFill>
                  <a:schemeClr val="bg1"/>
                </a:solidFill>
              </a:rPr>
              <a:t>]))</a:t>
            </a:r>
          </a:p>
          <a:p>
            <a:endParaRPr lang="en-IN" dirty="0"/>
          </a:p>
        </p:txBody>
      </p:sp>
      <p:sp>
        <p:nvSpPr>
          <p:cNvPr id="9" name="Text 7"/>
          <p:cNvSpPr/>
          <p:nvPr/>
        </p:nvSpPr>
        <p:spPr>
          <a:xfrm>
            <a:off x="438912" y="1682496"/>
            <a:ext cx="1828800" cy="256032"/>
          </a:xfrm>
          <a:prstGeom prst="rect">
            <a:avLst/>
          </a:prstGeom>
          <a:noFill/>
          <a:ln/>
        </p:spPr>
        <p:txBody>
          <a:bodyPr wrap="square" lIns="0" tIns="0" rIns="0" bIns="0" rtlCol="0" anchor="ctr"/>
          <a:lstStyle/>
          <a:p>
            <a:pPr marL="0" indent="0">
              <a:buNone/>
            </a:pPr>
            <a:r>
              <a:rPr lang="en-US" sz="1400" b="1" kern="0" spc="300" dirty="0">
                <a:solidFill>
                  <a:srgbClr val="F59E0B"/>
                </a:solidFill>
                <a:latin typeface="Calibri" pitchFamily="34" charset="0"/>
                <a:ea typeface="Calibri" pitchFamily="34" charset="-122"/>
                <a:cs typeface="Calibri" pitchFamily="34" charset="-120"/>
              </a:rPr>
              <a:t>DAX FORMULA</a:t>
            </a:r>
            <a:endParaRPr lang="en-US" sz="1400" dirty="0"/>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572000" y="1490472"/>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14 / 15</a:t>
            </a:r>
            <a:endParaRPr lang="en-US" sz="800" dirty="0"/>
          </a:p>
        </p:txBody>
      </p:sp>
      <p:pic>
        <p:nvPicPr>
          <p:cNvPr id="21" name="Picture 20">
            <a:extLst>
              <a:ext uri="{FF2B5EF4-FFF2-40B4-BE49-F238E27FC236}">
                <a16:creationId xmlns:a16="http://schemas.microsoft.com/office/drawing/2014/main" id="{28BE97C2-DA87-F9A8-93DC-3F7BB81D476C}"/>
              </a:ext>
            </a:extLst>
          </p:cNvPr>
          <p:cNvPicPr>
            <a:picLocks noChangeAspect="1"/>
          </p:cNvPicPr>
          <p:nvPr/>
        </p:nvPicPr>
        <p:blipFill>
          <a:blip r:embed="rId3"/>
          <a:srcRect l="2290"/>
          <a:stretch>
            <a:fillRect/>
          </a:stretch>
        </p:blipFill>
        <p:spPr>
          <a:xfrm>
            <a:off x="5198011" y="2268687"/>
            <a:ext cx="2701289" cy="113190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F5C"/>
          </a:solidFill>
          <a:ln w="12700">
            <a:solidFill>
              <a:srgbClr val="0D1F5C"/>
            </a:solidFill>
            <a:prstDash val="solid"/>
          </a:ln>
        </p:spPr>
        <p:txBody>
          <a:bodyPr/>
          <a:lstStyle/>
          <a:p>
            <a:endParaRPr lang="en-IN"/>
          </a:p>
        </p:txBody>
      </p:sp>
      <p:sp>
        <p:nvSpPr>
          <p:cNvPr id="3" name="Shape 1"/>
          <p:cNvSpPr/>
          <p:nvPr/>
        </p:nvSpPr>
        <p:spPr>
          <a:xfrm>
            <a:off x="201168" y="73152"/>
            <a:ext cx="475488" cy="475488"/>
          </a:xfrm>
          <a:prstGeom prst="ellipse">
            <a:avLst/>
          </a:prstGeom>
          <a:solidFill>
            <a:srgbClr val="F59E0B"/>
          </a:solidFill>
          <a:ln w="12700">
            <a:solidFill>
              <a:srgbClr val="F59E0B"/>
            </a:solidFill>
            <a:prstDash val="solid"/>
          </a:ln>
        </p:spPr>
        <p:txBody>
          <a:bodyPr/>
          <a:lstStyle/>
          <a:p>
            <a:endParaRPr lang="en-IN"/>
          </a:p>
        </p:txBody>
      </p:sp>
      <p:sp>
        <p:nvSpPr>
          <p:cNvPr id="4" name="Text 2"/>
          <p:cNvSpPr/>
          <p:nvPr/>
        </p:nvSpPr>
        <p:spPr>
          <a:xfrm>
            <a:off x="201168" y="82296"/>
            <a:ext cx="475488" cy="457200"/>
          </a:xfrm>
          <a:prstGeom prst="rect">
            <a:avLst/>
          </a:prstGeom>
          <a:noFill/>
          <a:ln/>
        </p:spPr>
        <p:txBody>
          <a:bodyPr wrap="square" lIns="0" tIns="0" rIns="0" bIns="0" rtlCol="0" anchor="ctr"/>
          <a:lstStyle/>
          <a:p>
            <a:pPr marL="0" indent="0" algn="ctr">
              <a:buNone/>
            </a:pPr>
            <a:r>
              <a:rPr lang="en-US" sz="1400" b="1" dirty="0">
                <a:solidFill>
                  <a:srgbClr val="0D1F5C"/>
                </a:solidFill>
                <a:latin typeface="Calibri" pitchFamily="34" charset="0"/>
                <a:ea typeface="Calibri" pitchFamily="34" charset="-122"/>
                <a:cs typeface="Calibri" pitchFamily="34" charset="-120"/>
              </a:rPr>
              <a:t>15</a:t>
            </a:r>
            <a:endParaRPr lang="en-US" sz="1400" dirty="0"/>
          </a:p>
        </p:txBody>
      </p:sp>
      <p:sp>
        <p:nvSpPr>
          <p:cNvPr id="5" name="Text 3"/>
          <p:cNvSpPr/>
          <p:nvPr/>
        </p:nvSpPr>
        <p:spPr>
          <a:xfrm>
            <a:off x="777240" y="91440"/>
            <a:ext cx="8046720" cy="4572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Q15  —  High Risk Clients Flag</a:t>
            </a:r>
            <a:endParaRPr lang="en-US" sz="1400" dirty="0"/>
          </a:p>
        </p:txBody>
      </p:sp>
      <p:sp>
        <p:nvSpPr>
          <p:cNvPr id="6" name="Shape 4"/>
          <p:cNvSpPr/>
          <p:nvPr/>
        </p:nvSpPr>
        <p:spPr>
          <a:xfrm>
            <a:off x="274320" y="776185"/>
            <a:ext cx="8595360" cy="658368"/>
          </a:xfrm>
          <a:prstGeom prst="roundRect">
            <a:avLst>
              <a:gd name="adj" fmla="val 11111"/>
            </a:avLst>
          </a:prstGeom>
          <a:solidFill>
            <a:srgbClr val="DBEAFE"/>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en-IN"/>
          </a:p>
        </p:txBody>
      </p:sp>
      <p:sp>
        <p:nvSpPr>
          <p:cNvPr id="7" name="Text 5"/>
          <p:cNvSpPr/>
          <p:nvPr/>
        </p:nvSpPr>
        <p:spPr>
          <a:xfrm>
            <a:off x="457200" y="786384"/>
            <a:ext cx="8229600" cy="585216"/>
          </a:xfrm>
          <a:prstGeom prst="rect">
            <a:avLst/>
          </a:prstGeom>
          <a:noFill/>
          <a:ln/>
        </p:spPr>
        <p:txBody>
          <a:bodyPr wrap="square" lIns="0" tIns="0" rIns="0" bIns="0" rtlCol="0" anchor="ctr"/>
          <a:lstStyle/>
          <a:p>
            <a:pPr marL="0" indent="0" algn="l">
              <a:buNone/>
            </a:pPr>
            <a:r>
              <a:rPr lang="en-US" sz="1400" i="1" dirty="0">
                <a:solidFill>
                  <a:srgbClr val="1E293B"/>
                </a:solidFill>
                <a:latin typeface="Calibri" pitchFamily="34" charset="0"/>
                <a:ea typeface="Calibri" pitchFamily="34" charset="-122"/>
                <a:cs typeface="Calibri" pitchFamily="34" charset="-120"/>
              </a:rPr>
              <a:t>Flags clients as 'High Risk' when their revolving balance exceeds 90% of their credit limit AND their utilization ratio exceeds 80%, combining both debt load signals.</a:t>
            </a:r>
            <a:endParaRPr lang="en-US" sz="1400" dirty="0"/>
          </a:p>
        </p:txBody>
      </p:sp>
      <p:sp>
        <p:nvSpPr>
          <p:cNvPr id="8" name="Shape 6"/>
          <p:cNvSpPr/>
          <p:nvPr/>
        </p:nvSpPr>
        <p:spPr>
          <a:xfrm>
            <a:off x="297180" y="1508760"/>
            <a:ext cx="4114800" cy="3291840"/>
          </a:xfrm>
          <a:prstGeom prst="roundRect">
            <a:avLst>
              <a:gd name="adj" fmla="val 2222"/>
            </a:avLst>
          </a:prstGeom>
          <a:solidFill>
            <a:srgbClr val="1E293B"/>
          </a:solidFill>
          <a:ln w="12700">
            <a:solidFill>
              <a:srgbClr val="334155"/>
            </a:solidFill>
            <a:prstDash val="solid"/>
          </a:ln>
          <a:effectLst>
            <a:outerShdw blurRad="101600" dist="38100" dir="2700000" algn="bl" rotWithShape="0">
              <a:srgbClr val="000000">
                <a:alpha val="10000"/>
              </a:srgbClr>
            </a:outerShdw>
          </a:effectLst>
        </p:spPr>
        <p:txBody>
          <a:bodyPr/>
          <a:lstStyle/>
          <a:p>
            <a:endParaRPr lang="en-IN" sz="1400" dirty="0">
              <a:solidFill>
                <a:schemeClr val="bg1"/>
              </a:solidFill>
            </a:endParaRPr>
          </a:p>
          <a:p>
            <a:endParaRPr lang="en-IN" sz="1400" dirty="0">
              <a:solidFill>
                <a:schemeClr val="bg1"/>
              </a:solidFill>
            </a:endParaRPr>
          </a:p>
          <a:p>
            <a:endParaRPr lang="en-IN" sz="1400" dirty="0">
              <a:solidFill>
                <a:schemeClr val="bg1"/>
              </a:solidFill>
            </a:endParaRPr>
          </a:p>
          <a:p>
            <a:r>
              <a:rPr lang="en-IN" sz="1400" dirty="0" err="1">
                <a:solidFill>
                  <a:schemeClr val="bg1"/>
                </a:solidFill>
              </a:rPr>
              <a:t>high_risk_clients</a:t>
            </a:r>
            <a:r>
              <a:rPr lang="en-IN" sz="1400" dirty="0">
                <a:solidFill>
                  <a:schemeClr val="bg1"/>
                </a:solidFill>
              </a:rPr>
              <a:t> = </a:t>
            </a:r>
          </a:p>
          <a:p>
            <a:endParaRPr lang="en-IN" sz="1400" dirty="0">
              <a:solidFill>
                <a:schemeClr val="bg1"/>
              </a:solidFill>
            </a:endParaRPr>
          </a:p>
          <a:p>
            <a:r>
              <a:rPr lang="en-IN" sz="1400" dirty="0">
                <a:solidFill>
                  <a:schemeClr val="bg1"/>
                </a:solidFill>
              </a:rPr>
              <a:t>VAR </a:t>
            </a:r>
            <a:r>
              <a:rPr lang="en-IN" sz="1400" dirty="0" err="1">
                <a:solidFill>
                  <a:schemeClr val="bg1"/>
                </a:solidFill>
              </a:rPr>
              <a:t>RevolvingPct</a:t>
            </a:r>
            <a:r>
              <a:rPr lang="en-IN" sz="1400" dirty="0">
                <a:solidFill>
                  <a:schemeClr val="bg1"/>
                </a:solidFill>
              </a:rPr>
              <a:t> = DIVIDE(AVERAGE('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Total_Revolving_Bal</a:t>
            </a:r>
            <a:r>
              <a:rPr lang="en-IN" sz="1400" dirty="0">
                <a:solidFill>
                  <a:schemeClr val="bg1"/>
                </a:solidFill>
              </a:rPr>
              <a:t>]),AVERAGE('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Credit_Limit</a:t>
            </a:r>
            <a:r>
              <a:rPr lang="en-IN" sz="1400" dirty="0">
                <a:solidFill>
                  <a:schemeClr val="bg1"/>
                </a:solidFill>
              </a:rPr>
              <a:t>]))</a:t>
            </a:r>
          </a:p>
          <a:p>
            <a:endParaRPr lang="en-IN" sz="1400" dirty="0">
              <a:solidFill>
                <a:schemeClr val="bg1"/>
              </a:solidFill>
            </a:endParaRPr>
          </a:p>
          <a:p>
            <a:r>
              <a:rPr lang="en-IN" sz="1400" dirty="0">
                <a:solidFill>
                  <a:schemeClr val="bg1"/>
                </a:solidFill>
              </a:rPr>
              <a:t>VAR </a:t>
            </a:r>
            <a:r>
              <a:rPr lang="en-IN" sz="1400" dirty="0" err="1">
                <a:solidFill>
                  <a:schemeClr val="bg1"/>
                </a:solidFill>
              </a:rPr>
              <a:t>utilRatio</a:t>
            </a:r>
            <a:r>
              <a:rPr lang="en-IN" sz="1400" dirty="0">
                <a:solidFill>
                  <a:schemeClr val="bg1"/>
                </a:solidFill>
              </a:rPr>
              <a:t> = AVERAGE('</a:t>
            </a:r>
            <a:r>
              <a:rPr lang="en-IN" sz="1400" dirty="0" err="1">
                <a:solidFill>
                  <a:schemeClr val="bg1"/>
                </a:solidFill>
              </a:rPr>
              <a:t>Creditcard</a:t>
            </a:r>
            <a:r>
              <a:rPr lang="en-IN" sz="1400" dirty="0">
                <a:solidFill>
                  <a:schemeClr val="bg1"/>
                </a:solidFill>
              </a:rPr>
              <a:t> (New)'[</a:t>
            </a:r>
            <a:r>
              <a:rPr lang="en-IN" sz="1400" dirty="0" err="1">
                <a:solidFill>
                  <a:schemeClr val="bg1"/>
                </a:solidFill>
              </a:rPr>
              <a:t>Avg_Utilization_Ratio</a:t>
            </a:r>
            <a:r>
              <a:rPr lang="en-IN" sz="1400" dirty="0">
                <a:solidFill>
                  <a:schemeClr val="bg1"/>
                </a:solidFill>
              </a:rPr>
              <a:t>])</a:t>
            </a:r>
          </a:p>
          <a:p>
            <a:endParaRPr lang="en-IN" sz="1400" dirty="0">
              <a:solidFill>
                <a:schemeClr val="bg1"/>
              </a:solidFill>
            </a:endParaRPr>
          </a:p>
          <a:p>
            <a:r>
              <a:rPr lang="en-IN" sz="1400" dirty="0">
                <a:solidFill>
                  <a:schemeClr val="bg1"/>
                </a:solidFill>
              </a:rPr>
              <a:t>RETURN IF(</a:t>
            </a:r>
            <a:r>
              <a:rPr lang="en-IN" sz="1400" dirty="0" err="1">
                <a:solidFill>
                  <a:schemeClr val="bg1"/>
                </a:solidFill>
              </a:rPr>
              <a:t>RevolvingPct</a:t>
            </a:r>
            <a:r>
              <a:rPr lang="en-IN" sz="1400" dirty="0">
                <a:solidFill>
                  <a:schemeClr val="bg1"/>
                </a:solidFill>
              </a:rPr>
              <a:t>&gt;0.9 &amp;&amp; </a:t>
            </a:r>
            <a:r>
              <a:rPr lang="en-IN" sz="1400" dirty="0" err="1">
                <a:solidFill>
                  <a:schemeClr val="bg1"/>
                </a:solidFill>
              </a:rPr>
              <a:t>utilRatio</a:t>
            </a:r>
            <a:r>
              <a:rPr lang="en-IN" sz="1400" dirty="0">
                <a:solidFill>
                  <a:schemeClr val="bg1"/>
                </a:solidFill>
              </a:rPr>
              <a:t>&gt;0.8, "high </a:t>
            </a:r>
            <a:r>
              <a:rPr lang="en-IN" sz="1400" dirty="0" err="1">
                <a:solidFill>
                  <a:schemeClr val="bg1"/>
                </a:solidFill>
              </a:rPr>
              <a:t>risk","normal</a:t>
            </a:r>
            <a:r>
              <a:rPr lang="en-IN" sz="1400" dirty="0">
                <a:solidFill>
                  <a:schemeClr val="bg1"/>
                </a:solidFill>
              </a:rPr>
              <a:t>")</a:t>
            </a:r>
          </a:p>
          <a:p>
            <a:br>
              <a:rPr lang="en-IN" sz="1400" dirty="0">
                <a:solidFill>
                  <a:schemeClr val="bg1"/>
                </a:solidFill>
              </a:rPr>
            </a:br>
            <a:endParaRPr lang="en-IN" sz="1400" dirty="0">
              <a:solidFill>
                <a:schemeClr val="bg1"/>
              </a:solidFill>
            </a:endParaRPr>
          </a:p>
          <a:p>
            <a:endParaRPr lang="en-IN" dirty="0"/>
          </a:p>
        </p:txBody>
      </p:sp>
      <p:sp>
        <p:nvSpPr>
          <p:cNvPr id="9" name="Text 7"/>
          <p:cNvSpPr/>
          <p:nvPr/>
        </p:nvSpPr>
        <p:spPr>
          <a:xfrm>
            <a:off x="438912" y="1644865"/>
            <a:ext cx="1828800" cy="256032"/>
          </a:xfrm>
          <a:prstGeom prst="rect">
            <a:avLst/>
          </a:prstGeom>
          <a:noFill/>
          <a:ln/>
        </p:spPr>
        <p:txBody>
          <a:bodyPr wrap="square" lIns="0" tIns="0" rIns="0" bIns="0"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DAX FORMULA</a:t>
            </a:r>
          </a:p>
        </p:txBody>
      </p:sp>
      <p:sp>
        <p:nvSpPr>
          <p:cNvPr id="10" name="Text 8"/>
          <p:cNvSpPr/>
          <p:nvPr/>
        </p:nvSpPr>
        <p:spPr>
          <a:xfrm>
            <a:off x="365760" y="1847088"/>
            <a:ext cx="3840480" cy="2834640"/>
          </a:xfrm>
          <a:prstGeom prst="rect">
            <a:avLst/>
          </a:prstGeom>
          <a:noFill/>
          <a:ln/>
        </p:spPr>
        <p:txBody>
          <a:bodyPr wrap="square" lIns="0" tIns="0" rIns="0" bIns="0" rtlCol="0" anchor="t"/>
          <a:lstStyle/>
          <a:p>
            <a:pPr marL="0" indent="0" algn="l">
              <a:buNone/>
            </a:pPr>
            <a:endParaRPr lang="en-US" sz="850" dirty="0"/>
          </a:p>
        </p:txBody>
      </p:sp>
      <p:sp>
        <p:nvSpPr>
          <p:cNvPr id="11" name="Shape 9"/>
          <p:cNvSpPr/>
          <p:nvPr/>
        </p:nvSpPr>
        <p:spPr>
          <a:xfrm>
            <a:off x="4617720" y="1508760"/>
            <a:ext cx="4251960" cy="3291840"/>
          </a:xfrm>
          <a:prstGeom prst="roundRect">
            <a:avLst>
              <a:gd name="adj" fmla="val 2222"/>
            </a:avLst>
          </a:prstGeom>
          <a:solidFill>
            <a:srgbClr val="F8FAFC"/>
          </a:solidFill>
          <a:ln w="12700">
            <a:solidFill>
              <a:srgbClr val="0891B2"/>
            </a:solidFill>
            <a:prstDash val="dash"/>
          </a:ln>
          <a:effectLst>
            <a:outerShdw blurRad="101600" dist="38100" dir="2700000" algn="bl" rotWithShape="0">
              <a:srgbClr val="000000">
                <a:alpha val="10000"/>
              </a:srgbClr>
            </a:outerShdw>
          </a:effectLst>
        </p:spPr>
        <p:txBody>
          <a:bodyPr/>
          <a:lstStyle/>
          <a:p>
            <a:endParaRPr lang="en-IN" dirty="0"/>
          </a:p>
        </p:txBody>
      </p:sp>
      <p:sp>
        <p:nvSpPr>
          <p:cNvPr id="14" name="Text 12"/>
          <p:cNvSpPr/>
          <p:nvPr/>
        </p:nvSpPr>
        <p:spPr>
          <a:xfrm>
            <a:off x="4663440" y="3703320"/>
            <a:ext cx="4160520" cy="365760"/>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4663440" y="4069080"/>
            <a:ext cx="4160520" cy="274320"/>
          </a:xfrm>
          <a:prstGeom prst="rect">
            <a:avLst/>
          </a:prstGeom>
          <a:noFill/>
          <a:ln/>
        </p:spPr>
        <p:txBody>
          <a:bodyPr wrap="square" lIns="0" tIns="0" rIns="0" bIns="0" rtlCol="0" anchor="ctr"/>
          <a:lstStyle/>
          <a:p>
            <a:pPr marL="0" indent="0" algn="ctr">
              <a:buNone/>
            </a:pPr>
            <a:endParaRPr lang="en-US" sz="950" dirty="0"/>
          </a:p>
        </p:txBody>
      </p:sp>
      <p:sp>
        <p:nvSpPr>
          <p:cNvPr id="16" name="Text 14"/>
          <p:cNvSpPr/>
          <p:nvPr/>
        </p:nvSpPr>
        <p:spPr>
          <a:xfrm>
            <a:off x="4709160" y="1572768"/>
            <a:ext cx="2011680" cy="237744"/>
          </a:xfrm>
          <a:prstGeom prst="rect">
            <a:avLst/>
          </a:prstGeom>
          <a:noFill/>
          <a:ln/>
        </p:spPr>
        <p:txBody>
          <a:bodyPr wrap="square" lIns="0" tIns="0" rIns="0" bIns="0" rtlCol="0" anchor="ctr"/>
          <a:lstStyle/>
          <a:p>
            <a:pPr marL="0" indent="0">
              <a:buNone/>
            </a:pPr>
            <a:r>
              <a:rPr lang="en-US" sz="800" b="1" kern="0" spc="300" dirty="0">
                <a:solidFill>
                  <a:srgbClr val="0891B2"/>
                </a:solidFill>
                <a:latin typeface="Calibri" pitchFamily="34" charset="0"/>
                <a:ea typeface="Calibri" pitchFamily="34" charset="-122"/>
                <a:cs typeface="Calibri" pitchFamily="34" charset="-120"/>
              </a:rPr>
              <a:t>POWER BI OUTPUT</a:t>
            </a:r>
            <a:endParaRPr lang="en-US" sz="800" dirty="0"/>
          </a:p>
        </p:txBody>
      </p:sp>
      <p:sp>
        <p:nvSpPr>
          <p:cNvPr id="17" name="Shape 15"/>
          <p:cNvSpPr/>
          <p:nvPr/>
        </p:nvSpPr>
        <p:spPr>
          <a:xfrm>
            <a:off x="0" y="4818888"/>
            <a:ext cx="9144000" cy="329184"/>
          </a:xfrm>
          <a:prstGeom prst="rect">
            <a:avLst/>
          </a:prstGeom>
          <a:solidFill>
            <a:srgbClr val="0D1F5C"/>
          </a:solidFill>
          <a:ln w="12700">
            <a:solidFill>
              <a:srgbClr val="0D1F5C"/>
            </a:solidFill>
            <a:prstDash val="solid"/>
          </a:ln>
        </p:spPr>
        <p:txBody>
          <a:bodyPr/>
          <a:lstStyle/>
          <a:p>
            <a:endParaRPr lang="en-IN"/>
          </a:p>
        </p:txBody>
      </p:sp>
      <p:sp>
        <p:nvSpPr>
          <p:cNvPr id="18" name="Text 16"/>
          <p:cNvSpPr/>
          <p:nvPr/>
        </p:nvSpPr>
        <p:spPr>
          <a:xfrm>
            <a:off x="274320" y="4846320"/>
            <a:ext cx="6400800" cy="256032"/>
          </a:xfrm>
          <a:prstGeom prst="rect">
            <a:avLst/>
          </a:prstGeom>
          <a:noFill/>
          <a:ln/>
        </p:spPr>
        <p:txBody>
          <a:bodyPr wrap="square" lIns="0" tIns="0" rIns="0" bIns="0" rtlCol="0" anchor="ctr"/>
          <a:lstStyle/>
          <a:p>
            <a:pPr marL="0" indent="0">
              <a:buNone/>
            </a:pPr>
            <a:r>
              <a:rPr lang="en-US" sz="800" dirty="0">
                <a:solidFill>
                  <a:srgbClr val="93C5FD"/>
                </a:solidFill>
                <a:latin typeface="Calibri" pitchFamily="34" charset="0"/>
                <a:ea typeface="Calibri" pitchFamily="34" charset="-122"/>
                <a:cs typeface="Calibri" pitchFamily="34" charset="-120"/>
              </a:rPr>
              <a:t>Financial Analysis Dashboard  •  Power BI Project</a:t>
            </a:r>
            <a:endParaRPr lang="en-US" sz="800" dirty="0"/>
          </a:p>
        </p:txBody>
      </p:sp>
      <p:sp>
        <p:nvSpPr>
          <p:cNvPr id="19" name="Text 17"/>
          <p:cNvSpPr/>
          <p:nvPr/>
        </p:nvSpPr>
        <p:spPr>
          <a:xfrm>
            <a:off x="8046720" y="4846320"/>
            <a:ext cx="914400" cy="256032"/>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15 / 15</a:t>
            </a:r>
            <a:endParaRPr lang="en-US" sz="800" dirty="0"/>
          </a:p>
        </p:txBody>
      </p:sp>
      <p:pic>
        <p:nvPicPr>
          <p:cNvPr id="21" name="Picture 20">
            <a:extLst>
              <a:ext uri="{FF2B5EF4-FFF2-40B4-BE49-F238E27FC236}">
                <a16:creationId xmlns:a16="http://schemas.microsoft.com/office/drawing/2014/main" id="{8504BA48-8B96-F499-CA88-6EA90536CF3F}"/>
              </a:ext>
            </a:extLst>
          </p:cNvPr>
          <p:cNvPicPr>
            <a:picLocks noChangeAspect="1"/>
          </p:cNvPicPr>
          <p:nvPr/>
        </p:nvPicPr>
        <p:blipFill>
          <a:blip r:embed="rId3"/>
          <a:stretch>
            <a:fillRect/>
          </a:stretch>
        </p:blipFill>
        <p:spPr>
          <a:xfrm>
            <a:off x="6391729" y="1608289"/>
            <a:ext cx="1654991" cy="30368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5C"/>
        </a:solidFill>
        <a:effectLst/>
      </p:bgPr>
    </p:bg>
    <p:spTree>
      <p:nvGrpSpPr>
        <p:cNvPr id="1" name=""/>
        <p:cNvGrpSpPr/>
        <p:nvPr/>
      </p:nvGrpSpPr>
      <p:grpSpPr>
        <a:xfrm>
          <a:off x="0" y="0"/>
          <a:ext cx="0" cy="0"/>
          <a:chOff x="0" y="0"/>
          <a:chExt cx="0" cy="0"/>
        </a:xfrm>
      </p:grpSpPr>
      <p:sp>
        <p:nvSpPr>
          <p:cNvPr id="2" name="Shape 0"/>
          <p:cNvSpPr/>
          <p:nvPr/>
        </p:nvSpPr>
        <p:spPr>
          <a:xfrm>
            <a:off x="-731520" y="-731520"/>
            <a:ext cx="3474720" cy="3474720"/>
          </a:xfrm>
          <a:prstGeom prst="ellipse">
            <a:avLst/>
          </a:prstGeom>
          <a:solidFill>
            <a:srgbClr val="0891B2">
              <a:alpha val="20000"/>
            </a:srgbClr>
          </a:solidFill>
          <a:ln w="12700">
            <a:solidFill>
              <a:srgbClr val="0891B2">
                <a:alpha val="20000"/>
              </a:srgbClr>
            </a:solidFill>
            <a:prstDash val="solid"/>
          </a:ln>
        </p:spPr>
        <p:txBody>
          <a:bodyPr/>
          <a:lstStyle/>
          <a:p>
            <a:endParaRPr lang="en-IN"/>
          </a:p>
        </p:txBody>
      </p:sp>
      <p:sp>
        <p:nvSpPr>
          <p:cNvPr id="3" name="Shape 1"/>
          <p:cNvSpPr/>
          <p:nvPr/>
        </p:nvSpPr>
        <p:spPr>
          <a:xfrm>
            <a:off x="6858000" y="2926080"/>
            <a:ext cx="3200400" cy="3200400"/>
          </a:xfrm>
          <a:prstGeom prst="ellipse">
            <a:avLst/>
          </a:prstGeom>
          <a:solidFill>
            <a:srgbClr val="F59E0B">
              <a:alpha val="18000"/>
            </a:srgbClr>
          </a:solidFill>
          <a:ln w="12700">
            <a:solidFill>
              <a:srgbClr val="F59E0B">
                <a:alpha val="18000"/>
              </a:srgbClr>
            </a:solidFill>
            <a:prstDash val="solid"/>
          </a:ln>
        </p:spPr>
        <p:txBody>
          <a:bodyPr/>
          <a:lstStyle/>
          <a:p>
            <a:endParaRPr lang="en-IN"/>
          </a:p>
        </p:txBody>
      </p:sp>
      <p:sp>
        <p:nvSpPr>
          <p:cNvPr id="4" name="Shape 2"/>
          <p:cNvSpPr/>
          <p:nvPr/>
        </p:nvSpPr>
        <p:spPr>
          <a:xfrm>
            <a:off x="7772400" y="-457200"/>
            <a:ext cx="1828800" cy="1828800"/>
          </a:xfrm>
          <a:prstGeom prst="ellipse">
            <a:avLst/>
          </a:prstGeom>
          <a:solidFill>
            <a:srgbClr val="0891B2">
              <a:alpha val="25000"/>
            </a:srgbClr>
          </a:solidFill>
          <a:ln w="12700">
            <a:solidFill>
              <a:srgbClr val="0891B2">
                <a:alpha val="25000"/>
              </a:srgbClr>
            </a:solidFill>
            <a:prstDash val="solid"/>
          </a:ln>
        </p:spPr>
        <p:txBody>
          <a:bodyPr/>
          <a:lstStyle/>
          <a:p>
            <a:endParaRPr lang="en-IN"/>
          </a:p>
        </p:txBody>
      </p:sp>
      <p:sp>
        <p:nvSpPr>
          <p:cNvPr id="5" name="Shape 3"/>
          <p:cNvSpPr/>
          <p:nvPr/>
        </p:nvSpPr>
        <p:spPr>
          <a:xfrm>
            <a:off x="3200400" y="1005840"/>
            <a:ext cx="2743200" cy="36576"/>
          </a:xfrm>
          <a:prstGeom prst="rect">
            <a:avLst/>
          </a:prstGeom>
          <a:solidFill>
            <a:srgbClr val="F59E0B"/>
          </a:solidFill>
          <a:ln w="12700">
            <a:solidFill>
              <a:srgbClr val="F59E0B"/>
            </a:solidFill>
            <a:prstDash val="solid"/>
          </a:ln>
        </p:spPr>
        <p:txBody>
          <a:bodyPr/>
          <a:lstStyle/>
          <a:p>
            <a:endParaRPr lang="en-IN"/>
          </a:p>
        </p:txBody>
      </p:sp>
      <p:sp>
        <p:nvSpPr>
          <p:cNvPr id="6" name="Text 4"/>
          <p:cNvSpPr/>
          <p:nvPr/>
        </p:nvSpPr>
        <p:spPr>
          <a:xfrm>
            <a:off x="457200" y="1115568"/>
            <a:ext cx="8229600" cy="109728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7" name="Text 5"/>
          <p:cNvSpPr/>
          <p:nvPr/>
        </p:nvSpPr>
        <p:spPr>
          <a:xfrm>
            <a:off x="457200" y="2176272"/>
            <a:ext cx="8229600" cy="502920"/>
          </a:xfrm>
          <a:prstGeom prst="rect">
            <a:avLst/>
          </a:prstGeom>
          <a:noFill/>
          <a:ln/>
        </p:spPr>
        <p:txBody>
          <a:bodyPr wrap="square" lIns="0" tIns="0" rIns="0" bIns="0" rtlCol="0" anchor="ctr"/>
          <a:lstStyle/>
          <a:p>
            <a:pPr marL="0" indent="0" algn="ctr">
              <a:buNone/>
            </a:pPr>
            <a:r>
              <a:rPr lang="en-US" sz="2200" i="1" dirty="0">
                <a:solidFill>
                  <a:srgbClr val="F59E0B"/>
                </a:solidFill>
                <a:latin typeface="Cambria" pitchFamily="34" charset="0"/>
                <a:ea typeface="Cambria" pitchFamily="34" charset="-122"/>
                <a:cs typeface="Cambria" pitchFamily="34" charset="-120"/>
              </a:rPr>
              <a:t>for your attention</a:t>
            </a:r>
            <a:endParaRPr lang="en-US" sz="2200" dirty="0"/>
          </a:p>
        </p:txBody>
      </p:sp>
      <p:sp>
        <p:nvSpPr>
          <p:cNvPr id="8" name="Shape 6"/>
          <p:cNvSpPr/>
          <p:nvPr/>
        </p:nvSpPr>
        <p:spPr>
          <a:xfrm>
            <a:off x="3200400" y="2788920"/>
            <a:ext cx="2743200" cy="36576"/>
          </a:xfrm>
          <a:prstGeom prst="rect">
            <a:avLst/>
          </a:prstGeom>
          <a:solidFill>
            <a:srgbClr val="F59E0B"/>
          </a:solidFill>
          <a:ln w="12700">
            <a:solidFill>
              <a:srgbClr val="F59E0B"/>
            </a:solidFill>
            <a:prstDash val="solid"/>
          </a:ln>
        </p:spPr>
        <p:txBody>
          <a:bodyPr/>
          <a:lstStyle/>
          <a:p>
            <a:endParaRPr lang="en-IN"/>
          </a:p>
        </p:txBody>
      </p:sp>
      <p:sp>
        <p:nvSpPr>
          <p:cNvPr id="9" name="Shape 7"/>
          <p:cNvSpPr/>
          <p:nvPr/>
        </p:nvSpPr>
        <p:spPr>
          <a:xfrm>
            <a:off x="1042416" y="2999232"/>
            <a:ext cx="1005840" cy="1005840"/>
          </a:xfrm>
          <a:prstGeom prst="ellipse">
            <a:avLst/>
          </a:prstGeom>
          <a:solidFill>
            <a:srgbClr val="0891B2">
              <a:alpha val="40000"/>
            </a:srgbClr>
          </a:solidFill>
          <a:ln w="12700">
            <a:solidFill>
              <a:srgbClr val="0891B2">
                <a:alpha val="70000"/>
              </a:srgbClr>
            </a:solidFill>
            <a:prstDash val="solid"/>
          </a:ln>
        </p:spPr>
        <p:txBody>
          <a:bodyPr/>
          <a:lstStyle/>
          <a:p>
            <a:endParaRPr lang="en-IN"/>
          </a:p>
        </p:txBody>
      </p:sp>
      <p:sp>
        <p:nvSpPr>
          <p:cNvPr id="10" name="Text 8"/>
          <p:cNvSpPr/>
          <p:nvPr/>
        </p:nvSpPr>
        <p:spPr>
          <a:xfrm>
            <a:off x="731520" y="3035808"/>
            <a:ext cx="1627632" cy="566928"/>
          </a:xfrm>
          <a:prstGeom prst="rect">
            <a:avLst/>
          </a:prstGeom>
          <a:noFill/>
          <a:ln/>
        </p:spPr>
        <p:txBody>
          <a:bodyPr wrap="square" lIns="0" tIns="0" rIns="0" bIns="0" rtlCol="0" anchor="ctr"/>
          <a:lstStyle/>
          <a:p>
            <a:pPr marL="0" indent="0" algn="ctr">
              <a:buNone/>
            </a:pPr>
            <a:r>
              <a:rPr lang="en-US" sz="2600" b="1" dirty="0">
                <a:solidFill>
                  <a:srgbClr val="F59E0B"/>
                </a:solidFill>
                <a:latin typeface="Calibri" pitchFamily="34" charset="0"/>
                <a:ea typeface="Calibri" pitchFamily="34" charset="-122"/>
                <a:cs typeface="Calibri" pitchFamily="34" charset="-120"/>
              </a:rPr>
              <a:t>4</a:t>
            </a:r>
            <a:endParaRPr lang="en-US" sz="2600" dirty="0"/>
          </a:p>
        </p:txBody>
      </p:sp>
      <p:sp>
        <p:nvSpPr>
          <p:cNvPr id="11" name="Text 9"/>
          <p:cNvSpPr/>
          <p:nvPr/>
        </p:nvSpPr>
        <p:spPr>
          <a:xfrm>
            <a:off x="731520" y="3602736"/>
            <a:ext cx="1627632" cy="329184"/>
          </a:xfrm>
          <a:prstGeom prst="rect">
            <a:avLst/>
          </a:prstGeom>
          <a:noFill/>
          <a:ln/>
        </p:spPr>
        <p:txBody>
          <a:bodyPr wrap="square" lIns="0" tIns="0" rIns="0" bIns="0" rtlCol="0" anchor="ctr"/>
          <a:lstStyle/>
          <a:p>
            <a:pPr marL="0" indent="0" algn="ctr">
              <a:buNone/>
            </a:pPr>
            <a:r>
              <a:rPr lang="en-US" sz="950" dirty="0">
                <a:solidFill>
                  <a:srgbClr val="93C5FD"/>
                </a:solidFill>
                <a:latin typeface="Calibri" pitchFamily="34" charset="0"/>
                <a:ea typeface="Calibri" pitchFamily="34" charset="-122"/>
                <a:cs typeface="Calibri" pitchFamily="34" charset="-120"/>
              </a:rPr>
              <a:t>Source Tables</a:t>
            </a:r>
            <a:endParaRPr lang="en-US" sz="950" dirty="0"/>
          </a:p>
        </p:txBody>
      </p:sp>
      <p:sp>
        <p:nvSpPr>
          <p:cNvPr id="12" name="Shape 10"/>
          <p:cNvSpPr/>
          <p:nvPr/>
        </p:nvSpPr>
        <p:spPr>
          <a:xfrm>
            <a:off x="3035808" y="2999232"/>
            <a:ext cx="1005840" cy="1005840"/>
          </a:xfrm>
          <a:prstGeom prst="ellipse">
            <a:avLst/>
          </a:prstGeom>
          <a:solidFill>
            <a:srgbClr val="0891B2">
              <a:alpha val="40000"/>
            </a:srgbClr>
          </a:solidFill>
          <a:ln w="12700">
            <a:solidFill>
              <a:srgbClr val="0891B2">
                <a:alpha val="70000"/>
              </a:srgbClr>
            </a:solidFill>
            <a:prstDash val="solid"/>
          </a:ln>
        </p:spPr>
        <p:txBody>
          <a:bodyPr/>
          <a:lstStyle/>
          <a:p>
            <a:endParaRPr lang="en-IN"/>
          </a:p>
        </p:txBody>
      </p:sp>
      <p:sp>
        <p:nvSpPr>
          <p:cNvPr id="13" name="Text 11"/>
          <p:cNvSpPr/>
          <p:nvPr/>
        </p:nvSpPr>
        <p:spPr>
          <a:xfrm>
            <a:off x="2724912" y="3035808"/>
            <a:ext cx="1627632" cy="566928"/>
          </a:xfrm>
          <a:prstGeom prst="rect">
            <a:avLst/>
          </a:prstGeom>
          <a:noFill/>
          <a:ln/>
        </p:spPr>
        <p:txBody>
          <a:bodyPr wrap="square" lIns="0" tIns="0" rIns="0" bIns="0" rtlCol="0" anchor="ctr"/>
          <a:lstStyle/>
          <a:p>
            <a:pPr marL="0" indent="0" algn="ctr">
              <a:buNone/>
            </a:pPr>
            <a:r>
              <a:rPr lang="en-US" sz="2600" b="1" dirty="0">
                <a:solidFill>
                  <a:srgbClr val="F59E0B"/>
                </a:solidFill>
                <a:latin typeface="Calibri" pitchFamily="34" charset="0"/>
                <a:ea typeface="Calibri" pitchFamily="34" charset="-122"/>
                <a:cs typeface="Calibri" pitchFamily="34" charset="-120"/>
              </a:rPr>
              <a:t>10,293</a:t>
            </a:r>
            <a:endParaRPr lang="en-US" sz="2600" dirty="0"/>
          </a:p>
        </p:txBody>
      </p:sp>
      <p:sp>
        <p:nvSpPr>
          <p:cNvPr id="14" name="Text 12"/>
          <p:cNvSpPr/>
          <p:nvPr/>
        </p:nvSpPr>
        <p:spPr>
          <a:xfrm>
            <a:off x="2724912" y="3602736"/>
            <a:ext cx="1627632" cy="329184"/>
          </a:xfrm>
          <a:prstGeom prst="rect">
            <a:avLst/>
          </a:prstGeom>
          <a:noFill/>
          <a:ln/>
        </p:spPr>
        <p:txBody>
          <a:bodyPr wrap="square" lIns="0" tIns="0" rIns="0" bIns="0" rtlCol="0" anchor="ctr"/>
          <a:lstStyle/>
          <a:p>
            <a:pPr marL="0" indent="0" algn="ctr">
              <a:buNone/>
            </a:pPr>
            <a:r>
              <a:rPr lang="en-US" sz="950" dirty="0">
                <a:solidFill>
                  <a:srgbClr val="93C5FD"/>
                </a:solidFill>
                <a:latin typeface="Calibri" pitchFamily="34" charset="0"/>
                <a:ea typeface="Calibri" pitchFamily="34" charset="-122"/>
                <a:cs typeface="Calibri" pitchFamily="34" charset="-120"/>
              </a:rPr>
              <a:t>Total Clients</a:t>
            </a:r>
            <a:endParaRPr lang="en-US" sz="950" dirty="0"/>
          </a:p>
        </p:txBody>
      </p:sp>
      <p:sp>
        <p:nvSpPr>
          <p:cNvPr id="15" name="Shape 13"/>
          <p:cNvSpPr/>
          <p:nvPr/>
        </p:nvSpPr>
        <p:spPr>
          <a:xfrm>
            <a:off x="5029200" y="2999232"/>
            <a:ext cx="1005840" cy="1005840"/>
          </a:xfrm>
          <a:prstGeom prst="ellipse">
            <a:avLst/>
          </a:prstGeom>
          <a:solidFill>
            <a:srgbClr val="0891B2">
              <a:alpha val="40000"/>
            </a:srgbClr>
          </a:solidFill>
          <a:ln w="12700">
            <a:solidFill>
              <a:srgbClr val="0891B2">
                <a:alpha val="70000"/>
              </a:srgbClr>
            </a:solidFill>
            <a:prstDash val="solid"/>
          </a:ln>
        </p:spPr>
        <p:txBody>
          <a:bodyPr/>
          <a:lstStyle/>
          <a:p>
            <a:endParaRPr lang="en-IN"/>
          </a:p>
        </p:txBody>
      </p:sp>
      <p:sp>
        <p:nvSpPr>
          <p:cNvPr id="16" name="Text 14"/>
          <p:cNvSpPr/>
          <p:nvPr/>
        </p:nvSpPr>
        <p:spPr>
          <a:xfrm>
            <a:off x="4718304" y="3035808"/>
            <a:ext cx="1627632" cy="566928"/>
          </a:xfrm>
          <a:prstGeom prst="rect">
            <a:avLst/>
          </a:prstGeom>
          <a:noFill/>
          <a:ln/>
        </p:spPr>
        <p:txBody>
          <a:bodyPr wrap="square" lIns="0" tIns="0" rIns="0" bIns="0" rtlCol="0" anchor="ctr"/>
          <a:lstStyle/>
          <a:p>
            <a:pPr marL="0" indent="0" algn="ctr">
              <a:buNone/>
            </a:pPr>
            <a:r>
              <a:rPr lang="en-US" sz="2600" b="1" dirty="0">
                <a:solidFill>
                  <a:srgbClr val="F59E0B"/>
                </a:solidFill>
                <a:latin typeface="Calibri" pitchFamily="34" charset="0"/>
                <a:ea typeface="Calibri" pitchFamily="34" charset="-122"/>
                <a:cs typeface="Calibri" pitchFamily="34" charset="-120"/>
              </a:rPr>
              <a:t>15</a:t>
            </a:r>
            <a:endParaRPr lang="en-US" sz="2600" dirty="0"/>
          </a:p>
        </p:txBody>
      </p:sp>
      <p:sp>
        <p:nvSpPr>
          <p:cNvPr id="17" name="Text 15"/>
          <p:cNvSpPr/>
          <p:nvPr/>
        </p:nvSpPr>
        <p:spPr>
          <a:xfrm>
            <a:off x="4718304" y="3602736"/>
            <a:ext cx="1627632" cy="329184"/>
          </a:xfrm>
          <a:prstGeom prst="rect">
            <a:avLst/>
          </a:prstGeom>
          <a:noFill/>
          <a:ln/>
        </p:spPr>
        <p:txBody>
          <a:bodyPr wrap="square" lIns="0" tIns="0" rIns="0" bIns="0" rtlCol="0" anchor="ctr"/>
          <a:lstStyle/>
          <a:p>
            <a:pPr marL="0" indent="0" algn="ctr">
              <a:buNone/>
            </a:pPr>
            <a:r>
              <a:rPr lang="en-US" sz="950" dirty="0">
                <a:solidFill>
                  <a:srgbClr val="93C5FD"/>
                </a:solidFill>
                <a:latin typeface="Calibri" pitchFamily="34" charset="0"/>
                <a:ea typeface="Calibri" pitchFamily="34" charset="-122"/>
                <a:cs typeface="Calibri" pitchFamily="34" charset="-120"/>
              </a:rPr>
              <a:t>DAX Measures</a:t>
            </a:r>
            <a:endParaRPr lang="en-US" sz="950" dirty="0"/>
          </a:p>
        </p:txBody>
      </p:sp>
      <p:sp>
        <p:nvSpPr>
          <p:cNvPr id="18" name="Shape 16"/>
          <p:cNvSpPr/>
          <p:nvPr/>
        </p:nvSpPr>
        <p:spPr>
          <a:xfrm>
            <a:off x="7022592" y="2999232"/>
            <a:ext cx="1005840" cy="1005840"/>
          </a:xfrm>
          <a:prstGeom prst="ellipse">
            <a:avLst/>
          </a:prstGeom>
          <a:solidFill>
            <a:srgbClr val="0891B2">
              <a:alpha val="40000"/>
            </a:srgbClr>
          </a:solidFill>
          <a:ln w="12700">
            <a:solidFill>
              <a:srgbClr val="0891B2">
                <a:alpha val="70000"/>
              </a:srgbClr>
            </a:solidFill>
            <a:prstDash val="solid"/>
          </a:ln>
        </p:spPr>
        <p:txBody>
          <a:bodyPr/>
          <a:lstStyle/>
          <a:p>
            <a:endParaRPr lang="en-IN"/>
          </a:p>
        </p:txBody>
      </p:sp>
      <p:sp>
        <p:nvSpPr>
          <p:cNvPr id="19" name="Text 17"/>
          <p:cNvSpPr/>
          <p:nvPr/>
        </p:nvSpPr>
        <p:spPr>
          <a:xfrm>
            <a:off x="6711696" y="3035808"/>
            <a:ext cx="1627632" cy="566928"/>
          </a:xfrm>
          <a:prstGeom prst="rect">
            <a:avLst/>
          </a:prstGeom>
          <a:noFill/>
          <a:ln/>
        </p:spPr>
        <p:txBody>
          <a:bodyPr wrap="square" lIns="0" tIns="0" rIns="0" bIns="0" rtlCol="0" anchor="ctr"/>
          <a:lstStyle/>
          <a:p>
            <a:pPr marL="0" indent="0" algn="ctr">
              <a:buNone/>
            </a:pPr>
            <a:r>
              <a:rPr lang="en-US" sz="2600" b="1" dirty="0">
                <a:solidFill>
                  <a:srgbClr val="F59E0B"/>
                </a:solidFill>
                <a:latin typeface="Calibri" pitchFamily="34" charset="0"/>
                <a:ea typeface="Calibri" pitchFamily="34" charset="-122"/>
                <a:cs typeface="Calibri" pitchFamily="34" charset="-120"/>
              </a:rPr>
              <a:t>33</a:t>
            </a:r>
            <a:endParaRPr lang="en-US" sz="2600" dirty="0"/>
          </a:p>
        </p:txBody>
      </p:sp>
      <p:sp>
        <p:nvSpPr>
          <p:cNvPr id="20" name="Text 18"/>
          <p:cNvSpPr/>
          <p:nvPr/>
        </p:nvSpPr>
        <p:spPr>
          <a:xfrm>
            <a:off x="6711696" y="3602736"/>
            <a:ext cx="1627632" cy="329184"/>
          </a:xfrm>
          <a:prstGeom prst="rect">
            <a:avLst/>
          </a:prstGeom>
          <a:noFill/>
          <a:ln/>
        </p:spPr>
        <p:txBody>
          <a:bodyPr wrap="square" lIns="0" tIns="0" rIns="0" bIns="0" rtlCol="0" anchor="ctr"/>
          <a:lstStyle/>
          <a:p>
            <a:pPr marL="0" indent="0" algn="ctr">
              <a:buNone/>
            </a:pPr>
            <a:r>
              <a:rPr lang="en-US" sz="950" dirty="0">
                <a:solidFill>
                  <a:srgbClr val="93C5FD"/>
                </a:solidFill>
                <a:latin typeface="Calibri" pitchFamily="34" charset="0"/>
                <a:ea typeface="Calibri" pitchFamily="34" charset="-122"/>
                <a:cs typeface="Calibri" pitchFamily="34" charset="-120"/>
              </a:rPr>
              <a:t>Columns Analysed</a:t>
            </a:r>
            <a:endParaRPr lang="en-US" sz="950" dirty="0"/>
          </a:p>
        </p:txBody>
      </p:sp>
      <p:sp>
        <p:nvSpPr>
          <p:cNvPr id="21" name="Shape 19"/>
          <p:cNvSpPr/>
          <p:nvPr/>
        </p:nvSpPr>
        <p:spPr>
          <a:xfrm>
            <a:off x="0" y="4553712"/>
            <a:ext cx="9144000" cy="585216"/>
          </a:xfrm>
          <a:prstGeom prst="rect">
            <a:avLst/>
          </a:prstGeom>
          <a:solidFill>
            <a:srgbClr val="0891B2"/>
          </a:solidFill>
          <a:ln w="12700">
            <a:solidFill>
              <a:srgbClr val="0891B2"/>
            </a:solidFill>
            <a:prstDash val="solid"/>
          </a:ln>
        </p:spPr>
        <p:txBody>
          <a:bodyPr/>
          <a:lstStyle/>
          <a:p>
            <a:endParaRPr lang="en-IN"/>
          </a:p>
        </p:txBody>
      </p:sp>
      <p:sp>
        <p:nvSpPr>
          <p:cNvPr id="22" name="Text 20"/>
          <p:cNvSpPr/>
          <p:nvPr/>
        </p:nvSpPr>
        <p:spPr>
          <a:xfrm>
            <a:off x="365760" y="4590288"/>
            <a:ext cx="8412480" cy="49377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Financial Analysis Dashboard  •  Power BI Project  •  DAX  •  Power Query  •  Data Modelling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2212</Words>
  <Application>Microsoft Office PowerPoint</Application>
  <PresentationFormat>On-screen Show (16:9)</PresentationFormat>
  <Paragraphs>332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Analysis Dashboard - Power BI</dc:title>
  <dc:subject>PptxGenJS Presentation</dc:subject>
  <dc:creator>PptxGenJS</dc:creator>
  <cp:lastModifiedBy>Archi Katiyar</cp:lastModifiedBy>
  <cp:revision>10</cp:revision>
  <dcterms:created xsi:type="dcterms:W3CDTF">2026-07-05T12:47:21Z</dcterms:created>
  <dcterms:modified xsi:type="dcterms:W3CDTF">2026-10-11T18:25:12Z</dcterms:modified>
</cp:coreProperties>
</file>